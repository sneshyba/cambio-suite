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1980" r:id="rId3"/>
    <p:sldId id="1981" r:id="rId4"/>
    <p:sldId id="1982" r:id="rId5"/>
    <p:sldId id="1983" r:id="rId6"/>
    <p:sldId id="280" r:id="rId7"/>
    <p:sldId id="1979" r:id="rId8"/>
    <p:sldId id="198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01"/>
  </p:normalViewPr>
  <p:slideViewPr>
    <p:cSldViewPr snapToGrid="0" snapToObjects="1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660B2-A764-A446-A7D8-6A98C2A4773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9C59F-A40A-8C44-92DE-8FE730DF5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7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2964033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296403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70C4-864C-3B4C-BAA5-3A52204FC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65EDF-E38D-D949-B1FD-73909B7FC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6763B-B285-8B4F-B568-F9CC15B6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C12D-0E8D-5D47-9CF9-F57F1CFD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F7E26-2280-8241-B951-4C065AC3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8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0EDF-2FA1-F345-BCA9-C2395460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4C4B-1B36-DE4A-BB93-E32BE794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86FCD-8C0E-3D4D-AFB2-F5B31288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C0C0-7669-0C4E-B20C-61B57C63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2644A-7CEF-CD40-A96F-59E2D598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8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122B-7C49-1B42-A64C-CBB9F296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B8E77-AA50-414A-9F41-A8E6616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1C7B7-2967-9B41-80F9-5D9998B2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3EF07-DA67-0C49-83E1-D977FE14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12513-0BDB-2E4F-9B2F-8E3A5798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7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606E-99C5-5345-A2E1-6957638D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77FB7-4EF6-C743-BBCC-CEC00A555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5105A-1952-BC43-9C9F-BDB5A6097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FDB8E-AB70-C04A-B24F-48078B7F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D0A1-A401-3B4C-AD9C-D626B387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93447-77C2-4D4B-94D4-FF4E34F7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4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CC82-DE9E-434F-BD17-57CF0747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BF150-B8F6-BA4D-8974-3DF70CD5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52812-2A6E-0F4B-9D0B-4F99D3008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4AB49-91EE-DC47-814C-9A7D022B3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2986C-3F8F-5544-90D9-1DCEBBD35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8D4C8-6F24-7F41-95AA-CEEA8711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FFA0B4-AA6A-714C-A6AC-1E168FF1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0B91B-6320-6A40-A34C-E2012025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F560-B978-D24A-9B7A-86410864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6F941-D1A4-314E-9A5A-C1A42215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3BDFB-D19E-EA4E-AC74-E38C62DC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34305-0FFD-5A40-897A-4788323B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B89A7-9A33-684A-AAE2-F12458DF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820C8-37FD-6B44-B007-FA4D974B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2C3DE-E496-8649-98F3-6B135A8C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3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2B17-E596-A040-AC9C-13CE58EA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BF28B-214A-B34B-AF2E-C73A9943C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5832B-FA17-1F4B-BC3C-543D1504C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67EAD-BB90-374F-83EF-3AE73C27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B7B62-B056-DA42-BC60-F8A7BEA7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15DE2-CF65-0F4D-8B09-104A9834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0DDB-85B3-9D45-A651-7D061C08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06272-187D-224C-9725-94DDC071D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09773-D5D0-7943-9048-C131E09BC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681F9-C5FF-E141-8F24-C1280F84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995FC-3E39-8C4C-9276-CF6C6B23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4B87-2EB5-2248-ADF0-D7167180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3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D05A-7083-6942-AB09-66ABCB72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DEEA9-B5C8-1D45-855D-D5769666D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132E5-406C-B041-81C0-EAF279E9E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FF86C-79A4-B54E-815A-5ED3F82B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22AE7-D192-7340-81DB-94256D26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6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B7D15-8341-074A-A3F9-8415C2027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07D0C-1BAF-D646-9977-9972674A4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013C-AA7B-6E45-AB87-91C65D60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3C697-B529-364B-A375-D0DF4B0C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B2F78-3F55-684D-B96C-93DC482A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94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3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1635A-4DA0-584B-B971-A7920FD2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C8D25-4C01-1F42-A89F-A0BB45B30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FB19-B5FD-DC44-ADC1-9131567DE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26E36-63F8-BA4F-A422-5A315AE49356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0256E-8CBE-964F-80C3-7073B59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E050A-3764-014D-BAB1-BF416C7EC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7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Carbon fluxes in Earth’s climate system (2003)</a:t>
            </a:r>
          </a:p>
        </p:txBody>
      </p:sp>
      <p:pic>
        <p:nvPicPr>
          <p:cNvPr id="3" name="Picture 2" descr="Draft diagram of the carbon cycle.">
            <a:extLst>
              <a:ext uri="{FF2B5EF4-FFF2-40B4-BE49-F238E27FC236}">
                <a16:creationId xmlns:a16="http://schemas.microsoft.com/office/drawing/2014/main" id="{1F52F877-5F71-B0AF-9DE3-BCFF9E5B4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685" y="585564"/>
            <a:ext cx="8850869" cy="590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483EA2-0DF8-68FC-1AA1-E99A5FFAF37F}"/>
              </a:ext>
            </a:extLst>
          </p:cNvPr>
          <p:cNvSpPr txBox="1"/>
          <p:nvPr/>
        </p:nvSpPr>
        <p:spPr>
          <a:xfrm>
            <a:off x="8107680" y="1194816"/>
            <a:ext cx="221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(about 377 ppm CO2)</a:t>
            </a:r>
          </a:p>
        </p:txBody>
      </p:sp>
    </p:spTree>
    <p:extLst>
      <p:ext uri="{BB962C8B-B14F-4D97-AF65-F5344CB8AC3E}">
        <p14:creationId xmlns:p14="http://schemas.microsoft.com/office/powerpoint/2010/main" val="2626135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We’re going to need a way to create “emissions scenarios” (like those that informed RCPs, etc.)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7BA54-B6A2-89B5-1931-F952C24D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31" y="2374436"/>
            <a:ext cx="5976141" cy="1330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618C1C-8197-0B49-3AA4-2DD9B76C57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782" t="90756" r="38501"/>
          <a:stretch/>
        </p:blipFill>
        <p:spPr>
          <a:xfrm>
            <a:off x="5656881" y="4287708"/>
            <a:ext cx="6260112" cy="117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2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7BA54-B6A2-89B5-1931-F952C24D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31" y="2374436"/>
            <a:ext cx="5976141" cy="13302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ECE5C-D75E-9FDD-9FCC-A7DE4FED098A}"/>
              </a:ext>
            </a:extLst>
          </p:cNvPr>
          <p:cNvSpPr txBox="1"/>
          <p:nvPr/>
        </p:nvSpPr>
        <p:spPr>
          <a:xfrm>
            <a:off x="4899737" y="810330"/>
            <a:ext cx="4611469" cy="461665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is the exponential growth part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18C1C-8197-0B49-3AA4-2DD9B76C57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782" t="90756" r="38501"/>
          <a:stretch/>
        </p:blipFill>
        <p:spPr>
          <a:xfrm>
            <a:off x="5656881" y="4287708"/>
            <a:ext cx="6260112" cy="11759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5D1FA0-3B4C-77D0-0DB8-14C40A840A7E}"/>
              </a:ext>
            </a:extLst>
          </p:cNvPr>
          <p:cNvSpPr/>
          <p:nvPr/>
        </p:nvSpPr>
        <p:spPr>
          <a:xfrm>
            <a:off x="6949440" y="2743200"/>
            <a:ext cx="512064" cy="68580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194A2-1FCF-DEF5-EB55-78A157614A0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We’re going to need a way to create “emissions scenarios” (like those that informed RCPs, etc.)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A21A9DA-D424-E698-7104-4A1A2277912F}"/>
              </a:ext>
            </a:extLst>
          </p:cNvPr>
          <p:cNvSpPr/>
          <p:nvPr/>
        </p:nvSpPr>
        <p:spPr>
          <a:xfrm flipH="1">
            <a:off x="2950462" y="1044666"/>
            <a:ext cx="3523485" cy="4168632"/>
          </a:xfrm>
          <a:prstGeom prst="arc">
            <a:avLst>
              <a:gd name="adj1" fmla="val 16200000"/>
              <a:gd name="adj2" fmla="val 2903237"/>
            </a:avLst>
          </a:prstGeom>
          <a:ln w="63500">
            <a:solidFill>
              <a:schemeClr val="accent1">
                <a:alpha val="43439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51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7BA54-B6A2-89B5-1931-F952C24D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31" y="2374436"/>
            <a:ext cx="5976141" cy="13302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FECE5C-D75E-9FDD-9FCC-A7DE4FED098A}"/>
                  </a:ext>
                </a:extLst>
              </p:cNvPr>
              <p:cNvSpPr txBox="1"/>
              <p:nvPr/>
            </p:nvSpPr>
            <p:spPr>
              <a:xfrm>
                <a:off x="4899737" y="810330"/>
                <a:ext cx="6463207" cy="1029513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This is the “pegged” value</a:t>
                </a:r>
              </a:p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=2000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=7.6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𝐺𝑡𝐶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𝑦𝑟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FECE5C-D75E-9FDD-9FCC-A7DE4FED0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737" y="810330"/>
                <a:ext cx="6463207" cy="1029513"/>
              </a:xfrm>
              <a:prstGeom prst="rect">
                <a:avLst/>
              </a:prstGeom>
              <a:blipFill>
                <a:blip r:embed="rId4"/>
                <a:stretch>
                  <a:fillRect l="-1373" t="-3659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1618C1C-8197-0B49-3AA4-2DD9B76C57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782" t="90756" r="38501"/>
          <a:stretch/>
        </p:blipFill>
        <p:spPr>
          <a:xfrm>
            <a:off x="5656881" y="4287708"/>
            <a:ext cx="6260112" cy="11759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5D1FA0-3B4C-77D0-0DB8-14C40A840A7E}"/>
              </a:ext>
            </a:extLst>
          </p:cNvPr>
          <p:cNvSpPr/>
          <p:nvPr/>
        </p:nvSpPr>
        <p:spPr>
          <a:xfrm>
            <a:off x="7644384" y="2743200"/>
            <a:ext cx="1146048" cy="68580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194A2-1FCF-DEF5-EB55-78A157614A0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We’re going to need a way to create “emissions scenarios” (like those that informed RCPs, etc.)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C56032-F115-35B7-EE3A-6DBFEC85388F}"/>
              </a:ext>
            </a:extLst>
          </p:cNvPr>
          <p:cNvSpPr/>
          <p:nvPr/>
        </p:nvSpPr>
        <p:spPr>
          <a:xfrm>
            <a:off x="3596640" y="4035552"/>
            <a:ext cx="182880" cy="179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F016157-9B76-D079-A33E-40EC1B6FA0D2}"/>
              </a:ext>
            </a:extLst>
          </p:cNvPr>
          <p:cNvSpPr/>
          <p:nvPr/>
        </p:nvSpPr>
        <p:spPr>
          <a:xfrm flipH="1">
            <a:off x="2950461" y="1044666"/>
            <a:ext cx="3523485" cy="3393222"/>
          </a:xfrm>
          <a:prstGeom prst="arc">
            <a:avLst>
              <a:gd name="adj1" fmla="val 16200000"/>
              <a:gd name="adj2" fmla="val 2903237"/>
            </a:avLst>
          </a:prstGeom>
          <a:ln w="63500">
            <a:solidFill>
              <a:schemeClr val="accent1">
                <a:alpha val="43439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29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7BA54-B6A2-89B5-1931-F952C24D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31" y="2374436"/>
            <a:ext cx="5976141" cy="13302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ECE5C-D75E-9FDD-9FCC-A7DE4FED098A}"/>
              </a:ext>
            </a:extLst>
          </p:cNvPr>
          <p:cNvSpPr txBox="1"/>
          <p:nvPr/>
        </p:nvSpPr>
        <p:spPr>
          <a:xfrm>
            <a:off x="4899737" y="610725"/>
            <a:ext cx="6958535" cy="830997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term specifies the year of maximum emission and a decarbonization time according to the “80/20” rule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18C1C-8197-0B49-3AA4-2DD9B76C57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782" t="90756" r="38501"/>
          <a:stretch/>
        </p:blipFill>
        <p:spPr>
          <a:xfrm>
            <a:off x="5656881" y="4287708"/>
            <a:ext cx="6260112" cy="11759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5D1FA0-3B4C-77D0-0DB8-14C40A840A7E}"/>
              </a:ext>
            </a:extLst>
          </p:cNvPr>
          <p:cNvSpPr/>
          <p:nvPr/>
        </p:nvSpPr>
        <p:spPr>
          <a:xfrm>
            <a:off x="9070848" y="2462838"/>
            <a:ext cx="2596896" cy="133027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194A2-1FCF-DEF5-EB55-78A157614A0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We’re going to need a way to create “emissions scenarios” (like those that informed RCPs, etc.)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C56032-F115-35B7-EE3A-6DBFEC85388F}"/>
              </a:ext>
            </a:extLst>
          </p:cNvPr>
          <p:cNvSpPr/>
          <p:nvPr/>
        </p:nvSpPr>
        <p:spPr>
          <a:xfrm>
            <a:off x="4011168" y="2333952"/>
            <a:ext cx="182880" cy="179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2B5445-9201-17F4-6EFC-91D564F75EE5}"/>
              </a:ext>
            </a:extLst>
          </p:cNvPr>
          <p:cNvCxnSpPr/>
          <p:nvPr/>
        </p:nvCxnSpPr>
        <p:spPr>
          <a:xfrm>
            <a:off x="3340608" y="3061588"/>
            <a:ext cx="86563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A77B4B-A57C-2EF3-2585-DDE4E54A4918}"/>
              </a:ext>
            </a:extLst>
          </p:cNvPr>
          <p:cNvCxnSpPr>
            <a:cxnSpLocks/>
          </p:cNvCxnSpPr>
          <p:nvPr/>
        </p:nvCxnSpPr>
        <p:spPr>
          <a:xfrm flipH="1">
            <a:off x="4334256" y="4823332"/>
            <a:ext cx="6522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479576-9292-8E01-7B57-AE871A4C6C68}"/>
                  </a:ext>
                </a:extLst>
              </p:cNvPr>
              <p:cNvSpPr txBox="1"/>
              <p:nvPr/>
            </p:nvSpPr>
            <p:spPr>
              <a:xfrm>
                <a:off x="6118932" y="5652584"/>
                <a:ext cx="2328660" cy="490199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2040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479576-9292-8E01-7B57-AE871A4C6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932" y="5652584"/>
                <a:ext cx="2328660" cy="490199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E2D74-D79A-FA1F-9757-B521E526B8B6}"/>
                  </a:ext>
                </a:extLst>
              </p:cNvPr>
              <p:cNvSpPr txBox="1"/>
              <p:nvPr/>
            </p:nvSpPr>
            <p:spPr>
              <a:xfrm>
                <a:off x="8600004" y="5872040"/>
                <a:ext cx="3067740" cy="461665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𝑑𝑒𝑐𝑎𝑟𝑏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=15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𝑦𝑒𝑎𝑟𝑠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E2D74-D79A-FA1F-9757-B521E526B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04" y="5872040"/>
                <a:ext cx="3067740" cy="461665"/>
              </a:xfrm>
              <a:prstGeom prst="rect">
                <a:avLst/>
              </a:prstGeom>
              <a:blipFill>
                <a:blip r:embed="rId6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2F14E4-E413-32E3-E49B-81B128F118E5}"/>
              </a:ext>
            </a:extLst>
          </p:cNvPr>
          <p:cNvCxnSpPr>
            <a:cxnSpLocks/>
          </p:cNvCxnSpPr>
          <p:nvPr/>
        </p:nvCxnSpPr>
        <p:spPr>
          <a:xfrm flipV="1">
            <a:off x="7193280" y="5115762"/>
            <a:ext cx="0" cy="4392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368CF6-0173-A459-32BB-869209CCB87A}"/>
              </a:ext>
            </a:extLst>
          </p:cNvPr>
          <p:cNvCxnSpPr>
            <a:cxnSpLocks/>
          </p:cNvCxnSpPr>
          <p:nvPr/>
        </p:nvCxnSpPr>
        <p:spPr>
          <a:xfrm flipV="1">
            <a:off x="10162032" y="5335405"/>
            <a:ext cx="0" cy="4392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77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1280" y="-1"/>
            <a:ext cx="1219072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Metadata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6FB7B-2A60-6F25-A8B3-6EA06CC9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54" y="518943"/>
            <a:ext cx="6097346" cy="62780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E362AD-DB9D-C7ED-922D-F930AED38379}"/>
              </a:ext>
            </a:extLst>
          </p:cNvPr>
          <p:cNvSpPr txBox="1"/>
          <p:nvPr/>
        </p:nvSpPr>
        <p:spPr>
          <a:xfrm>
            <a:off x="331765" y="1532824"/>
            <a:ext cx="5331417" cy="3416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Part of good coding practice is finding ways to save data in a way that is "self-documenting." Like, including the units of your data, or other parameters.</a:t>
            </a:r>
          </a:p>
          <a:p>
            <a:endParaRPr lang="en-US" sz="2400" dirty="0"/>
          </a:p>
          <a:p>
            <a:r>
              <a:rPr lang="en-US" sz="2400" dirty="0"/>
              <a:t>Fortunately, with a combination of Python's </a:t>
            </a:r>
            <a:r>
              <a:rPr lang="en-US" sz="2400" i="1" dirty="0"/>
              <a:t>Pandas</a:t>
            </a:r>
            <a:r>
              <a:rPr lang="en-US" sz="2400" dirty="0"/>
              <a:t> package, and a built-in Python feature called </a:t>
            </a:r>
            <a:r>
              <a:rPr lang="en-US" sz="2400" i="1" dirty="0"/>
              <a:t>dictionaries</a:t>
            </a:r>
            <a:r>
              <a:rPr lang="en-US" sz="2400" dirty="0"/>
              <a:t>, we can do all that. </a:t>
            </a:r>
          </a:p>
        </p:txBody>
      </p:sp>
    </p:spTree>
    <p:extLst>
      <p:ext uri="{BB962C8B-B14F-4D97-AF65-F5344CB8AC3E}">
        <p14:creationId xmlns:p14="http://schemas.microsoft.com/office/powerpoint/2010/main" val="310224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8FB305-22F4-CFC0-E4A0-4E18ACE35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52" y="1158449"/>
            <a:ext cx="10835647" cy="29640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4ADEE1-F84D-67DA-D5D9-913586746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06" y="4482933"/>
            <a:ext cx="11634311" cy="18093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40A21-E695-9DD0-ADE7-2EC1F7A21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26392"/>
            <a:ext cx="4743282" cy="9486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93288F-554F-17A4-B0D1-59F08C0B9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144" y="1760393"/>
            <a:ext cx="5482757" cy="9366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062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Once your schedule is created, practice downloading it to your laptop, and uploading it again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AE5F3-2B5B-2D55-A602-AF527F27243E}"/>
              </a:ext>
            </a:extLst>
          </p:cNvPr>
          <p:cNvSpPr txBox="1"/>
          <p:nvPr/>
        </p:nvSpPr>
        <p:spPr>
          <a:xfrm>
            <a:off x="481914" y="1961976"/>
            <a:ext cx="4967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Downloading it to your laptop: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C0EA15-9B1E-3F76-87FD-5EC664B8A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14" y="2539382"/>
            <a:ext cx="3394772" cy="36648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AA6EE9-EDA5-17B3-E3B8-026770B361D3}"/>
              </a:ext>
            </a:extLst>
          </p:cNvPr>
          <p:cNvSpPr txBox="1"/>
          <p:nvPr/>
        </p:nvSpPr>
        <p:spPr>
          <a:xfrm>
            <a:off x="5836509" y="1961976"/>
            <a:ext cx="4967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Uploading it from your laptop: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56C5B3-706B-E57B-0AC8-61D4B7E46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509" y="2550023"/>
            <a:ext cx="3252580" cy="396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2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4348</TotalTime>
  <Words>275</Words>
  <Application>Microsoft Macintosh PowerPoint</Application>
  <PresentationFormat>Widescreen</PresentationFormat>
  <Paragraphs>22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85</cp:revision>
  <dcterms:created xsi:type="dcterms:W3CDTF">2021-09-25T22:03:07Z</dcterms:created>
  <dcterms:modified xsi:type="dcterms:W3CDTF">2025-09-29T14:27:01Z</dcterms:modified>
</cp:coreProperties>
</file>