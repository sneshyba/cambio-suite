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1985" r:id="rId2"/>
    <p:sldId id="1986" r:id="rId3"/>
    <p:sldId id="1987" r:id="rId4"/>
    <p:sldId id="259" r:id="rId5"/>
    <p:sldId id="1858" r:id="rId6"/>
    <p:sldId id="1981" r:id="rId7"/>
    <p:sldId id="1982" r:id="rId8"/>
    <p:sldId id="1983" r:id="rId9"/>
    <p:sldId id="1984" r:id="rId10"/>
    <p:sldId id="1988" r:id="rId11"/>
    <p:sldId id="19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6"/>
    <p:restoredTop sz="94776"/>
  </p:normalViewPr>
  <p:slideViewPr>
    <p:cSldViewPr snapToGrid="0" snapToObjects="1">
      <p:cViewPr varScale="1">
        <p:scale>
          <a:sx n="105" d="100"/>
          <a:sy n="105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6A1C6-E471-BF41-BBF9-CF9DA852625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08D31-7B83-B447-A863-4D6DAE0D4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12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www.igbp.net</a:t>
            </a:r>
            <a:r>
              <a:rPr lang="en-US" dirty="0"/>
              <a:t>/news/features/features/havewereachedpeakco2.5.1b8ae20512db692f2a680003465.html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06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www.igbp.net</a:t>
            </a:r>
            <a:r>
              <a:rPr lang="en-US" dirty="0"/>
              <a:t>/news/features/features/havewereachedpeakco2.5.1b8ae20512db692f2a680003465.html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55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www.igbp.net</a:t>
            </a:r>
            <a:r>
              <a:rPr lang="en-US" dirty="0"/>
              <a:t>/news/features/features/havewereachedpeakco2.5.1b8ae20512db692f2a680003465.html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79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www.igbp.net</a:t>
            </a:r>
            <a:r>
              <a:rPr lang="en-US" dirty="0"/>
              <a:t>/news/features/features/havewereachedpeakco2.5.1b8ae20512db692f2a680003465.html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6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www.igbp.net</a:t>
            </a:r>
            <a:r>
              <a:rPr lang="en-US" dirty="0"/>
              <a:t>/news/features/features/havewereachedpeakco2.5.1b8ae20512db692f2a680003465.html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47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the temperature if CO2 continues to rise. If we reduce CO2 emissions to zero.</a:t>
            </a:r>
          </a:p>
        </p:txBody>
      </p:sp>
    </p:spTree>
    <p:extLst>
      <p:ext uri="{BB962C8B-B14F-4D97-AF65-F5344CB8AC3E}">
        <p14:creationId xmlns:p14="http://schemas.microsoft.com/office/powerpoint/2010/main" val="2964033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the temperature if CO2 continues to rise. If we reduce CO2 emissions to zero.</a:t>
            </a:r>
          </a:p>
        </p:txBody>
      </p:sp>
    </p:spTree>
    <p:extLst>
      <p:ext uri="{BB962C8B-B14F-4D97-AF65-F5344CB8AC3E}">
        <p14:creationId xmlns:p14="http://schemas.microsoft.com/office/powerpoint/2010/main" val="296403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70C4-864C-3B4C-BAA5-3A52204FC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65EDF-E38D-D949-B1FD-73909B7FC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6763B-B285-8B4F-B568-F9CC15B6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9C12D-0E8D-5D47-9CF9-F57F1CFD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F7E26-2280-8241-B951-4C065AC3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8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0EDF-2FA1-F345-BCA9-C2395460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4C4B-1B36-DE4A-BB93-E32BE7945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86FCD-8C0E-3D4D-AFB2-F5B31288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C0C0-7669-0C4E-B20C-61B57C63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2644A-7CEF-CD40-A96F-59E2D598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8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122B-7C49-1B42-A64C-CBB9F296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B8E77-AA50-414A-9F41-A8E6616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1C7B7-2967-9B41-80F9-5D9998B2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3EF07-DA67-0C49-83E1-D977FE14B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12513-0BDB-2E4F-9B2F-8E3A5798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7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606E-99C5-5345-A2E1-6957638D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77FB7-4EF6-C743-BBCC-CEC00A555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5105A-1952-BC43-9C9F-BDB5A6097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FDB8E-AB70-C04A-B24F-48078B7F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BD0A1-A401-3B4C-AD9C-D626B3877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93447-77C2-4D4B-94D4-FF4E34F7A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4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6CC82-DE9E-434F-BD17-57CF0747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BF150-B8F6-BA4D-8974-3DF70CD5A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52812-2A6E-0F4B-9D0B-4F99D3008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4AB49-91EE-DC47-814C-9A7D022B3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2986C-3F8F-5544-90D9-1DCEBBD35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8D4C8-6F24-7F41-95AA-CEEA8711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FFA0B4-AA6A-714C-A6AC-1E168FF1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0B91B-6320-6A40-A34C-E2012025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F560-B978-D24A-9B7A-86410864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6F941-D1A4-314E-9A5A-C1A42215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3BDFB-D19E-EA4E-AC74-E38C62DC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34305-0FFD-5A40-897A-4788323B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B89A7-9A33-684A-AAE2-F12458DF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820C8-37FD-6B44-B007-FA4D974B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2C3DE-E496-8649-98F3-6B135A8C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3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2B17-E596-A040-AC9C-13CE58EA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BF28B-214A-B34B-AF2E-C73A9943C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5832B-FA17-1F4B-BC3C-543D1504C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67EAD-BB90-374F-83EF-3AE73C27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B7B62-B056-DA42-BC60-F8A7BEA7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15DE2-CF65-0F4D-8B09-104A9834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0DDB-85B3-9D45-A651-7D061C08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06272-187D-224C-9725-94DDC071D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09773-D5D0-7943-9048-C131E09BC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681F9-C5FF-E141-8F24-C1280F84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995FC-3E39-8C4C-9276-CF6C6B23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94B87-2EB5-2248-ADF0-D7167180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39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D05A-7083-6942-AB09-66ABCB72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DEEA9-B5C8-1D45-855D-D5769666D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132E5-406C-B041-81C0-EAF279E9E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FF86C-79A4-B54E-815A-5ED3F82B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22AE7-D192-7340-81DB-94256D26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6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B7D15-8341-074A-A3F9-8415C2027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07D0C-1BAF-D646-9977-9972674A4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013C-AA7B-6E45-AB87-91C65D607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3C697-B529-364B-A375-D0DF4B0C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B2F78-3F55-684D-B96C-93DC482A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94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4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30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E1635A-4DA0-584B-B971-A7920FD24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C8D25-4C01-1F42-A89F-A0BB45B30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FB19-B5FD-DC44-ADC1-9131567DE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26E36-63F8-BA4F-A422-5A315AE4935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0256E-8CBE-964F-80C3-7073B59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E050A-3764-014D-BAB1-BF416C7EC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7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47BA54-B6A2-89B5-1931-F952C24D1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31" y="2374436"/>
            <a:ext cx="5976141" cy="13302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FECE5C-D75E-9FDD-9FCC-A7DE4FED098A}"/>
              </a:ext>
            </a:extLst>
          </p:cNvPr>
          <p:cNvSpPr txBox="1"/>
          <p:nvPr/>
        </p:nvSpPr>
        <p:spPr>
          <a:xfrm>
            <a:off x="4899737" y="810330"/>
            <a:ext cx="4611469" cy="461665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This is the exponential growth part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618C1C-8197-0B49-3AA4-2DD9B76C57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782" t="90756" r="38501"/>
          <a:stretch/>
        </p:blipFill>
        <p:spPr>
          <a:xfrm>
            <a:off x="5656881" y="4287708"/>
            <a:ext cx="6260112" cy="11759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5D1FA0-3B4C-77D0-0DB8-14C40A840A7E}"/>
              </a:ext>
            </a:extLst>
          </p:cNvPr>
          <p:cNvSpPr/>
          <p:nvPr/>
        </p:nvSpPr>
        <p:spPr>
          <a:xfrm>
            <a:off x="6949440" y="2743200"/>
            <a:ext cx="512064" cy="68580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194A2-1FCF-DEF5-EB55-78A157614A0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creating “emissions scenarios” (like those that informed RCPs, etc.)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A21A9DA-D424-E698-7104-4A1A2277912F}"/>
              </a:ext>
            </a:extLst>
          </p:cNvPr>
          <p:cNvSpPr/>
          <p:nvPr/>
        </p:nvSpPr>
        <p:spPr>
          <a:xfrm flipH="1">
            <a:off x="2950462" y="1044666"/>
            <a:ext cx="3523485" cy="4168632"/>
          </a:xfrm>
          <a:prstGeom prst="arc">
            <a:avLst>
              <a:gd name="adj1" fmla="val 16200000"/>
              <a:gd name="adj2" fmla="val 2903237"/>
            </a:avLst>
          </a:prstGeom>
          <a:ln w="63500">
            <a:solidFill>
              <a:schemeClr val="accent1">
                <a:alpha val="43439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516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47BA54-B6A2-89B5-1931-F952C24D1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31" y="2374436"/>
            <a:ext cx="5976141" cy="13302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FECE5C-D75E-9FDD-9FCC-A7DE4FED098A}"/>
                  </a:ext>
                </a:extLst>
              </p:cNvPr>
              <p:cNvSpPr txBox="1"/>
              <p:nvPr/>
            </p:nvSpPr>
            <p:spPr>
              <a:xfrm>
                <a:off x="4899737" y="810330"/>
                <a:ext cx="6463207" cy="1029513"/>
              </a:xfrm>
              <a:prstGeom prst="rect">
                <a:avLst/>
              </a:prstGeom>
              <a:solidFill>
                <a:schemeClr val="accent1">
                  <a:alpha val="37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This is the “pegged” value</a:t>
                </a:r>
              </a:p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=2000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=7.6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𝐺𝑡𝐶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𝑦𝑟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FECE5C-D75E-9FDD-9FCC-A7DE4FED0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737" y="810330"/>
                <a:ext cx="6463207" cy="1029513"/>
              </a:xfrm>
              <a:prstGeom prst="rect">
                <a:avLst/>
              </a:prstGeom>
              <a:blipFill>
                <a:blip r:embed="rId4"/>
                <a:stretch>
                  <a:fillRect l="-1373" t="-3659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1618C1C-8197-0B49-3AA4-2DD9B76C57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782" t="90756" r="38501"/>
          <a:stretch/>
        </p:blipFill>
        <p:spPr>
          <a:xfrm>
            <a:off x="5656881" y="4287708"/>
            <a:ext cx="6260112" cy="11759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5D1FA0-3B4C-77D0-0DB8-14C40A840A7E}"/>
              </a:ext>
            </a:extLst>
          </p:cNvPr>
          <p:cNvSpPr/>
          <p:nvPr/>
        </p:nvSpPr>
        <p:spPr>
          <a:xfrm>
            <a:off x="7644384" y="2743200"/>
            <a:ext cx="1146048" cy="68580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194A2-1FCF-DEF5-EB55-78A157614A0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creating “emissions scenarios” (like those that informed RCPs, etc.)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C56032-F115-35B7-EE3A-6DBFEC85388F}"/>
              </a:ext>
            </a:extLst>
          </p:cNvPr>
          <p:cNvSpPr/>
          <p:nvPr/>
        </p:nvSpPr>
        <p:spPr>
          <a:xfrm>
            <a:off x="3596640" y="4035552"/>
            <a:ext cx="182880" cy="1790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F016157-9B76-D079-A33E-40EC1B6FA0D2}"/>
              </a:ext>
            </a:extLst>
          </p:cNvPr>
          <p:cNvSpPr/>
          <p:nvPr/>
        </p:nvSpPr>
        <p:spPr>
          <a:xfrm flipH="1">
            <a:off x="2950461" y="1044666"/>
            <a:ext cx="3523485" cy="3393222"/>
          </a:xfrm>
          <a:prstGeom prst="arc">
            <a:avLst>
              <a:gd name="adj1" fmla="val 16200000"/>
              <a:gd name="adj2" fmla="val 2903237"/>
            </a:avLst>
          </a:prstGeom>
          <a:ln w="63500">
            <a:solidFill>
              <a:schemeClr val="accent1">
                <a:alpha val="43439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129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47BA54-B6A2-89B5-1931-F952C24D1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31" y="2374436"/>
            <a:ext cx="5976141" cy="13302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FECE5C-D75E-9FDD-9FCC-A7DE4FED098A}"/>
              </a:ext>
            </a:extLst>
          </p:cNvPr>
          <p:cNvSpPr txBox="1"/>
          <p:nvPr/>
        </p:nvSpPr>
        <p:spPr>
          <a:xfrm>
            <a:off x="4899737" y="610725"/>
            <a:ext cx="6958535" cy="830997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This term specifies the year of maximum emission and a decarbonization time according to the “80/20” rule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618C1C-8197-0B49-3AA4-2DD9B76C57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782" t="90756" r="38501"/>
          <a:stretch/>
        </p:blipFill>
        <p:spPr>
          <a:xfrm>
            <a:off x="5656881" y="4287708"/>
            <a:ext cx="6260112" cy="11759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5D1FA0-3B4C-77D0-0DB8-14C40A840A7E}"/>
              </a:ext>
            </a:extLst>
          </p:cNvPr>
          <p:cNvSpPr/>
          <p:nvPr/>
        </p:nvSpPr>
        <p:spPr>
          <a:xfrm>
            <a:off x="9070848" y="2462838"/>
            <a:ext cx="2596896" cy="133027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194A2-1FCF-DEF5-EB55-78A157614A0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creating “emissions scenarios” (like those that informed RCPs, etc.)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C56032-F115-35B7-EE3A-6DBFEC85388F}"/>
              </a:ext>
            </a:extLst>
          </p:cNvPr>
          <p:cNvSpPr/>
          <p:nvPr/>
        </p:nvSpPr>
        <p:spPr>
          <a:xfrm>
            <a:off x="4011168" y="2333952"/>
            <a:ext cx="182880" cy="1790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2B5445-9201-17F4-6EFC-91D564F75EE5}"/>
              </a:ext>
            </a:extLst>
          </p:cNvPr>
          <p:cNvCxnSpPr/>
          <p:nvPr/>
        </p:nvCxnSpPr>
        <p:spPr>
          <a:xfrm>
            <a:off x="3340608" y="3061588"/>
            <a:ext cx="86563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A77B4B-A57C-2EF3-2585-DDE4E54A4918}"/>
              </a:ext>
            </a:extLst>
          </p:cNvPr>
          <p:cNvCxnSpPr>
            <a:cxnSpLocks/>
          </p:cNvCxnSpPr>
          <p:nvPr/>
        </p:nvCxnSpPr>
        <p:spPr>
          <a:xfrm flipH="1">
            <a:off x="4334256" y="4823332"/>
            <a:ext cx="65227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479576-9292-8E01-7B57-AE871A4C6C68}"/>
                  </a:ext>
                </a:extLst>
              </p:cNvPr>
              <p:cNvSpPr txBox="1"/>
              <p:nvPr/>
            </p:nvSpPr>
            <p:spPr>
              <a:xfrm>
                <a:off x="6118932" y="5652584"/>
                <a:ext cx="2328660" cy="490199"/>
              </a:xfrm>
              <a:prstGeom prst="rect">
                <a:avLst/>
              </a:prstGeom>
              <a:solidFill>
                <a:schemeClr val="accent1">
                  <a:alpha val="37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2040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479576-9292-8E01-7B57-AE871A4C6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932" y="5652584"/>
                <a:ext cx="2328660" cy="490199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7E2D74-D79A-FA1F-9757-B521E526B8B6}"/>
                  </a:ext>
                </a:extLst>
              </p:cNvPr>
              <p:cNvSpPr txBox="1"/>
              <p:nvPr/>
            </p:nvSpPr>
            <p:spPr>
              <a:xfrm>
                <a:off x="8600004" y="5872040"/>
                <a:ext cx="3067740" cy="461665"/>
              </a:xfrm>
              <a:prstGeom prst="rect">
                <a:avLst/>
              </a:prstGeom>
              <a:solidFill>
                <a:schemeClr val="accent1">
                  <a:alpha val="37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𝑑𝑒𝑐𝑎𝑟𝑏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=15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𝑦𝑒𝑎𝑟𝑠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7E2D74-D79A-FA1F-9757-B521E526B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004" y="5872040"/>
                <a:ext cx="3067740" cy="461665"/>
              </a:xfrm>
              <a:prstGeom prst="rect">
                <a:avLst/>
              </a:prstGeom>
              <a:blipFill>
                <a:blip r:embed="rId6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B2F14E4-E413-32E3-E49B-81B128F118E5}"/>
              </a:ext>
            </a:extLst>
          </p:cNvPr>
          <p:cNvCxnSpPr>
            <a:cxnSpLocks/>
          </p:cNvCxnSpPr>
          <p:nvPr/>
        </p:nvCxnSpPr>
        <p:spPr>
          <a:xfrm flipV="1">
            <a:off x="7193280" y="5115762"/>
            <a:ext cx="0" cy="4392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368CF6-0173-A459-32BB-869209CCB87A}"/>
              </a:ext>
            </a:extLst>
          </p:cNvPr>
          <p:cNvCxnSpPr>
            <a:cxnSpLocks/>
          </p:cNvCxnSpPr>
          <p:nvPr/>
        </p:nvCxnSpPr>
        <p:spPr>
          <a:xfrm flipV="1">
            <a:off x="10162032" y="5335405"/>
            <a:ext cx="0" cy="4392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770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Carbon fluxes in Earth’s climate system – now we’re going to add up all </a:t>
            </a:r>
            <a:r>
              <a:rPr lang="en-US" sz="2400" b="1"/>
              <a:t>historical emissions</a:t>
            </a:r>
            <a:endParaRPr lang="en-US" sz="2400" b="1" dirty="0"/>
          </a:p>
        </p:txBody>
      </p:sp>
      <p:pic>
        <p:nvPicPr>
          <p:cNvPr id="3" name="Picture 2" descr="Draft diagram of the carbon cycle.">
            <a:extLst>
              <a:ext uri="{FF2B5EF4-FFF2-40B4-BE49-F238E27FC236}">
                <a16:creationId xmlns:a16="http://schemas.microsoft.com/office/drawing/2014/main" id="{1F52F877-5F71-B0AF-9DE3-BCFF9E5B4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685" y="585564"/>
            <a:ext cx="8850869" cy="590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6135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346A432-F57B-6AA9-0C1B-976A88C9C3BF}"/>
              </a:ext>
            </a:extLst>
          </p:cNvPr>
          <p:cNvGrpSpPr>
            <a:grpSpLocks noChangeAspect="1"/>
          </p:cNvGrpSpPr>
          <p:nvPr/>
        </p:nvGrpSpPr>
        <p:grpSpPr>
          <a:xfrm>
            <a:off x="4340352" y="540992"/>
            <a:ext cx="7176146" cy="5361774"/>
            <a:chOff x="5730240" y="3556"/>
            <a:chExt cx="8847924" cy="661086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300749E-7D63-1D45-A1E8-1618D511CE5D}"/>
                </a:ext>
              </a:extLst>
            </p:cNvPr>
            <p:cNvGrpSpPr/>
            <p:nvPr/>
          </p:nvGrpSpPr>
          <p:grpSpPr>
            <a:xfrm>
              <a:off x="5730240" y="3556"/>
              <a:ext cx="8847924" cy="6610869"/>
              <a:chOff x="2675466" y="219456"/>
              <a:chExt cx="9918318" cy="7591771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C0439CE-E639-B542-A9B0-8B2F405C156B}"/>
                  </a:ext>
                </a:extLst>
              </p:cNvPr>
              <p:cNvGrpSpPr/>
              <p:nvPr/>
            </p:nvGrpSpPr>
            <p:grpSpPr>
              <a:xfrm>
                <a:off x="2675466" y="219456"/>
                <a:ext cx="6364225" cy="6687311"/>
                <a:chOff x="2675466" y="219456"/>
                <a:chExt cx="6364225" cy="6687311"/>
              </a:xfrm>
            </p:grpSpPr>
            <p:pic>
              <p:nvPicPr>
                <p:cNvPr id="2050" name="Picture 2">
                  <a:extLst>
                    <a:ext uri="{FF2B5EF4-FFF2-40B4-BE49-F238E27FC236}">
                      <a16:creationId xmlns:a16="http://schemas.microsoft.com/office/drawing/2014/main" id="{4CAE1A6B-B4F8-3F49-B5C6-3BF07983DAF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75466" y="3840480"/>
                  <a:ext cx="6364225" cy="30662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979FC84D-8C01-1D45-96EB-ED58D7B39D8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75466" y="219456"/>
                  <a:ext cx="6364225" cy="37917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7070FD-0B54-8F46-B3BA-7AED081D024A}"/>
                  </a:ext>
                </a:extLst>
              </p:cNvPr>
              <p:cNvSpPr txBox="1"/>
              <p:nvPr/>
            </p:nvSpPr>
            <p:spPr>
              <a:xfrm>
                <a:off x="9272778" y="5283687"/>
                <a:ext cx="3321006" cy="252754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It’s thought that  ~</a:t>
                </a:r>
                <a:r>
                  <a:rPr lang="en-US" sz="2200" b="1" dirty="0"/>
                  <a:t>4000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GtC</a:t>
                </a:r>
                <a:r>
                  <a:rPr lang="en-US" sz="2200" dirty="0"/>
                  <a:t> is the total Earth reserve, so </a:t>
                </a:r>
                <a:r>
                  <a:rPr lang="en-US" sz="2200" b="1" dirty="0"/>
                  <a:t>~75% </a:t>
                </a:r>
                <a:r>
                  <a:rPr lang="en-US" sz="2200" dirty="0"/>
                  <a:t>would be left in the ground 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1D74BA-BCB6-0D56-2DE0-D33882F75439}"/>
                </a:ext>
              </a:extLst>
            </p:cNvPr>
            <p:cNvGrpSpPr/>
            <p:nvPr/>
          </p:nvGrpSpPr>
          <p:grpSpPr>
            <a:xfrm>
              <a:off x="8734397" y="758493"/>
              <a:ext cx="5158171" cy="3711369"/>
              <a:chOff x="8734397" y="758493"/>
              <a:chExt cx="5158171" cy="3711369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2D068F1-2408-B907-CCF8-8FD9BA758396}"/>
                  </a:ext>
                </a:extLst>
              </p:cNvPr>
              <p:cNvSpPr/>
              <p:nvPr/>
            </p:nvSpPr>
            <p:spPr>
              <a:xfrm>
                <a:off x="8734397" y="758493"/>
                <a:ext cx="105374" cy="1097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5812AA5-8482-D455-0FA9-BEAB3968740D}"/>
                  </a:ext>
                </a:extLst>
              </p:cNvPr>
              <p:cNvSpPr/>
              <p:nvPr/>
            </p:nvSpPr>
            <p:spPr>
              <a:xfrm>
                <a:off x="8734397" y="4360134"/>
                <a:ext cx="105374" cy="1097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8CA0A687-9516-F145-BA16-9D9D59D14767}"/>
                      </a:ext>
                    </a:extLst>
                  </p:cNvPr>
                  <p:cNvSpPr txBox="1"/>
                  <p:nvPr/>
                </p:nvSpPr>
                <p:spPr>
                  <a:xfrm>
                    <a:off x="10595493" y="3137759"/>
                    <a:ext cx="3297075" cy="9486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14:m>
                      <m:oMath xmlns:m="http://schemas.openxmlformats.org/officeDocument/2006/math"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sz="2200" b="1" i="1" dirty="0" smtClean="0">
                            <a:latin typeface="Cambria Math" panose="02040503050406030204" pitchFamily="18" charset="0"/>
                          </a:rPr>
                          <m:t>𝟏𝟎𝟎𝟎</m:t>
                        </m:r>
                      </m:oMath>
                    </a14:m>
                    <a:r>
                      <a:rPr lang="en-US" sz="2200" dirty="0"/>
                      <a:t> </a:t>
                    </a:r>
                    <a:r>
                      <a:rPr lang="en-US" sz="2200" dirty="0" err="1"/>
                      <a:t>GtC</a:t>
                    </a:r>
                    <a:r>
                      <a:rPr lang="en-US" sz="2200" dirty="0"/>
                      <a:t> burned in this scenario</a:t>
                    </a: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8CA0A687-9516-F145-BA16-9D9D59D147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95493" y="3137759"/>
                    <a:ext cx="3297075" cy="94869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4839" r="-5189" b="-145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4572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Math behind </a:t>
            </a:r>
            <a:r>
              <a:rPr lang="en-US" sz="2400" b="1" dirty="0" err="1">
                <a:latin typeface="+mn-lt"/>
              </a:rPr>
              <a:t>CumulativeAnalysis</a:t>
            </a:r>
            <a:endParaRPr lang="en-US" sz="2400" b="1" dirty="0">
              <a:latin typeface="+mn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46F78D-A51C-E34D-AEA2-885DC8508AF0}"/>
              </a:ext>
            </a:extLst>
          </p:cNvPr>
          <p:cNvGrpSpPr/>
          <p:nvPr/>
        </p:nvGrpSpPr>
        <p:grpSpPr>
          <a:xfrm>
            <a:off x="250404" y="1705567"/>
            <a:ext cx="3756135" cy="1648550"/>
            <a:chOff x="865631" y="3992989"/>
            <a:chExt cx="3756135" cy="164855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3005061-AF36-FD42-AF84-D9BCF4739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9774" y="4499973"/>
              <a:ext cx="3071749" cy="114156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A50A652-92E5-9B42-AB43-8EE2EED7E128}"/>
                </a:ext>
              </a:extLst>
            </p:cNvPr>
            <p:cNvSpPr txBox="1"/>
            <p:nvPr/>
          </p:nvSpPr>
          <p:spPr>
            <a:xfrm>
              <a:off x="865631" y="3992989"/>
              <a:ext cx="37561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Integral calculus: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802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4572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You have to load your scenario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16A6F-83BC-B6B9-AF07-4392D10F4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670" y="628492"/>
            <a:ext cx="7599405" cy="596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4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4572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Then make sure it’s correct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11A1DD-CA31-79DD-545B-C1751C6B2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63" y="864974"/>
            <a:ext cx="6588965" cy="17934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F32158-0088-DC46-42A1-B444E4474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402" y="2801723"/>
            <a:ext cx="6231132" cy="405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4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4572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This not quite the correct integration (but it’s close)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A58B2-F2FC-C4A0-943A-92DCBBBFB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644" y="662207"/>
            <a:ext cx="5973394" cy="240667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A1E1BC7-E7B5-ECF1-8A7F-71F349C9EE45}"/>
              </a:ext>
            </a:extLst>
          </p:cNvPr>
          <p:cNvGrpSpPr/>
          <p:nvPr/>
        </p:nvGrpSpPr>
        <p:grpSpPr>
          <a:xfrm>
            <a:off x="250404" y="1705567"/>
            <a:ext cx="3756135" cy="1648550"/>
            <a:chOff x="865631" y="3992989"/>
            <a:chExt cx="3756135" cy="164855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FC20979-EFE7-0382-E3F4-3CF03953A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9774" y="4499973"/>
              <a:ext cx="3071749" cy="114156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00C8E2-20DB-9483-3272-67478FAABAA6}"/>
                </a:ext>
              </a:extLst>
            </p:cNvPr>
            <p:cNvSpPr txBox="1"/>
            <p:nvPr/>
          </p:nvSpPr>
          <p:spPr>
            <a:xfrm>
              <a:off x="865631" y="3992989"/>
              <a:ext cx="37561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Integral calculus: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2D9A25E-1B97-CFDC-4A0A-A0EFB89A5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514" y="3415599"/>
            <a:ext cx="5030508" cy="321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10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4572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Here’s the correct solution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1E1BC7-E7B5-ECF1-8A7F-71F349C9EE45}"/>
              </a:ext>
            </a:extLst>
          </p:cNvPr>
          <p:cNvGrpSpPr/>
          <p:nvPr/>
        </p:nvGrpSpPr>
        <p:grpSpPr>
          <a:xfrm>
            <a:off x="250404" y="1705567"/>
            <a:ext cx="3756135" cy="1648550"/>
            <a:chOff x="865631" y="3992989"/>
            <a:chExt cx="3756135" cy="164855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FC20979-EFE7-0382-E3F4-3CF03953A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9774" y="4499973"/>
              <a:ext cx="3071749" cy="114156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00C8E2-20DB-9483-3272-67478FAABAA6}"/>
                </a:ext>
              </a:extLst>
            </p:cNvPr>
            <p:cNvSpPr txBox="1"/>
            <p:nvPr/>
          </p:nvSpPr>
          <p:spPr>
            <a:xfrm>
              <a:off x="865631" y="3992989"/>
              <a:ext cx="37561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Integral calculus: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B1B65B5-DFE0-D18A-22DB-8A546A696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202" y="3169499"/>
            <a:ext cx="5284298" cy="35933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B6976A-D2D8-5CB2-75FC-5C45E0D54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998" y="620108"/>
            <a:ext cx="4858707" cy="238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7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659-7373-8186-8633-EEAFB8369FB3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If you haven’t done this one already (or if you have, but want to fix something):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8FB305-22F4-CFC0-E4A0-4E18ACE35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52" y="1158449"/>
            <a:ext cx="10835647" cy="29640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4ADEE1-F84D-67DA-D5D9-913586746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06" y="4482933"/>
            <a:ext cx="11634311" cy="18093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40A21-E695-9DD0-ADE7-2EC1F7A21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26392"/>
            <a:ext cx="4743282" cy="9486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93288F-554F-17A4-B0D1-59F08C0B95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144" y="1760393"/>
            <a:ext cx="5482757" cy="9366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03329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659-7373-8186-8633-EEAFB8369FB3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can work on this too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C5BB2B-6A0D-F377-B185-B4A95B43F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46" y="803189"/>
            <a:ext cx="9132479" cy="29927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D5BB22-57A3-C02A-0573-5010E1D27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" y="4276811"/>
            <a:ext cx="10410486" cy="19386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062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2933</TotalTime>
  <Words>329</Words>
  <Application>Microsoft Macintosh PowerPoint</Application>
  <PresentationFormat>Widescreen</PresentationFormat>
  <Paragraphs>34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Math behind CumulativeAnalysis</vt:lpstr>
      <vt:lpstr>You have to load your scenario</vt:lpstr>
      <vt:lpstr>Then make sure it’s correct</vt:lpstr>
      <vt:lpstr>This not quite the correct integration (but it’s close)</vt:lpstr>
      <vt:lpstr>Here’s the correct solution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84</cp:revision>
  <dcterms:created xsi:type="dcterms:W3CDTF">2021-09-25T22:03:07Z</dcterms:created>
  <dcterms:modified xsi:type="dcterms:W3CDTF">2025-10-01T15:35:36Z</dcterms:modified>
</cp:coreProperties>
</file>