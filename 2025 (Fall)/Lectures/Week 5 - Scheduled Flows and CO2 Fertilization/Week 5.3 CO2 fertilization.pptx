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9" r:id="rId2"/>
    <p:sldId id="256" r:id="rId3"/>
    <p:sldId id="1983" r:id="rId4"/>
    <p:sldId id="1984" r:id="rId5"/>
    <p:sldId id="1980" r:id="rId6"/>
    <p:sldId id="1981" r:id="rId7"/>
    <p:sldId id="1982" r:id="rId8"/>
    <p:sldId id="1985" r:id="rId9"/>
    <p:sldId id="1874" r:id="rId10"/>
    <p:sldId id="197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77"/>
    <p:restoredTop sz="94776"/>
  </p:normalViewPr>
  <p:slideViewPr>
    <p:cSldViewPr snapToGrid="0" snapToObjects="1">
      <p:cViewPr varScale="1">
        <p:scale>
          <a:sx n="105" d="100"/>
          <a:sy n="105" d="100"/>
        </p:scale>
        <p:origin x="7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36A1C6-E471-BF41-BBF9-CF9DA8526259}" type="datetimeFigureOut">
              <a:rPr lang="en-US" smtClean="0"/>
              <a:t>10/3/25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C08D31-7B83-B447-A863-4D6DAE0D43BC}" type="slidenum">
              <a:rPr lang="en-US" smtClean="0"/>
              <a:t>‹#›</a:t>
            </a:fld>
            <a:endParaRPr lang="en-US"/>
          </a:p>
        </p:txBody>
      </p:sp>
    </p:spTree>
    <p:extLst>
      <p:ext uri="{BB962C8B-B14F-4D97-AF65-F5344CB8AC3E}">
        <p14:creationId xmlns:p14="http://schemas.microsoft.com/office/powerpoint/2010/main" val="16926122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5E49E6-8CFA-B642-ACE3-E8D03508456C}" type="slidenum">
              <a:rPr lang="en-US" smtClean="0"/>
              <a:t>9</a:t>
            </a:fld>
            <a:endParaRPr lang="en-US"/>
          </a:p>
        </p:txBody>
      </p:sp>
    </p:spTree>
    <p:extLst>
      <p:ext uri="{BB962C8B-B14F-4D97-AF65-F5344CB8AC3E}">
        <p14:creationId xmlns:p14="http://schemas.microsoft.com/office/powerpoint/2010/main" val="2149156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Predict the temperature if CO2 continues to rise. If we reduce CO2 emissions to zero.</a:t>
            </a:r>
          </a:p>
        </p:txBody>
      </p:sp>
    </p:spTree>
    <p:extLst>
      <p:ext uri="{BB962C8B-B14F-4D97-AF65-F5344CB8AC3E}">
        <p14:creationId xmlns:p14="http://schemas.microsoft.com/office/powerpoint/2010/main" val="296403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470C4-864C-3B4C-BAA5-3A52204FCC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F65EDF-E38D-D949-B1FD-73909B7FC6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86763B-B285-8B4F-B568-F9CC15B642B9}"/>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D1B9C12D-0E8D-5D47-9CF9-F57F1CFDE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AF7E26-2280-8241-B951-4C065AC374C0}"/>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79138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E0EDF-2FA1-F345-BCA9-C2395460D4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64C4B-1B36-DE4A-BB93-E32BE79451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86FCD-8C0E-3D4D-AFB2-F5B312881A3C}"/>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EBF5C0C0-7669-0C4E-B20C-61B57C637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2644A-7CEF-CD40-A96F-59E2D5982309}"/>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087085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E122B-7C49-1B42-A64C-CBB9F2965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CB8E77-AA50-414A-9F41-A8E6616616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21C7B7-2967-9B41-80F9-5D9998B266C8}"/>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A6A3EF07-DA67-0C49-83E1-D977FE14B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812513-0BDB-2E4F-9B2F-8E3A5798A379}"/>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380679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B606E-99C5-5345-A2E1-6957638D4B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977FB7-4EF6-C743-BBCC-CEC00A5559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B45105A-1952-BC43-9C9F-BDB5A60977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CFDB8E-AB70-C04A-B24F-48078B7FA0FF}"/>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6" name="Footer Placeholder 5">
            <a:extLst>
              <a:ext uri="{FF2B5EF4-FFF2-40B4-BE49-F238E27FC236}">
                <a16:creationId xmlns:a16="http://schemas.microsoft.com/office/drawing/2014/main" id="{E7DBD0A1-A401-3B4C-AD9C-D626B3877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D93447-77C2-4D4B-94D4-FF4E34F7AE1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8366452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CC82-DE9E-434F-BD17-57CF07470CE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7BF150-B8F6-BA4D-8974-3DF70CD5AF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252812-2A6E-0F4B-9D0B-4F99D30080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F4AB49-91EE-DC47-814C-9A7D022B31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82986C-3F8F-5544-90D9-1DCEBBD350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08D4C8-6F24-7F41-95AA-CEEA8711C94A}"/>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8" name="Footer Placeholder 7">
            <a:extLst>
              <a:ext uri="{FF2B5EF4-FFF2-40B4-BE49-F238E27FC236}">
                <a16:creationId xmlns:a16="http://schemas.microsoft.com/office/drawing/2014/main" id="{8DFFA0B4-AA6A-714C-A6AC-1E168FF1802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60B91B-6320-6A40-A34C-E201202567C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410716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F560-B978-D24A-9B7A-864108640B0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B6F941-D1A4-314E-9A5A-C1A422159870}"/>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4" name="Footer Placeholder 3">
            <a:extLst>
              <a:ext uri="{FF2B5EF4-FFF2-40B4-BE49-F238E27FC236}">
                <a16:creationId xmlns:a16="http://schemas.microsoft.com/office/drawing/2014/main" id="{85D3BDFB-D19E-EA4E-AC74-E38C62DC04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434305-0FFD-5A40-897A-4788323B68E5}"/>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38399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0B89A7-9A33-684A-AAE2-F12458DF7B1E}"/>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3" name="Footer Placeholder 2">
            <a:extLst>
              <a:ext uri="{FF2B5EF4-FFF2-40B4-BE49-F238E27FC236}">
                <a16:creationId xmlns:a16="http://schemas.microsoft.com/office/drawing/2014/main" id="{9FD820C8-37FD-6B44-B007-FA4D974B13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82C3DE-E496-8649-98F3-6B135A8CDE0B}"/>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200333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32B17-E596-A040-AC9C-13CE58EAD3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BF28B-214A-B34B-AF2E-C73A9943CB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35832B-FA17-1F4B-BC3C-543D1504C3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67EAD-BB90-374F-83EF-3AE73C270B20}"/>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6" name="Footer Placeholder 5">
            <a:extLst>
              <a:ext uri="{FF2B5EF4-FFF2-40B4-BE49-F238E27FC236}">
                <a16:creationId xmlns:a16="http://schemas.microsoft.com/office/drawing/2014/main" id="{5E9B7B62-B056-DA42-BC60-F8A7BEA733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615DE2-CF65-0F4D-8B09-104A98345686}"/>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1844545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30DDB-85B3-9D45-A651-7D061C0865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306272-187D-224C-9725-94DDC071DB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6609773-D5D0-7943-9048-C131E09BC6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2681F9-C5FF-E141-8F24-C1280F846017}"/>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6" name="Footer Placeholder 5">
            <a:extLst>
              <a:ext uri="{FF2B5EF4-FFF2-40B4-BE49-F238E27FC236}">
                <a16:creationId xmlns:a16="http://schemas.microsoft.com/office/drawing/2014/main" id="{AEB995FC-3E39-8C4C-9276-CF6C6B234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894B87-2EB5-2248-ADF0-D71671806E8D}"/>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689139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D05A-7083-6942-AB09-66ABCB72B1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CDEEA9-B5C8-1D45-855D-D5769666DD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5132E5-406C-B041-81C0-EAF279E9E674}"/>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74DFF86C-79A4-B54E-815A-5ED3F82B28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722AE7-D192-7340-81DB-94256D261F3B}"/>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2675568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DB7D15-8341-074A-A3F9-8415C20272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07D0C-1BAF-D646-9977-9972674A4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8013C-AA7B-6E45-AB87-91C65D607D8D}"/>
              </a:ext>
            </a:extLst>
          </p:cNvPr>
          <p:cNvSpPr>
            <a:spLocks noGrp="1"/>
          </p:cNvSpPr>
          <p:nvPr>
            <p:ph type="dt" sz="half" idx="10"/>
          </p:nvPr>
        </p:nvSpPr>
        <p:spPr/>
        <p:txBody>
          <a:body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40B3C697-B529-364B-A375-D0DF4B0C6B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B2F78-3F55-684D-B96C-93DC482A232F}"/>
              </a:ext>
            </a:extLst>
          </p:cNvPr>
          <p:cNvSpPr>
            <a:spLocks noGrp="1"/>
          </p:cNvSpPr>
          <p:nvPr>
            <p:ph type="sldNum" sz="quarter" idx="12"/>
          </p:nvPr>
        </p:nvSpPr>
        <p:spPr/>
        <p:txBody>
          <a:bodyPr/>
          <a:lstStyle/>
          <a:p>
            <a:fld id="{A707768E-235F-6345-8AF6-1B490D1F190D}" type="slidenum">
              <a:rPr lang="en-US" smtClean="0"/>
              <a:t>‹#›</a:t>
            </a:fld>
            <a:endParaRPr lang="en-US"/>
          </a:p>
        </p:txBody>
      </p:sp>
    </p:spTree>
    <p:extLst>
      <p:ext uri="{BB962C8B-B14F-4D97-AF65-F5344CB8AC3E}">
        <p14:creationId xmlns:p14="http://schemas.microsoft.com/office/powerpoint/2010/main" val="33110947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6" name="Google Shape;26;p44"/>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7" name="Google Shape;27;p44"/>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0"/>
              </a:spcBef>
              <a:spcAft>
                <a:spcPts val="0"/>
              </a:spcAft>
              <a:buSzPts val="1400"/>
              <a:buChar char="○"/>
              <a:defRPr/>
            </a:lvl2pPr>
            <a:lvl3pPr marL="1828754" lvl="2" indent="-423323" algn="l">
              <a:lnSpc>
                <a:spcPct val="115000"/>
              </a:lnSpc>
              <a:spcBef>
                <a:spcPts val="0"/>
              </a:spcBef>
              <a:spcAft>
                <a:spcPts val="0"/>
              </a:spcAft>
              <a:buSzPts val="1400"/>
              <a:buChar char="■"/>
              <a:defRPr/>
            </a:lvl3pPr>
            <a:lvl4pPr marL="2438339" lvl="3" indent="-423323" algn="l">
              <a:lnSpc>
                <a:spcPct val="115000"/>
              </a:lnSpc>
              <a:spcBef>
                <a:spcPts val="0"/>
              </a:spcBef>
              <a:spcAft>
                <a:spcPts val="0"/>
              </a:spcAft>
              <a:buSzPts val="1400"/>
              <a:buChar char="●"/>
              <a:defRPr/>
            </a:lvl4pPr>
            <a:lvl5pPr marL="3047924" lvl="4" indent="-423323" algn="l">
              <a:lnSpc>
                <a:spcPct val="115000"/>
              </a:lnSpc>
              <a:spcBef>
                <a:spcPts val="0"/>
              </a:spcBef>
              <a:spcAft>
                <a:spcPts val="0"/>
              </a:spcAft>
              <a:buSzPts val="1400"/>
              <a:buChar char="○"/>
              <a:defRPr/>
            </a:lvl5pPr>
            <a:lvl6pPr marL="3657509" lvl="5" indent="-423323" algn="l">
              <a:lnSpc>
                <a:spcPct val="115000"/>
              </a:lnSpc>
              <a:spcBef>
                <a:spcPts val="0"/>
              </a:spcBef>
              <a:spcAft>
                <a:spcPts val="0"/>
              </a:spcAft>
              <a:buSzPts val="1400"/>
              <a:buChar char="■"/>
              <a:defRPr/>
            </a:lvl6pPr>
            <a:lvl7pPr marL="4267093" lvl="6" indent="-423323" algn="l">
              <a:lnSpc>
                <a:spcPct val="115000"/>
              </a:lnSpc>
              <a:spcBef>
                <a:spcPts val="0"/>
              </a:spcBef>
              <a:spcAft>
                <a:spcPts val="0"/>
              </a:spcAft>
              <a:buSzPts val="1400"/>
              <a:buChar char="●"/>
              <a:defRPr/>
            </a:lvl7pPr>
            <a:lvl8pPr marL="4876678" lvl="7" indent="-423323" algn="l">
              <a:lnSpc>
                <a:spcPct val="115000"/>
              </a:lnSpc>
              <a:spcBef>
                <a:spcPts val="0"/>
              </a:spcBef>
              <a:spcAft>
                <a:spcPts val="0"/>
              </a:spcAft>
              <a:buSzPts val="1400"/>
              <a:buChar char="○"/>
              <a:defRPr/>
            </a:lvl8pPr>
            <a:lvl9pPr marL="5486263" lvl="8" indent="-423323" algn="l">
              <a:lnSpc>
                <a:spcPct val="115000"/>
              </a:lnSpc>
              <a:spcBef>
                <a:spcPts val="0"/>
              </a:spcBef>
              <a:spcAft>
                <a:spcPts val="0"/>
              </a:spcAft>
              <a:buSzPts val="1400"/>
              <a:buChar char="■"/>
              <a:defRPr/>
            </a:lvl9pPr>
          </a:lstStyle>
          <a:p>
            <a:endParaRPr/>
          </a:p>
        </p:txBody>
      </p:sp>
      <p:sp>
        <p:nvSpPr>
          <p:cNvPr id="28" name="Google Shape;28;p44"/>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Roboto"/>
                <a:ea typeface="Roboto"/>
                <a:cs typeface="Roboto"/>
                <a:sym typeface="Robo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290650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E1635A-4DA0-584B-B971-A7920FD24D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7C8D25-4C01-1F42-A89F-A0BB45B306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03FB19-B5FD-DC44-ADC1-9131567DE6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226E36-63F8-BA4F-A422-5A315AE49356}" type="datetimeFigureOut">
              <a:rPr lang="en-US" smtClean="0"/>
              <a:t>10/3/25</a:t>
            </a:fld>
            <a:endParaRPr lang="en-US"/>
          </a:p>
        </p:txBody>
      </p:sp>
      <p:sp>
        <p:nvSpPr>
          <p:cNvPr id="5" name="Footer Placeholder 4">
            <a:extLst>
              <a:ext uri="{FF2B5EF4-FFF2-40B4-BE49-F238E27FC236}">
                <a16:creationId xmlns:a16="http://schemas.microsoft.com/office/drawing/2014/main" id="{8810256E-8CBE-964F-80C3-7073B5923D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FE050A-3764-014D-BAB1-BF416C7EC0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07768E-235F-6345-8AF6-1B490D1F190D}" type="slidenum">
              <a:rPr lang="en-US" smtClean="0"/>
              <a:t>‹#›</a:t>
            </a:fld>
            <a:endParaRPr lang="en-US"/>
          </a:p>
        </p:txBody>
      </p:sp>
    </p:spTree>
    <p:extLst>
      <p:ext uri="{BB962C8B-B14F-4D97-AF65-F5344CB8AC3E}">
        <p14:creationId xmlns:p14="http://schemas.microsoft.com/office/powerpoint/2010/main" val="26434700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annualreviews.org/content/journals/10.1146/annurev-environ-102017-030204#right-ref-B10"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30.png"/><Relationship Id="rId7" Type="http://schemas.openxmlformats.org/officeDocument/2006/relationships/image" Target="../media/image6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61C23C7-FF91-034C-B9DA-3C6CE8110B85}"/>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Carbon fluxes in Earth’s climate system</a:t>
            </a:r>
          </a:p>
        </p:txBody>
      </p:sp>
      <p:pic>
        <p:nvPicPr>
          <p:cNvPr id="3" name="Picture 2" descr="Draft diagram of the carbon cycle.">
            <a:extLst>
              <a:ext uri="{FF2B5EF4-FFF2-40B4-BE49-F238E27FC236}">
                <a16:creationId xmlns:a16="http://schemas.microsoft.com/office/drawing/2014/main" id="{1F52F877-5F71-B0AF-9DE3-BCFF9E5B4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13654" y="1145013"/>
            <a:ext cx="7536226" cy="50241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1DA8D56-A28D-241A-9F11-7B1B202BC957}"/>
                  </a:ext>
                </a:extLst>
              </p:cNvPr>
              <p:cNvSpPr txBox="1"/>
              <p:nvPr/>
            </p:nvSpPr>
            <p:spPr>
              <a:xfrm>
                <a:off x="96131" y="1536174"/>
                <a:ext cx="3970637" cy="2308324"/>
              </a:xfrm>
              <a:prstGeom prst="rect">
                <a:avLst/>
              </a:prstGeom>
              <a:noFill/>
            </p:spPr>
            <p:txBody>
              <a:bodyPr wrap="square" rtlCol="0">
                <a:spAutoFit/>
              </a:bodyPr>
              <a:lstStyle/>
              <a:p>
                <a:r>
                  <a:rPr lang="en-US" sz="2400" dirty="0">
                    <a:solidFill>
                      <a:schemeClr val="tx1"/>
                    </a:solidFill>
                  </a:rPr>
                  <a:t>The </a:t>
                </a:r>
                <a14:m>
                  <m:oMath xmlns:m="http://schemas.openxmlformats.org/officeDocument/2006/math">
                    <m:r>
                      <a:rPr lang="en-US" sz="2400" b="1" i="1" dirty="0" smtClean="0">
                        <a:solidFill>
                          <a:schemeClr val="tx1"/>
                        </a:solidFill>
                        <a:latin typeface="Cambria Math" panose="02040503050406030204" pitchFamily="18" charset="0"/>
                      </a:rPr>
                      <m:t>𝑪</m:t>
                    </m:r>
                    <m:sSub>
                      <m:sSubPr>
                        <m:ctrlPr>
                          <a:rPr lang="en-US" sz="2400" b="1" i="1" dirty="0" smtClean="0">
                            <a:solidFill>
                              <a:schemeClr val="tx1"/>
                            </a:solidFill>
                            <a:latin typeface="Cambria Math" panose="02040503050406030204" pitchFamily="18" charset="0"/>
                          </a:rPr>
                        </m:ctrlPr>
                      </m:sSubPr>
                      <m:e>
                        <m:r>
                          <a:rPr lang="en-US" sz="2400" b="1" i="1" dirty="0" smtClean="0">
                            <a:solidFill>
                              <a:schemeClr val="tx1"/>
                            </a:solidFill>
                            <a:latin typeface="Cambria Math" panose="02040503050406030204" pitchFamily="18" charset="0"/>
                          </a:rPr>
                          <m:t>𝑶</m:t>
                        </m:r>
                      </m:e>
                      <m:sub>
                        <m:r>
                          <a:rPr lang="en-US" sz="2400" b="1" i="1" dirty="0" smtClean="0">
                            <a:solidFill>
                              <a:schemeClr val="tx1"/>
                            </a:solidFill>
                            <a:latin typeface="Cambria Math" panose="02040503050406030204" pitchFamily="18" charset="0"/>
                          </a:rPr>
                          <m:t>𝟐</m:t>
                        </m:r>
                      </m:sub>
                    </m:sSub>
                  </m:oMath>
                </a14:m>
                <a:r>
                  <a:rPr lang="en-US" sz="2400" b="1" dirty="0">
                    <a:solidFill>
                      <a:schemeClr val="tx1"/>
                    </a:solidFill>
                  </a:rPr>
                  <a:t> fertilization </a:t>
                </a:r>
                <a:r>
                  <a:rPr lang="en-US" sz="2400" dirty="0">
                    <a:solidFill>
                      <a:schemeClr val="tx1"/>
                    </a:solidFill>
                  </a:rPr>
                  <a:t>idea says that more </a:t>
                </a:r>
                <a14:m>
                  <m:oMath xmlns:m="http://schemas.openxmlformats.org/officeDocument/2006/math">
                    <m:r>
                      <a:rPr lang="en-US" sz="2400" i="1" dirty="0">
                        <a:solidFill>
                          <a:schemeClr val="tx1"/>
                        </a:solidFill>
                        <a:latin typeface="Cambria Math" panose="02040503050406030204" pitchFamily="18" charset="0"/>
                      </a:rPr>
                      <m:t>𝐶</m:t>
                    </m:r>
                    <m:sSub>
                      <m:sSubPr>
                        <m:ctrlPr>
                          <a:rPr lang="en-US" sz="2400" i="1" dirty="0">
                            <a:solidFill>
                              <a:schemeClr val="tx1"/>
                            </a:solidFill>
                            <a:latin typeface="Cambria Math" panose="02040503050406030204" pitchFamily="18" charset="0"/>
                          </a:rPr>
                        </m:ctrlPr>
                      </m:sSubPr>
                      <m:e>
                        <m:r>
                          <a:rPr lang="en-US" sz="2400" i="1" dirty="0">
                            <a:solidFill>
                              <a:schemeClr val="tx1"/>
                            </a:solidFill>
                            <a:latin typeface="Cambria Math" panose="02040503050406030204" pitchFamily="18" charset="0"/>
                          </a:rPr>
                          <m:t>𝑂</m:t>
                        </m:r>
                      </m:e>
                      <m:sub>
                        <m:r>
                          <a:rPr lang="en-US" sz="2400" i="1" dirty="0">
                            <a:solidFill>
                              <a:schemeClr val="tx1"/>
                            </a:solidFill>
                            <a:latin typeface="Cambria Math" panose="02040503050406030204" pitchFamily="18" charset="0"/>
                          </a:rPr>
                          <m:t>2</m:t>
                        </m:r>
                      </m:sub>
                    </m:sSub>
                  </m:oMath>
                </a14:m>
                <a:r>
                  <a:rPr lang="en-US" sz="2400" dirty="0">
                    <a:solidFill>
                      <a:schemeClr val="tx1"/>
                    </a:solidFill>
                  </a:rPr>
                  <a:t> in the air will result in faster photosynthesis. </a:t>
                </a:r>
              </a:p>
              <a:p>
                <a:endParaRPr lang="en-US" sz="2400" dirty="0"/>
              </a:p>
              <a:p>
                <a:r>
                  <a:rPr lang="en-US" sz="2400" dirty="0">
                    <a:solidFill>
                      <a:schemeClr val="tx1"/>
                    </a:solidFill>
                  </a:rPr>
                  <a:t>But ... How to quantify this?</a:t>
                </a:r>
              </a:p>
            </p:txBody>
          </p:sp>
        </mc:Choice>
        <mc:Fallback xmlns="">
          <p:sp>
            <p:nvSpPr>
              <p:cNvPr id="2" name="TextBox 1">
                <a:extLst>
                  <a:ext uri="{FF2B5EF4-FFF2-40B4-BE49-F238E27FC236}">
                    <a16:creationId xmlns:a16="http://schemas.microsoft.com/office/drawing/2014/main" id="{71DA8D56-A28D-241A-9F11-7B1B202BC957}"/>
                  </a:ext>
                </a:extLst>
              </p:cNvPr>
              <p:cNvSpPr txBox="1">
                <a:spLocks noRot="1" noChangeAspect="1" noMove="1" noResize="1" noEditPoints="1" noAdjustHandles="1" noChangeArrowheads="1" noChangeShapeType="1" noTextEdit="1"/>
              </p:cNvSpPr>
              <p:nvPr/>
            </p:nvSpPr>
            <p:spPr>
              <a:xfrm>
                <a:off x="96131" y="1536174"/>
                <a:ext cx="3970637" cy="2308324"/>
              </a:xfrm>
              <a:prstGeom prst="rect">
                <a:avLst/>
              </a:prstGeom>
              <a:blipFill>
                <a:blip r:embed="rId3"/>
                <a:stretch>
                  <a:fillRect l="-2229" t="-1093" b="-4918"/>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72B9F238-DBBF-279D-2B56-0DC47C212C97}"/>
              </a:ext>
            </a:extLst>
          </p:cNvPr>
          <p:cNvSpPr txBox="1"/>
          <p:nvPr/>
        </p:nvSpPr>
        <p:spPr>
          <a:xfrm>
            <a:off x="10231394" y="1638607"/>
            <a:ext cx="1371600" cy="369332"/>
          </a:xfrm>
          <a:prstGeom prst="rect">
            <a:avLst/>
          </a:prstGeom>
          <a:noFill/>
        </p:spPr>
        <p:txBody>
          <a:bodyPr wrap="square" rtlCol="0">
            <a:spAutoFit/>
          </a:bodyPr>
          <a:lstStyle/>
          <a:p>
            <a:r>
              <a:rPr lang="en-US" dirty="0">
                <a:solidFill>
                  <a:schemeClr val="bg1"/>
                </a:solidFill>
              </a:rPr>
              <a:t>(377 ppm)</a:t>
            </a:r>
          </a:p>
        </p:txBody>
      </p:sp>
    </p:spTree>
    <p:extLst>
      <p:ext uri="{BB962C8B-B14F-4D97-AF65-F5344CB8AC3E}">
        <p14:creationId xmlns:p14="http://schemas.microsoft.com/office/powerpoint/2010/main" val="2626135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A more detailed depiction of carbon/atmosphere carbon exchange (Keenan &amp; Williams, 2018)</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A more detailed depiction of carbon/atmosphere carbon exchange (Keenan &amp; Williams, 2018)</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
        <p:nvSpPr>
          <p:cNvPr id="6" name="TextBox 5">
            <a:extLst>
              <a:ext uri="{FF2B5EF4-FFF2-40B4-BE49-F238E27FC236}">
                <a16:creationId xmlns:a16="http://schemas.microsoft.com/office/drawing/2014/main" id="{1FBFDA3C-B840-DCCD-4B8A-45F334B3931B}"/>
              </a:ext>
            </a:extLst>
          </p:cNvPr>
          <p:cNvSpPr txBox="1"/>
          <p:nvPr/>
        </p:nvSpPr>
        <p:spPr>
          <a:xfrm>
            <a:off x="8193024" y="1070963"/>
            <a:ext cx="3907536" cy="3139321"/>
          </a:xfrm>
          <a:prstGeom prst="rect">
            <a:avLst/>
          </a:prstGeom>
          <a:noFill/>
          <a:ln>
            <a:solidFill>
              <a:schemeClr val="accent1"/>
            </a:solidFill>
          </a:ln>
        </p:spPr>
        <p:txBody>
          <a:bodyPr wrap="square">
            <a:spAutoFit/>
          </a:bodyPr>
          <a:lstStyle/>
          <a:p>
            <a:r>
              <a:rPr lang="en-US" dirty="0"/>
              <a:t>“Ecosystems are thus in a perpetual cycle of being knocked away from equilibrium by disturbance, while at the same time the natural equilibrium point is changing due to environmental change. Changes in the disturbance regime, and persistent environmental change can also completely change the playing field by altering ecosystem structure sufficiently to create a regime shift to a new stable equilibrium state.”</a:t>
            </a:r>
          </a:p>
        </p:txBody>
      </p:sp>
    </p:spTree>
    <p:extLst>
      <p:ext uri="{BB962C8B-B14F-4D97-AF65-F5344CB8AC3E}">
        <p14:creationId xmlns:p14="http://schemas.microsoft.com/office/powerpoint/2010/main" val="3360628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1" name="Picture 13">
            <a:extLst>
              <a:ext uri="{FF2B5EF4-FFF2-40B4-BE49-F238E27FC236}">
                <a16:creationId xmlns:a16="http://schemas.microsoft.com/office/drawing/2014/main" id="{3C322CA5-DE1D-7AAE-527E-92B3E46E17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064" y="85344"/>
            <a:ext cx="7839456" cy="62185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C527847-670A-FD3D-324A-2D0232830BB9}"/>
              </a:ext>
            </a:extLst>
          </p:cNvPr>
          <p:cNvSpPr txBox="1"/>
          <p:nvPr/>
        </p:nvSpPr>
        <p:spPr>
          <a:xfrm>
            <a:off x="0" y="0"/>
            <a:ext cx="12192000" cy="461665"/>
          </a:xfrm>
          <a:prstGeom prst="rect">
            <a:avLst/>
          </a:prstGeom>
          <a:solidFill>
            <a:schemeClr val="accent2"/>
          </a:solidFill>
        </p:spPr>
        <p:txBody>
          <a:bodyPr wrap="square" rtlCol="0">
            <a:spAutoFit/>
          </a:bodyPr>
          <a:lstStyle/>
          <a:p>
            <a:r>
              <a:rPr lang="en-US" sz="2400" b="1" dirty="0"/>
              <a:t>A more detailed depiction of carbon/atmosphere carbon exchange (Keenan &amp; Williams, 2018)</a:t>
            </a:r>
          </a:p>
        </p:txBody>
      </p:sp>
      <p:sp>
        <p:nvSpPr>
          <p:cNvPr id="4" name="TextBox 3">
            <a:extLst>
              <a:ext uri="{FF2B5EF4-FFF2-40B4-BE49-F238E27FC236}">
                <a16:creationId xmlns:a16="http://schemas.microsoft.com/office/drawing/2014/main" id="{D80B09A2-50D3-A9AD-7CAD-AE4071EAFEC0}"/>
              </a:ext>
            </a:extLst>
          </p:cNvPr>
          <p:cNvSpPr txBox="1"/>
          <p:nvPr/>
        </p:nvSpPr>
        <p:spPr>
          <a:xfrm>
            <a:off x="91440" y="5572327"/>
            <a:ext cx="12009120" cy="1200329"/>
          </a:xfrm>
          <a:prstGeom prst="rect">
            <a:avLst/>
          </a:prstGeom>
          <a:solidFill>
            <a:schemeClr val="bg1"/>
          </a:solidFill>
          <a:ln>
            <a:solidFill>
              <a:schemeClr val="accent1"/>
            </a:solidFill>
          </a:ln>
        </p:spPr>
        <p:txBody>
          <a:bodyPr wrap="square">
            <a:spAutoFit/>
          </a:bodyPr>
          <a:lstStyle/>
          <a:p>
            <a:r>
              <a:rPr lang="en-US" b="1" dirty="0"/>
              <a:t>Figure 1  </a:t>
            </a:r>
            <a:r>
              <a:rPr lang="en-US" dirty="0"/>
              <a:t>The primary flows and exchanges that constitute the terrestrial carbon cycle, including uptake through photosynthesis, release to the atmosphere through both anthropogenic (fossil fuel emissions, biomass burning, land use) and natural emissions (autotrophic and heterotrophic respiration, wildfires, volcanic eruptions), and weathering, erosion, and transport. Figure modified with permission from Diana </a:t>
            </a:r>
            <a:r>
              <a:rPr lang="en-US" dirty="0" err="1"/>
              <a:t>Swantek</a:t>
            </a:r>
            <a:r>
              <a:rPr lang="en-US" dirty="0"/>
              <a:t>, Lawrence Berkeley National Lab. </a:t>
            </a:r>
          </a:p>
        </p:txBody>
      </p:sp>
      <p:sp>
        <p:nvSpPr>
          <p:cNvPr id="6" name="TextBox 5">
            <a:extLst>
              <a:ext uri="{FF2B5EF4-FFF2-40B4-BE49-F238E27FC236}">
                <a16:creationId xmlns:a16="http://schemas.microsoft.com/office/drawing/2014/main" id="{1FBFDA3C-B840-DCCD-4B8A-45F334B3931B}"/>
              </a:ext>
            </a:extLst>
          </p:cNvPr>
          <p:cNvSpPr txBox="1"/>
          <p:nvPr/>
        </p:nvSpPr>
        <p:spPr>
          <a:xfrm>
            <a:off x="8193024" y="1070963"/>
            <a:ext cx="3907536" cy="3970318"/>
          </a:xfrm>
          <a:prstGeom prst="rect">
            <a:avLst/>
          </a:prstGeom>
          <a:noFill/>
          <a:ln>
            <a:solidFill>
              <a:schemeClr val="accent1"/>
            </a:solidFill>
          </a:ln>
        </p:spPr>
        <p:txBody>
          <a:bodyPr wrap="square">
            <a:spAutoFit/>
          </a:bodyPr>
          <a:lstStyle/>
          <a:p>
            <a:r>
              <a:rPr lang="en-US" dirty="0"/>
              <a:t>“Ecosystems are thus in a perpetual cycle of being knocked away from equilibrium by disturbance, while at the same time the natural equilibrium point is changing due to environmental change. Changes in the disturbance regime, and persistent environmental change can also completely change the playing field by altering ecosystem structure sufficiently to create a regime shift to a new stable equilibrium state.”</a:t>
            </a:r>
          </a:p>
          <a:p>
            <a:endParaRPr lang="en-US" dirty="0"/>
          </a:p>
          <a:p>
            <a:r>
              <a:rPr lang="en-US" dirty="0"/>
              <a:t>“Ecosystems exist in a state of dynamic disequilibrium”</a:t>
            </a:r>
          </a:p>
        </p:txBody>
      </p:sp>
    </p:spTree>
    <p:extLst>
      <p:ext uri="{BB962C8B-B14F-4D97-AF65-F5344CB8AC3E}">
        <p14:creationId xmlns:p14="http://schemas.microsoft.com/office/powerpoint/2010/main" val="2043397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CCFFEDF-27BB-8A38-5D5A-DE1A5D6CB18E}"/>
              </a:ext>
            </a:extLst>
          </p:cNvPr>
          <p:cNvPicPr>
            <a:picLocks noChangeAspect="1"/>
          </p:cNvPicPr>
          <p:nvPr/>
        </p:nvPicPr>
        <p:blipFill>
          <a:blip r:embed="rId2"/>
          <a:stretch>
            <a:fillRect/>
          </a:stretch>
        </p:blipFill>
        <p:spPr>
          <a:xfrm>
            <a:off x="167009" y="886968"/>
            <a:ext cx="5211764" cy="5084064"/>
          </a:xfrm>
          <a:prstGeom prst="rect">
            <a:avLst/>
          </a:prstGeom>
        </p:spPr>
      </p:pic>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Keenan &amp; Williams provide a nice summary of definitions (Table 1 &amp; subsequent discussion)</a:t>
            </a:r>
          </a:p>
        </p:txBody>
      </p:sp>
      <p:sp>
        <p:nvSpPr>
          <p:cNvPr id="6" name="TextBox 5">
            <a:extLst>
              <a:ext uri="{FF2B5EF4-FFF2-40B4-BE49-F238E27FC236}">
                <a16:creationId xmlns:a16="http://schemas.microsoft.com/office/drawing/2014/main" id="{A06F9247-FA5D-A658-FE4C-9CDB0CD6F4F9}"/>
              </a:ext>
            </a:extLst>
          </p:cNvPr>
          <p:cNvSpPr txBox="1"/>
          <p:nvPr/>
        </p:nvSpPr>
        <p:spPr>
          <a:xfrm>
            <a:off x="5378773" y="682752"/>
            <a:ext cx="6435275" cy="5909310"/>
          </a:xfrm>
          <a:prstGeom prst="rect">
            <a:avLst/>
          </a:prstGeom>
          <a:noFill/>
        </p:spPr>
        <p:txBody>
          <a:bodyPr wrap="square">
            <a:spAutoFit/>
          </a:bodyPr>
          <a:lstStyle/>
          <a:p>
            <a:r>
              <a:rPr lang="en-US" b="1" dirty="0"/>
              <a:t>Carbon sequestration </a:t>
            </a:r>
            <a:r>
              <a:rPr lang="en-US" dirty="0"/>
              <a:t>is the term used to describe the capture and long-term storage of CO2 from the atmosphere. A forest, ocean, or other natural environment has the ability to sequester carbon, through the movement of carbon from short-lived labile pools such as leaves and hummus, to long-lived pools with slow turnover times such as standing biomass or recalcitrant organic matter in soils. The ability to sequester carbon is determined by the balance of time an ecosystem spends being either a sink or a source of carbon, which is defined based on an ecosystems ability to absorb CO2 from the atmosphere. An ecosystem can be a sink for carbon in one year, and a source in another, but must be a sink over long timescales to sequester more carbon.</a:t>
            </a:r>
          </a:p>
          <a:p>
            <a:endParaRPr lang="en-US" dirty="0"/>
          </a:p>
          <a:p>
            <a:r>
              <a:rPr lang="en-US" dirty="0"/>
              <a:t>Although ecosystems are often classified as sinks or sources based on observed fluxes of carbon between an ecosystem and the atmosphere, a true quantification of sink strength must take into account all the pathways of carbon transport, many of which are not represented in observations of exchanges with the atmosphere. Such quantification is termed the </a:t>
            </a:r>
            <a:r>
              <a:rPr lang="en-US" b="1" dirty="0"/>
              <a:t>net ecosystem carbon balance </a:t>
            </a:r>
            <a:r>
              <a:rPr lang="en-US" dirty="0"/>
              <a:t>(NECB; </a:t>
            </a:r>
            <a:r>
              <a:rPr lang="en-US" dirty="0">
                <a:hlinkClick r:id="rId3"/>
              </a:rPr>
              <a:t>10</a:t>
            </a:r>
            <a:r>
              <a:rPr lang="en-US" dirty="0"/>
              <a:t>) and accounts for all vectors of carbon exchange between an ecosystem and its environment. </a:t>
            </a:r>
          </a:p>
        </p:txBody>
      </p:sp>
      <p:sp>
        <p:nvSpPr>
          <p:cNvPr id="7" name="Rectangle 6">
            <a:extLst>
              <a:ext uri="{FF2B5EF4-FFF2-40B4-BE49-F238E27FC236}">
                <a16:creationId xmlns:a16="http://schemas.microsoft.com/office/drawing/2014/main" id="{5FA301D1-FC45-DDA5-FFAE-50DC511F1DB5}"/>
              </a:ext>
            </a:extLst>
          </p:cNvPr>
          <p:cNvSpPr/>
          <p:nvPr/>
        </p:nvSpPr>
        <p:spPr>
          <a:xfrm>
            <a:off x="167009" y="4779264"/>
            <a:ext cx="5124319" cy="219456"/>
          </a:xfrm>
          <a:prstGeom prst="rect">
            <a:avLst/>
          </a:prstGeom>
          <a:solidFill>
            <a:schemeClr val="accent1">
              <a:alpha val="25132"/>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4F893D0-3E7C-6AA5-D386-47B1174E5391}"/>
              </a:ext>
            </a:extLst>
          </p:cNvPr>
          <p:cNvSpPr txBox="1"/>
          <p:nvPr/>
        </p:nvSpPr>
        <p:spPr>
          <a:xfrm>
            <a:off x="1517115" y="6050714"/>
            <a:ext cx="1255776" cy="461665"/>
          </a:xfrm>
          <a:prstGeom prst="rect">
            <a:avLst/>
          </a:prstGeom>
          <a:solidFill>
            <a:schemeClr val="accent1">
              <a:alpha val="37000"/>
            </a:schemeClr>
          </a:solidFill>
        </p:spPr>
        <p:txBody>
          <a:bodyPr wrap="square" rtlCol="0">
            <a:spAutoFit/>
          </a:bodyPr>
          <a:lstStyle/>
          <a:p>
            <a:pPr algn="ctr"/>
            <a:r>
              <a:rPr lang="en-US" sz="2400" dirty="0"/>
              <a:t>“NECB”</a:t>
            </a:r>
          </a:p>
        </p:txBody>
      </p:sp>
    </p:spTree>
    <p:extLst>
      <p:ext uri="{BB962C8B-B14F-4D97-AF65-F5344CB8AC3E}">
        <p14:creationId xmlns:p14="http://schemas.microsoft.com/office/powerpoint/2010/main" val="141637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Sources and sinks (still drawing from Keenan &amp; Williams, 2018)</a:t>
            </a:r>
          </a:p>
        </p:txBody>
      </p:sp>
      <p:pic>
        <p:nvPicPr>
          <p:cNvPr id="4098" name="Picture 2">
            <a:extLst>
              <a:ext uri="{FF2B5EF4-FFF2-40B4-BE49-F238E27FC236}">
                <a16:creationId xmlns:a16="http://schemas.microsoft.com/office/drawing/2014/main" id="{0DF6A5C5-9461-6A35-0C1C-A2543AA4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0100"/>
            <a:ext cx="12192000" cy="5256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B10377-C7FB-C3A3-13FC-6C4B9B2AAA6B}"/>
              </a:ext>
            </a:extLst>
          </p:cNvPr>
          <p:cNvSpPr txBox="1"/>
          <p:nvPr/>
        </p:nvSpPr>
        <p:spPr>
          <a:xfrm>
            <a:off x="0" y="5657671"/>
            <a:ext cx="12192000" cy="1200329"/>
          </a:xfrm>
          <a:prstGeom prst="rect">
            <a:avLst/>
          </a:prstGeom>
          <a:solidFill>
            <a:schemeClr val="bg1"/>
          </a:solidFill>
        </p:spPr>
        <p:txBody>
          <a:bodyPr wrap="square">
            <a:spAutoFit/>
          </a:bodyPr>
          <a:lstStyle/>
          <a:p>
            <a:r>
              <a:rPr lang="en-US" b="1" dirty="0"/>
              <a:t>Figure 2</a:t>
            </a:r>
            <a:r>
              <a:rPr lang="en-US" dirty="0"/>
              <a:t>  A schematic of the multiple influences responsible for an ecosystem's (a) sink or (b) source magnitude, separated by their strength and duration. Processes such as CO2 fertilization, growing season extension, and recovery from disturbance have been identified as causes of the current global sink, while drought, warming-induced respiration, and disturbances contribute to sink reductions. </a:t>
            </a:r>
          </a:p>
        </p:txBody>
      </p:sp>
    </p:spTree>
    <p:extLst>
      <p:ext uri="{BB962C8B-B14F-4D97-AF65-F5344CB8AC3E}">
        <p14:creationId xmlns:p14="http://schemas.microsoft.com/office/powerpoint/2010/main" val="3144619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Sources and sinks (still drawing from Keenan &amp; Williams, 2018)</a:t>
            </a:r>
          </a:p>
        </p:txBody>
      </p:sp>
      <p:pic>
        <p:nvPicPr>
          <p:cNvPr id="4098" name="Picture 2">
            <a:extLst>
              <a:ext uri="{FF2B5EF4-FFF2-40B4-BE49-F238E27FC236}">
                <a16:creationId xmlns:a16="http://schemas.microsoft.com/office/drawing/2014/main" id="{0DF6A5C5-9461-6A35-0C1C-A2543AA4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0100"/>
            <a:ext cx="12192000" cy="5256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B10377-C7FB-C3A3-13FC-6C4B9B2AAA6B}"/>
              </a:ext>
            </a:extLst>
          </p:cNvPr>
          <p:cNvSpPr txBox="1"/>
          <p:nvPr/>
        </p:nvSpPr>
        <p:spPr>
          <a:xfrm>
            <a:off x="0" y="5657671"/>
            <a:ext cx="12192000" cy="1200329"/>
          </a:xfrm>
          <a:prstGeom prst="rect">
            <a:avLst/>
          </a:prstGeom>
          <a:solidFill>
            <a:schemeClr val="bg1"/>
          </a:solidFill>
        </p:spPr>
        <p:txBody>
          <a:bodyPr wrap="square">
            <a:spAutoFit/>
          </a:bodyPr>
          <a:lstStyle/>
          <a:p>
            <a:r>
              <a:rPr lang="en-US" b="1" dirty="0"/>
              <a:t>Figure 2</a:t>
            </a:r>
            <a:r>
              <a:rPr lang="en-US" dirty="0"/>
              <a:t>  A schematic of the multiple influences responsible for an ecosystem's (a) sink or (b) source magnitude, separated by their strength and duration. Processes such as CO2 fertilization, growing season extension, and recovery from disturbance have been identified as causes of the current global sink, while drought, warming-induced respiration, and disturbances contribute to sink reductions. </a:t>
            </a:r>
          </a:p>
        </p:txBody>
      </p:sp>
      <p:sp>
        <p:nvSpPr>
          <p:cNvPr id="4" name="TextBox 3">
            <a:extLst>
              <a:ext uri="{FF2B5EF4-FFF2-40B4-BE49-F238E27FC236}">
                <a16:creationId xmlns:a16="http://schemas.microsoft.com/office/drawing/2014/main" id="{B9E193D3-E6B3-E314-220A-0EA804580A7A}"/>
              </a:ext>
            </a:extLst>
          </p:cNvPr>
          <p:cNvSpPr txBox="1"/>
          <p:nvPr/>
        </p:nvSpPr>
        <p:spPr>
          <a:xfrm>
            <a:off x="3413760" y="1655356"/>
            <a:ext cx="6144768" cy="2585323"/>
          </a:xfrm>
          <a:prstGeom prst="rect">
            <a:avLst/>
          </a:prstGeom>
          <a:solidFill>
            <a:schemeClr val="bg1"/>
          </a:solidFill>
          <a:ln>
            <a:solidFill>
              <a:schemeClr val="accent1"/>
            </a:solidFill>
          </a:ln>
        </p:spPr>
        <p:txBody>
          <a:bodyPr wrap="square">
            <a:spAutoFit/>
          </a:bodyPr>
          <a:lstStyle/>
          <a:p>
            <a:r>
              <a:rPr lang="en-US" dirty="0"/>
              <a:t>The volume of data has opened the door to novel machine-learning techniques, providing unprecedented insights into global carbon cycling by scaling distributed and disparate point-based observations to the global scale. </a:t>
            </a:r>
          </a:p>
          <a:p>
            <a:endParaRPr lang="en-US" dirty="0"/>
          </a:p>
          <a:p>
            <a:r>
              <a:rPr lang="en-US" dirty="0"/>
              <a:t>It has also opened the door to new questions … New approaches are being developed to address potential biases; for example, online isotopic measurements are providing additional insights into the components of the net flux</a:t>
            </a:r>
          </a:p>
        </p:txBody>
      </p:sp>
    </p:spTree>
    <p:extLst>
      <p:ext uri="{BB962C8B-B14F-4D97-AF65-F5344CB8AC3E}">
        <p14:creationId xmlns:p14="http://schemas.microsoft.com/office/powerpoint/2010/main" val="1534410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7FC860-6D4D-0D80-6C31-65F6D869A6FF}"/>
              </a:ext>
            </a:extLst>
          </p:cNvPr>
          <p:cNvSpPr txBox="1"/>
          <p:nvPr/>
        </p:nvSpPr>
        <p:spPr>
          <a:xfrm>
            <a:off x="0" y="0"/>
            <a:ext cx="12106656" cy="461665"/>
          </a:xfrm>
          <a:prstGeom prst="rect">
            <a:avLst/>
          </a:prstGeom>
          <a:solidFill>
            <a:schemeClr val="accent2"/>
          </a:solidFill>
        </p:spPr>
        <p:txBody>
          <a:bodyPr wrap="square" rtlCol="0">
            <a:spAutoFit/>
          </a:bodyPr>
          <a:lstStyle/>
          <a:p>
            <a:r>
              <a:rPr lang="en-US" sz="2400" b="1" dirty="0"/>
              <a:t>Sources and sinks (still drawing from Keenan &amp; Williams, 2018)</a:t>
            </a:r>
          </a:p>
        </p:txBody>
      </p:sp>
      <p:pic>
        <p:nvPicPr>
          <p:cNvPr id="4098" name="Picture 2">
            <a:extLst>
              <a:ext uri="{FF2B5EF4-FFF2-40B4-BE49-F238E27FC236}">
                <a16:creationId xmlns:a16="http://schemas.microsoft.com/office/drawing/2014/main" id="{0DF6A5C5-9461-6A35-0C1C-A2543AA4FD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00100"/>
            <a:ext cx="12192000" cy="5256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B10377-C7FB-C3A3-13FC-6C4B9B2AAA6B}"/>
              </a:ext>
            </a:extLst>
          </p:cNvPr>
          <p:cNvSpPr txBox="1"/>
          <p:nvPr/>
        </p:nvSpPr>
        <p:spPr>
          <a:xfrm>
            <a:off x="0" y="5657671"/>
            <a:ext cx="12192000" cy="1200329"/>
          </a:xfrm>
          <a:prstGeom prst="rect">
            <a:avLst/>
          </a:prstGeom>
          <a:solidFill>
            <a:schemeClr val="bg1"/>
          </a:solidFill>
        </p:spPr>
        <p:txBody>
          <a:bodyPr wrap="square">
            <a:spAutoFit/>
          </a:bodyPr>
          <a:lstStyle/>
          <a:p>
            <a:r>
              <a:rPr lang="en-US" b="1" dirty="0"/>
              <a:t>Figure 2</a:t>
            </a:r>
            <a:r>
              <a:rPr lang="en-US" dirty="0"/>
              <a:t>  A schematic of the multiple influences responsible for an ecosystem's (a) sink or (b) source magnitude, separated by their strength and duration. Processes such as CO2 fertilization, growing season extension, and recovery from disturbance have been identified as causes of the current global sink, while drought, warming-induced respiration, and disturbances contribute to sink reductions. </a:t>
            </a:r>
          </a:p>
        </p:txBody>
      </p:sp>
      <p:pic>
        <p:nvPicPr>
          <p:cNvPr id="2" name="Picture 1">
            <a:extLst>
              <a:ext uri="{FF2B5EF4-FFF2-40B4-BE49-F238E27FC236}">
                <a16:creationId xmlns:a16="http://schemas.microsoft.com/office/drawing/2014/main" id="{4AB8B645-5450-EF17-17AC-F448952E3E63}"/>
              </a:ext>
            </a:extLst>
          </p:cNvPr>
          <p:cNvPicPr>
            <a:picLocks noChangeAspect="1"/>
          </p:cNvPicPr>
          <p:nvPr/>
        </p:nvPicPr>
        <p:blipFill>
          <a:blip r:embed="rId3"/>
          <a:stretch>
            <a:fillRect/>
          </a:stretch>
        </p:blipFill>
        <p:spPr>
          <a:xfrm>
            <a:off x="1602812" y="2255520"/>
            <a:ext cx="9245020" cy="2087585"/>
          </a:xfrm>
          <a:prstGeom prst="rect">
            <a:avLst/>
          </a:prstGeom>
          <a:ln>
            <a:solidFill>
              <a:schemeClr val="accent1"/>
            </a:solidFill>
          </a:ln>
        </p:spPr>
      </p:pic>
    </p:spTree>
    <p:extLst>
      <p:ext uri="{BB962C8B-B14F-4D97-AF65-F5344CB8AC3E}">
        <p14:creationId xmlns:p14="http://schemas.microsoft.com/office/powerpoint/2010/main" val="1623751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Title 1">
                <a:extLst>
                  <a:ext uri="{FF2B5EF4-FFF2-40B4-BE49-F238E27FC236}">
                    <a16:creationId xmlns:a16="http://schemas.microsoft.com/office/drawing/2014/main" id="{227E424C-FA60-654C-8DC2-04A60AF61A89}"/>
                  </a:ext>
                </a:extLst>
              </p:cNvPr>
              <p:cNvSpPr txBox="1">
                <a:spLocks/>
              </p:cNvSpPr>
              <p:nvPr/>
            </p:nvSpPr>
            <p:spPr>
              <a:xfrm>
                <a:off x="0" y="-12434"/>
                <a:ext cx="12192000" cy="457200"/>
              </a:xfrm>
              <a:prstGeom prst="rect">
                <a:avLst/>
              </a:prstGeom>
              <a:solidFill>
                <a:schemeClr val="accent2"/>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14:m>
                  <m:oMath xmlns:m="http://schemas.openxmlformats.org/officeDocument/2006/math">
                    <m:r>
                      <a:rPr lang="en-US" sz="2400" b="1" i="1" smtClean="0">
                        <a:latin typeface="Cambria Math" panose="02040503050406030204" pitchFamily="18" charset="0"/>
                      </a:rPr>
                      <m:t>𝑪</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𝑶</m:t>
                        </m:r>
                      </m:e>
                      <m:sub>
                        <m:r>
                          <a:rPr lang="en-US" sz="2400" b="1" i="1" smtClean="0">
                            <a:latin typeface="Cambria Math" panose="02040503050406030204" pitchFamily="18" charset="0"/>
                          </a:rPr>
                          <m:t>𝟐</m:t>
                        </m:r>
                      </m:sub>
                    </m:sSub>
                  </m:oMath>
                </a14:m>
                <a:r>
                  <a:rPr lang="en-US" sz="2400" b="1" baseline="-25000" dirty="0">
                    <a:latin typeface="+mn-lt"/>
                  </a:rPr>
                  <a:t> </a:t>
                </a:r>
                <a:r>
                  <a:rPr lang="en-US" sz="2400" b="1" dirty="0">
                    <a:latin typeface="+mn-lt"/>
                  </a:rPr>
                  <a:t>fertilization is proportional to how much CO2 there is in the air</a:t>
                </a:r>
                <a:endParaRPr lang="en-US" sz="2400" b="1" baseline="-25000" dirty="0">
                  <a:latin typeface="+mn-lt"/>
                </a:endParaRPr>
              </a:p>
            </p:txBody>
          </p:sp>
        </mc:Choice>
        <mc:Fallback xmlns="">
          <p:sp>
            <p:nvSpPr>
              <p:cNvPr id="10" name="Title 1">
                <a:extLst>
                  <a:ext uri="{FF2B5EF4-FFF2-40B4-BE49-F238E27FC236}">
                    <a16:creationId xmlns:a16="http://schemas.microsoft.com/office/drawing/2014/main" id="{227E424C-FA60-654C-8DC2-04A60AF61A89}"/>
                  </a:ext>
                </a:extLst>
              </p:cNvPr>
              <p:cNvSpPr txBox="1">
                <a:spLocks noRot="1" noChangeAspect="1" noMove="1" noResize="1" noEditPoints="1" noAdjustHandles="1" noChangeArrowheads="1" noChangeShapeType="1" noTextEdit="1"/>
              </p:cNvSpPr>
              <p:nvPr/>
            </p:nvSpPr>
            <p:spPr>
              <a:xfrm>
                <a:off x="0" y="-12434"/>
                <a:ext cx="12192000" cy="457200"/>
              </a:xfrm>
              <a:prstGeom prst="rect">
                <a:avLst/>
              </a:prstGeom>
              <a:blipFill>
                <a:blip r:embed="rId3"/>
                <a:stretch>
                  <a:fillRect l="-104" t="-13514" b="-24324"/>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207D7A4F-7FE8-DF1F-ED74-1AA89DB951C8}"/>
              </a:ext>
            </a:extLst>
          </p:cNvPr>
          <p:cNvPicPr>
            <a:picLocks noChangeAspect="1"/>
          </p:cNvPicPr>
          <p:nvPr/>
        </p:nvPicPr>
        <p:blipFill>
          <a:blip r:embed="rId4"/>
          <a:stretch>
            <a:fillRect/>
          </a:stretch>
        </p:blipFill>
        <p:spPr>
          <a:xfrm>
            <a:off x="375666" y="1025055"/>
            <a:ext cx="4578965" cy="2767730"/>
          </a:xfrm>
          <a:prstGeom prst="rect">
            <a:avLst/>
          </a:prstGeom>
          <a:ln>
            <a:solidFill>
              <a:schemeClr val="accent1"/>
            </a:solidFill>
          </a:ln>
        </p:spPr>
      </p:pic>
      <p:grpSp>
        <p:nvGrpSpPr>
          <p:cNvPr id="5" name="Group 4">
            <a:extLst>
              <a:ext uri="{FF2B5EF4-FFF2-40B4-BE49-F238E27FC236}">
                <a16:creationId xmlns:a16="http://schemas.microsoft.com/office/drawing/2014/main" id="{EEC90FBC-BEBB-7CAD-D355-5ADCC38CEA9C}"/>
              </a:ext>
            </a:extLst>
          </p:cNvPr>
          <p:cNvGrpSpPr/>
          <p:nvPr/>
        </p:nvGrpSpPr>
        <p:grpSpPr>
          <a:xfrm>
            <a:off x="5335298" y="1220629"/>
            <a:ext cx="6856702" cy="5144312"/>
            <a:chOff x="5335298" y="1220629"/>
            <a:chExt cx="6856702" cy="5144312"/>
          </a:xfrm>
        </p:grpSpPr>
        <p:grpSp>
          <p:nvGrpSpPr>
            <p:cNvPr id="16" name="Group 15">
              <a:extLst>
                <a:ext uri="{FF2B5EF4-FFF2-40B4-BE49-F238E27FC236}">
                  <a16:creationId xmlns:a16="http://schemas.microsoft.com/office/drawing/2014/main" id="{7652F67A-1E6D-5C73-C174-8E2516E771E3}"/>
                </a:ext>
              </a:extLst>
            </p:cNvPr>
            <p:cNvGrpSpPr/>
            <p:nvPr/>
          </p:nvGrpSpPr>
          <p:grpSpPr>
            <a:xfrm>
              <a:off x="5335298" y="1220629"/>
              <a:ext cx="6856702" cy="5144312"/>
              <a:chOff x="2569953" y="1641394"/>
              <a:chExt cx="6856702" cy="5144312"/>
            </a:xfrm>
          </p:grpSpPr>
          <p:pic>
            <p:nvPicPr>
              <p:cNvPr id="24" name="Picture 4">
                <a:extLst>
                  <a:ext uri="{FF2B5EF4-FFF2-40B4-BE49-F238E27FC236}">
                    <a16:creationId xmlns:a16="http://schemas.microsoft.com/office/drawing/2014/main" id="{66F5EFA3-4D01-738D-7F4A-1A4A84FF92BD}"/>
                  </a:ext>
                </a:extLst>
              </p:cNvPr>
              <p:cNvPicPr>
                <a:picLocks noChangeAspect="1" noChangeArrowheads="1"/>
              </p:cNvPicPr>
              <p:nvPr/>
            </p:nvPicPr>
            <p:blipFill>
              <a:blip r:embed="rId5">
                <a:alphaModFix/>
                <a:extLst>
                  <a:ext uri="{28A0092B-C50C-407E-A947-70E740481C1C}">
                    <a14:useLocalDpi xmlns:a14="http://schemas.microsoft.com/office/drawing/2010/main" val="0"/>
                  </a:ext>
                </a:extLst>
              </a:blip>
              <a:srcRect/>
              <a:stretch>
                <a:fillRect/>
              </a:stretch>
            </p:blipFill>
            <p:spPr bwMode="auto">
              <a:xfrm>
                <a:off x="2569953" y="1641394"/>
                <a:ext cx="6856702" cy="514431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6DB18142-9B61-CD2E-A26D-316370CF5C85}"/>
                  </a:ext>
                </a:extLst>
              </p:cNvPr>
              <p:cNvGrpSpPr/>
              <p:nvPr/>
            </p:nvGrpSpPr>
            <p:grpSpPr>
              <a:xfrm>
                <a:off x="3592635" y="4213550"/>
                <a:ext cx="4842246" cy="1896084"/>
                <a:chOff x="3592635" y="4213550"/>
                <a:chExt cx="4842246" cy="1896084"/>
              </a:xfrm>
            </p:grpSpPr>
            <p:grpSp>
              <p:nvGrpSpPr>
                <p:cNvPr id="8" name="Group 7">
                  <a:extLst>
                    <a:ext uri="{FF2B5EF4-FFF2-40B4-BE49-F238E27FC236}">
                      <a16:creationId xmlns:a16="http://schemas.microsoft.com/office/drawing/2014/main" id="{C078BC38-1767-0273-BEDF-01428F89AA0D}"/>
                    </a:ext>
                  </a:extLst>
                </p:cNvPr>
                <p:cNvGrpSpPr>
                  <a:grpSpLocks noChangeAspect="1"/>
                </p:cNvGrpSpPr>
                <p:nvPr/>
              </p:nvGrpSpPr>
              <p:grpSpPr>
                <a:xfrm>
                  <a:off x="3592635" y="4298370"/>
                  <a:ext cx="2395235" cy="1811264"/>
                  <a:chOff x="2841845" y="4097790"/>
                  <a:chExt cx="2519150" cy="1882124"/>
                </a:xfrm>
              </p:grpSpPr>
              <p:sp>
                <p:nvSpPr>
                  <p:cNvPr id="14" name="Oval 13">
                    <a:extLst>
                      <a:ext uri="{FF2B5EF4-FFF2-40B4-BE49-F238E27FC236}">
                        <a16:creationId xmlns:a16="http://schemas.microsoft.com/office/drawing/2014/main" id="{13BDC468-2D1F-C7DF-CE49-C2B1CAEB9983}"/>
                      </a:ext>
                    </a:extLst>
                  </p:cNvPr>
                  <p:cNvSpPr/>
                  <p:nvPr/>
                </p:nvSpPr>
                <p:spPr>
                  <a:xfrm>
                    <a:off x="2841845" y="5806919"/>
                    <a:ext cx="172995" cy="17299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2D31E3F-1573-6B67-ED32-0FECBC90DCAB}"/>
                      </a:ext>
                    </a:extLst>
                  </p:cNvPr>
                  <p:cNvSpPr/>
                  <p:nvPr/>
                </p:nvSpPr>
                <p:spPr>
                  <a:xfrm>
                    <a:off x="5188001" y="4097790"/>
                    <a:ext cx="172994" cy="17299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Oval 8">
                  <a:extLst>
                    <a:ext uri="{FF2B5EF4-FFF2-40B4-BE49-F238E27FC236}">
                      <a16:creationId xmlns:a16="http://schemas.microsoft.com/office/drawing/2014/main" id="{2499D619-7FB7-DC19-52F1-3CDA78E68CCB}"/>
                    </a:ext>
                  </a:extLst>
                </p:cNvPr>
                <p:cNvSpPr/>
                <p:nvPr/>
              </p:nvSpPr>
              <p:spPr>
                <a:xfrm>
                  <a:off x="5036668" y="4883257"/>
                  <a:ext cx="164485" cy="166483"/>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C6887A2-4DF8-EC0E-24F0-08A6970C6811}"/>
                        </a:ext>
                      </a:extLst>
                    </p:cNvPr>
                    <p:cNvSpPr txBox="1"/>
                    <p:nvPr/>
                  </p:nvSpPr>
                  <p:spPr>
                    <a:xfrm>
                      <a:off x="3957374" y="5730754"/>
                      <a:ext cx="4477507" cy="369332"/>
                    </a:xfrm>
                    <a:prstGeom prst="rect">
                      <a:avLst/>
                    </a:prstGeom>
                    <a:noFill/>
                  </p:spPr>
                  <p:txBody>
                    <a:bodyPr wrap="square" rtlCol="0">
                      <a:spAutoFit/>
                    </a:bodyPr>
                    <a:lstStyle/>
                    <a:p>
                      <a:r>
                        <a:rPr lang="en-US" dirty="0">
                          <a:solidFill>
                            <a:srgbClr val="0070C0"/>
                          </a:solidFill>
                        </a:rPr>
                        <a:t>pre-industrial atmospheric </a:t>
                      </a:r>
                      <a14:m>
                        <m:oMath xmlns:m="http://schemas.openxmlformats.org/officeDocument/2006/math">
                          <m:r>
                            <a:rPr lang="en-US" b="0" i="1" smtClean="0">
                              <a:solidFill>
                                <a:srgbClr val="0070C0"/>
                              </a:solidFill>
                              <a:latin typeface="Cambria Math" panose="02040503050406030204" pitchFamily="18" charset="0"/>
                            </a:rPr>
                            <m:t>𝐶</m:t>
                          </m:r>
                          <m:sSub>
                            <m:sSubPr>
                              <m:ctrlPr>
                                <a:rPr lang="en-US" b="0" i="1" smtClean="0">
                                  <a:solidFill>
                                    <a:srgbClr val="0070C0"/>
                                  </a:solidFill>
                                  <a:latin typeface="Cambria Math" panose="02040503050406030204" pitchFamily="18" charset="0"/>
                                </a:rPr>
                              </m:ctrlPr>
                            </m:sSubPr>
                            <m:e>
                              <m:r>
                                <a:rPr lang="en-US" b="0" i="1" smtClean="0">
                                  <a:solidFill>
                                    <a:srgbClr val="0070C0"/>
                                  </a:solidFill>
                                  <a:latin typeface="Cambria Math" panose="02040503050406030204" pitchFamily="18" charset="0"/>
                                </a:rPr>
                                <m:t>𝑂</m:t>
                              </m:r>
                            </m:e>
                            <m:sub>
                              <m:r>
                                <a:rPr lang="en-US" b="0" i="1" smtClean="0">
                                  <a:solidFill>
                                    <a:srgbClr val="0070C0"/>
                                  </a:solidFill>
                                  <a:latin typeface="Cambria Math" panose="02040503050406030204" pitchFamily="18" charset="0"/>
                                </a:rPr>
                                <m:t>2</m:t>
                              </m:r>
                            </m:sub>
                          </m:sSub>
                        </m:oMath>
                      </a14:m>
                      <a:r>
                        <a:rPr lang="en-US" dirty="0">
                          <a:solidFill>
                            <a:srgbClr val="0070C0"/>
                          </a:solidFill>
                        </a:rPr>
                        <a:t> (</a:t>
                      </a:r>
                      <a14:m>
                        <m:oMath xmlns:m="http://schemas.openxmlformats.org/officeDocument/2006/math">
                          <m:r>
                            <a:rPr lang="en-US" b="0" i="1" smtClean="0">
                              <a:solidFill>
                                <a:srgbClr val="0070C0"/>
                              </a:solidFill>
                              <a:latin typeface="Cambria Math" panose="02040503050406030204" pitchFamily="18" charset="0"/>
                            </a:rPr>
                            <m:t>290 </m:t>
                          </m:r>
                          <m:r>
                            <a:rPr lang="en-US" b="0" i="1" smtClean="0">
                              <a:solidFill>
                                <a:srgbClr val="0070C0"/>
                              </a:solidFill>
                              <a:latin typeface="Cambria Math" panose="02040503050406030204" pitchFamily="18" charset="0"/>
                            </a:rPr>
                            <m:t>𝑝𝑝𝑚</m:t>
                          </m:r>
                        </m:oMath>
                      </a14:m>
                      <a:r>
                        <a:rPr lang="en-US" dirty="0">
                          <a:solidFill>
                            <a:srgbClr val="0070C0"/>
                          </a:solidFill>
                        </a:rPr>
                        <a:t>)</a:t>
                      </a:r>
                    </a:p>
                  </p:txBody>
                </p:sp>
              </mc:Choice>
              <mc:Fallback xmlns="">
                <p:sp>
                  <p:nvSpPr>
                    <p:cNvPr id="11" name="TextBox 10">
                      <a:extLst>
                        <a:ext uri="{FF2B5EF4-FFF2-40B4-BE49-F238E27FC236}">
                          <a16:creationId xmlns:a16="http://schemas.microsoft.com/office/drawing/2014/main" id="{9C6887A2-4DF8-EC0E-24F0-08A6970C6811}"/>
                        </a:ext>
                      </a:extLst>
                    </p:cNvPr>
                    <p:cNvSpPr txBox="1">
                      <a:spLocks noRot="1" noChangeAspect="1" noMove="1" noResize="1" noEditPoints="1" noAdjustHandles="1" noChangeArrowheads="1" noChangeShapeType="1" noTextEdit="1"/>
                    </p:cNvSpPr>
                    <p:nvPr/>
                  </p:nvSpPr>
                  <p:spPr>
                    <a:xfrm>
                      <a:off x="3957374" y="5730754"/>
                      <a:ext cx="4477507" cy="369332"/>
                    </a:xfrm>
                    <a:prstGeom prst="rect">
                      <a:avLst/>
                    </a:prstGeom>
                    <a:blipFill>
                      <a:blip r:embed="rId6"/>
                      <a:stretch>
                        <a:fillRect l="-1130"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5A25287-358F-D260-0485-E64B98B3D46B}"/>
                        </a:ext>
                      </a:extLst>
                    </p:cNvPr>
                    <p:cNvSpPr txBox="1"/>
                    <p:nvPr/>
                  </p:nvSpPr>
                  <p:spPr>
                    <a:xfrm>
                      <a:off x="5305926" y="4776535"/>
                      <a:ext cx="2664181" cy="369332"/>
                    </a:xfrm>
                    <a:prstGeom prst="rect">
                      <a:avLst/>
                    </a:prstGeom>
                    <a:noFill/>
                  </p:spPr>
                  <p:txBody>
                    <a:bodyPr wrap="square" rtlCol="0">
                      <a:spAutoFit/>
                    </a:bodyPr>
                    <a:lstStyle/>
                    <a:p>
                      <a:r>
                        <a:rPr lang="en-US" dirty="0">
                          <a:solidFill>
                            <a:schemeClr val="accent6"/>
                          </a:solidFill>
                        </a:rPr>
                        <a:t>In 2003 (</a:t>
                      </a:r>
                      <a14:m>
                        <m:oMath xmlns:m="http://schemas.openxmlformats.org/officeDocument/2006/math">
                          <m:r>
                            <a:rPr lang="en-US" b="0" i="1" smtClean="0">
                              <a:solidFill>
                                <a:schemeClr val="accent6"/>
                              </a:solidFill>
                              <a:latin typeface="Cambria Math" panose="02040503050406030204" pitchFamily="18" charset="0"/>
                            </a:rPr>
                            <m:t>377 </m:t>
                          </m:r>
                          <m:r>
                            <a:rPr lang="en-US" b="0" i="1" smtClean="0">
                              <a:solidFill>
                                <a:schemeClr val="accent6"/>
                              </a:solidFill>
                              <a:latin typeface="Cambria Math" panose="02040503050406030204" pitchFamily="18" charset="0"/>
                            </a:rPr>
                            <m:t>𝑝𝑝𝑚</m:t>
                          </m:r>
                        </m:oMath>
                      </a14:m>
                      <a:r>
                        <a:rPr lang="en-US" dirty="0">
                          <a:solidFill>
                            <a:schemeClr val="accent6"/>
                          </a:solidFill>
                        </a:rPr>
                        <a:t>)</a:t>
                      </a:r>
                    </a:p>
                  </p:txBody>
                </p:sp>
              </mc:Choice>
              <mc:Fallback xmlns="">
                <p:sp>
                  <p:nvSpPr>
                    <p:cNvPr id="12" name="TextBox 11">
                      <a:extLst>
                        <a:ext uri="{FF2B5EF4-FFF2-40B4-BE49-F238E27FC236}">
                          <a16:creationId xmlns:a16="http://schemas.microsoft.com/office/drawing/2014/main" id="{05A25287-358F-D260-0485-E64B98B3D46B}"/>
                        </a:ext>
                      </a:extLst>
                    </p:cNvPr>
                    <p:cNvSpPr txBox="1">
                      <a:spLocks noRot="1" noChangeAspect="1" noMove="1" noResize="1" noEditPoints="1" noAdjustHandles="1" noChangeArrowheads="1" noChangeShapeType="1" noTextEdit="1"/>
                    </p:cNvSpPr>
                    <p:nvPr/>
                  </p:nvSpPr>
                  <p:spPr>
                    <a:xfrm>
                      <a:off x="5305926" y="4776535"/>
                      <a:ext cx="2664181" cy="369332"/>
                    </a:xfrm>
                    <a:prstGeom prst="rect">
                      <a:avLst/>
                    </a:prstGeom>
                    <a:blipFill>
                      <a:blip r:embed="rId7"/>
                      <a:stretch>
                        <a:fillRect l="-1896" t="-10000"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28AA123-199E-D70E-E2B4-2BC2301A1A39}"/>
                        </a:ext>
                      </a:extLst>
                    </p:cNvPr>
                    <p:cNvSpPr txBox="1"/>
                    <p:nvPr/>
                  </p:nvSpPr>
                  <p:spPr>
                    <a:xfrm>
                      <a:off x="6095999" y="4213550"/>
                      <a:ext cx="2338881" cy="369332"/>
                    </a:xfrm>
                    <a:prstGeom prst="rect">
                      <a:avLst/>
                    </a:prstGeom>
                    <a:noFill/>
                  </p:spPr>
                  <p:txBody>
                    <a:bodyPr wrap="square" rtlCol="0">
                      <a:spAutoFit/>
                    </a:bodyPr>
                    <a:lstStyle/>
                    <a:p>
                      <a:r>
                        <a:rPr lang="en-US" dirty="0">
                          <a:solidFill>
                            <a:schemeClr val="accent2"/>
                          </a:solidFill>
                        </a:rPr>
                        <a:t>In 2024 (</a:t>
                      </a:r>
                      <a14:m>
                        <m:oMath xmlns:m="http://schemas.openxmlformats.org/officeDocument/2006/math">
                          <m:r>
                            <a:rPr lang="en-US" b="0" i="1" smtClean="0">
                              <a:solidFill>
                                <a:schemeClr val="accent2"/>
                              </a:solidFill>
                              <a:latin typeface="Cambria Math" panose="02040503050406030204" pitchFamily="18" charset="0"/>
                            </a:rPr>
                            <m:t>425 </m:t>
                          </m:r>
                          <m:r>
                            <a:rPr lang="en-US" b="0" i="1" smtClean="0">
                              <a:solidFill>
                                <a:schemeClr val="accent2"/>
                              </a:solidFill>
                              <a:latin typeface="Cambria Math" panose="02040503050406030204" pitchFamily="18" charset="0"/>
                            </a:rPr>
                            <m:t>𝑝𝑝𝑚</m:t>
                          </m:r>
                        </m:oMath>
                      </a14:m>
                      <a:r>
                        <a:rPr lang="en-US" dirty="0">
                          <a:solidFill>
                            <a:schemeClr val="accent2"/>
                          </a:solidFill>
                        </a:rPr>
                        <a:t>) </a:t>
                      </a:r>
                    </a:p>
                  </p:txBody>
                </p:sp>
              </mc:Choice>
              <mc:Fallback xmlns="">
                <p:sp>
                  <p:nvSpPr>
                    <p:cNvPr id="13" name="TextBox 12">
                      <a:extLst>
                        <a:ext uri="{FF2B5EF4-FFF2-40B4-BE49-F238E27FC236}">
                          <a16:creationId xmlns:a16="http://schemas.microsoft.com/office/drawing/2014/main" id="{D28AA123-199E-D70E-E2B4-2BC2301A1A39}"/>
                        </a:ext>
                      </a:extLst>
                    </p:cNvPr>
                    <p:cNvSpPr txBox="1">
                      <a:spLocks noRot="1" noChangeAspect="1" noMove="1" noResize="1" noEditPoints="1" noAdjustHandles="1" noChangeArrowheads="1" noChangeShapeType="1" noTextEdit="1"/>
                    </p:cNvSpPr>
                    <p:nvPr/>
                  </p:nvSpPr>
                  <p:spPr>
                    <a:xfrm>
                      <a:off x="6095999" y="4213550"/>
                      <a:ext cx="2338881" cy="369332"/>
                    </a:xfrm>
                    <a:prstGeom prst="rect">
                      <a:avLst/>
                    </a:prstGeom>
                    <a:blipFill>
                      <a:blip r:embed="rId8"/>
                      <a:stretch>
                        <a:fillRect l="-2162" t="-6667" b="-26667"/>
                      </a:stretch>
                    </a:blipFill>
                  </p:spPr>
                  <p:txBody>
                    <a:bodyPr/>
                    <a:lstStyle/>
                    <a:p>
                      <a:r>
                        <a:rPr lang="en-US">
                          <a:noFill/>
                        </a:rPr>
                        <a:t> </a:t>
                      </a:r>
                    </a:p>
                  </p:txBody>
                </p:sp>
              </mc:Fallback>
            </mc:AlternateContent>
          </p:grpSp>
        </p:grpSp>
        <p:pic>
          <p:nvPicPr>
            <p:cNvPr id="3" name="Picture 2">
              <a:extLst>
                <a:ext uri="{FF2B5EF4-FFF2-40B4-BE49-F238E27FC236}">
                  <a16:creationId xmlns:a16="http://schemas.microsoft.com/office/drawing/2014/main" id="{80C0370C-C237-85A8-EB8A-E54CB356D3D1}"/>
                </a:ext>
              </a:extLst>
            </p:cNvPr>
            <p:cNvPicPr>
              <a:picLocks noChangeAspect="1"/>
            </p:cNvPicPr>
            <p:nvPr/>
          </p:nvPicPr>
          <p:blipFill rotWithShape="1">
            <a:blip r:embed="rId9"/>
            <a:srcRect l="7894"/>
            <a:stretch/>
          </p:blipFill>
          <p:spPr>
            <a:xfrm>
              <a:off x="6262263" y="1855216"/>
              <a:ext cx="1129442" cy="558800"/>
            </a:xfrm>
            <a:prstGeom prst="rect">
              <a:avLst/>
            </a:prstGeom>
          </p:spPr>
        </p:pic>
      </p:grpSp>
      <p:cxnSp>
        <p:nvCxnSpPr>
          <p:cNvPr id="6" name="Straight Arrow Connector 5">
            <a:extLst>
              <a:ext uri="{FF2B5EF4-FFF2-40B4-BE49-F238E27FC236}">
                <a16:creationId xmlns:a16="http://schemas.microsoft.com/office/drawing/2014/main" id="{7FAD5798-A09B-2777-5170-90B63F64E143}"/>
              </a:ext>
            </a:extLst>
          </p:cNvPr>
          <p:cNvCxnSpPr>
            <a:cxnSpLocks/>
          </p:cNvCxnSpPr>
          <p:nvPr/>
        </p:nvCxnSpPr>
        <p:spPr>
          <a:xfrm>
            <a:off x="4693920" y="1853184"/>
            <a:ext cx="2697785" cy="2024421"/>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97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E370659-7373-8186-8633-EEAFB8369FB3}"/>
              </a:ext>
            </a:extLst>
          </p:cNvPr>
          <p:cNvSpPr txBox="1"/>
          <p:nvPr/>
        </p:nvSpPr>
        <p:spPr>
          <a:xfrm>
            <a:off x="0" y="2677"/>
            <a:ext cx="12192000" cy="461665"/>
          </a:xfrm>
          <a:prstGeom prst="rect">
            <a:avLst/>
          </a:prstGeom>
          <a:solidFill>
            <a:schemeClr val="accent2"/>
          </a:solidFill>
        </p:spPr>
        <p:txBody>
          <a:bodyPr wrap="square" rtlCol="0">
            <a:spAutoFit/>
          </a:bodyPr>
          <a:lstStyle/>
          <a:p>
            <a:r>
              <a:rPr lang="en-US" sz="2400" b="1" dirty="0"/>
              <a:t>OK, let’s get started</a:t>
            </a:r>
          </a:p>
        </p:txBody>
      </p:sp>
      <p:pic>
        <p:nvPicPr>
          <p:cNvPr id="2" name="Picture 1">
            <a:extLst>
              <a:ext uri="{FF2B5EF4-FFF2-40B4-BE49-F238E27FC236}">
                <a16:creationId xmlns:a16="http://schemas.microsoft.com/office/drawing/2014/main" id="{8E140D4C-8671-F954-E639-D2F9CE9BFE9C}"/>
              </a:ext>
            </a:extLst>
          </p:cNvPr>
          <p:cNvPicPr>
            <a:picLocks noChangeAspect="1"/>
          </p:cNvPicPr>
          <p:nvPr/>
        </p:nvPicPr>
        <p:blipFill rotWithShape="1">
          <a:blip r:embed="rId3"/>
          <a:srcRect r="73971" b="92965"/>
          <a:stretch/>
        </p:blipFill>
        <p:spPr>
          <a:xfrm>
            <a:off x="504917" y="3942967"/>
            <a:ext cx="3058190" cy="461665"/>
          </a:xfrm>
          <a:prstGeom prst="rect">
            <a:avLst/>
          </a:prstGeom>
          <a:ln>
            <a:solidFill>
              <a:schemeClr val="accent1"/>
            </a:solidFill>
          </a:ln>
        </p:spPr>
      </p:pic>
      <p:pic>
        <p:nvPicPr>
          <p:cNvPr id="4" name="Picture 3">
            <a:extLst>
              <a:ext uri="{FF2B5EF4-FFF2-40B4-BE49-F238E27FC236}">
                <a16:creationId xmlns:a16="http://schemas.microsoft.com/office/drawing/2014/main" id="{DB156C43-6124-F9D8-ECEE-4667943BDC62}"/>
              </a:ext>
            </a:extLst>
          </p:cNvPr>
          <p:cNvPicPr>
            <a:picLocks noChangeAspect="1"/>
          </p:cNvPicPr>
          <p:nvPr/>
        </p:nvPicPr>
        <p:blipFill>
          <a:blip r:embed="rId4"/>
          <a:stretch>
            <a:fillRect/>
          </a:stretch>
        </p:blipFill>
        <p:spPr>
          <a:xfrm>
            <a:off x="504917" y="4554815"/>
            <a:ext cx="10822810" cy="1743675"/>
          </a:xfrm>
          <a:prstGeom prst="rect">
            <a:avLst/>
          </a:prstGeom>
          <a:ln>
            <a:solidFill>
              <a:schemeClr val="accent1"/>
            </a:solidFill>
          </a:ln>
        </p:spPr>
      </p:pic>
      <p:pic>
        <p:nvPicPr>
          <p:cNvPr id="8" name="Picture 7">
            <a:extLst>
              <a:ext uri="{FF2B5EF4-FFF2-40B4-BE49-F238E27FC236}">
                <a16:creationId xmlns:a16="http://schemas.microsoft.com/office/drawing/2014/main" id="{B8C8F6E9-AFDE-C278-7E90-857BB4FC2F7C}"/>
              </a:ext>
            </a:extLst>
          </p:cNvPr>
          <p:cNvPicPr>
            <a:picLocks noChangeAspect="1"/>
          </p:cNvPicPr>
          <p:nvPr/>
        </p:nvPicPr>
        <p:blipFill>
          <a:blip r:embed="rId5"/>
          <a:stretch>
            <a:fillRect/>
          </a:stretch>
        </p:blipFill>
        <p:spPr>
          <a:xfrm>
            <a:off x="375666" y="1025055"/>
            <a:ext cx="4578965" cy="2767730"/>
          </a:xfrm>
          <a:prstGeom prst="rect">
            <a:avLst/>
          </a:prstGeom>
          <a:ln>
            <a:solidFill>
              <a:schemeClr val="accent1"/>
            </a:solidFill>
          </a:ln>
        </p:spPr>
      </p:pic>
    </p:spTree>
    <p:extLst>
      <p:ext uri="{BB962C8B-B14F-4D97-AF65-F5344CB8AC3E}">
        <p14:creationId xmlns:p14="http://schemas.microsoft.com/office/powerpoint/2010/main" val="28306252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5320</TotalTime>
  <Words>1056</Words>
  <Application>Microsoft Macintosh PowerPoint</Application>
  <PresentationFormat>Widescreen</PresentationFormat>
  <Paragraphs>36</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Cambria Math</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Steven</dc:creator>
  <cp:lastModifiedBy>Steven</cp:lastModifiedBy>
  <cp:revision>128</cp:revision>
  <dcterms:created xsi:type="dcterms:W3CDTF">2021-09-25T22:03:07Z</dcterms:created>
  <dcterms:modified xsi:type="dcterms:W3CDTF">2025-10-03T16:07:24Z</dcterms:modified>
</cp:coreProperties>
</file>