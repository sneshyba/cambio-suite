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446" r:id="rId2"/>
    <p:sldId id="1948" r:id="rId3"/>
    <p:sldId id="1978" r:id="rId4"/>
    <p:sldId id="1980" r:id="rId5"/>
    <p:sldId id="1879" r:id="rId6"/>
    <p:sldId id="1981" r:id="rId7"/>
    <p:sldId id="1982" r:id="rId8"/>
    <p:sldId id="1979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0"/>
    <p:restoredTop sz="95976"/>
  </p:normalViewPr>
  <p:slideViewPr>
    <p:cSldViewPr snapToGrid="0" showGuides="1">
      <p:cViewPr varScale="1">
        <p:scale>
          <a:sx n="112" d="100"/>
          <a:sy n="112" d="100"/>
        </p:scale>
        <p:origin x="48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E17554-D8C9-2946-999D-26B37241DDB5}" type="datetimeFigureOut">
              <a:rPr lang="en-US" smtClean="0"/>
              <a:t>9/28/25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42A2B0-23A3-9B48-BFC1-0C37D86AD1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25459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Predict the temperature if CO2 continues to rise. If we reduce CO2 emissions to zero.</a:t>
            </a:r>
          </a:p>
        </p:txBody>
      </p:sp>
    </p:spTree>
    <p:extLst>
      <p:ext uri="{BB962C8B-B14F-4D97-AF65-F5344CB8AC3E}">
        <p14:creationId xmlns:p14="http://schemas.microsoft.com/office/powerpoint/2010/main" val="38552220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48D6BC-C008-8095-E352-B82D8034FD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CA4BBE-5C5D-96F6-532F-CDBE2446BB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B77B78-1AD8-3E09-CFE3-DAE38A91C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AC7F5-5982-BF42-9A3A-EF3B79F48225}" type="datetimeFigureOut">
              <a:rPr lang="en-US" smtClean="0"/>
              <a:t>9/28/25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F6D31F-B177-3864-A6BD-DCBC3F3555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26D666-CD75-E517-791F-BAA656FFC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0BE6A-50D9-EC45-8856-4F8B5A7F06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15283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0D99C-8791-DCB4-C720-F8AA78161E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241CA6-749C-5F79-2E69-F5B50EAFB3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9C86A2-179E-D98D-FEB1-8F692FF881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AC7F5-5982-BF42-9A3A-EF3B79F48225}" type="datetimeFigureOut">
              <a:rPr lang="en-US" smtClean="0"/>
              <a:t>9/28/25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8E0861-5934-CB58-B9FA-361BC446E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98C827-10DC-6D6F-51EF-4D7C0C5B0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0BE6A-50D9-EC45-8856-4F8B5A7F06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7361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C20BDE-22AC-AC03-E3B2-3022517FAF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95B21D-067C-6DE6-F0E2-009A50950F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CE9EBF-050C-897A-A389-B11BFB5B79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AC7F5-5982-BF42-9A3A-EF3B79F48225}" type="datetimeFigureOut">
              <a:rPr lang="en-US" smtClean="0"/>
              <a:t>9/28/25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CF1A86-DD8D-1BFB-AB12-2230F8876E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4EBDFD-4273-DF4B-EEEC-44C8B8136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0BE6A-50D9-EC45-8856-4F8B5A7F06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9014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FFCB7A-89DF-F6B3-471B-0208B97BD9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DBA4D4-5EF5-73D8-47F5-306F63124C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4B0FB6-2F73-88FE-096F-33F19ACFCE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D1FC6C-58B6-7EA1-596E-9D7CA10FCA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AC7F5-5982-BF42-9A3A-EF3B79F48225}" type="datetimeFigureOut">
              <a:rPr lang="en-US" smtClean="0"/>
              <a:t>9/28/25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A2151D-E1C5-DDB1-A578-1EE4E1B85F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AF63CF-FEA8-AA79-6EF9-CAE7CA30C4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0BE6A-50D9-EC45-8856-4F8B5A7F06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3958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25A97C-D59D-21DC-222E-59292B36F6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C32F3A-6809-1F28-2433-10D724A8AF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0AD942-1AA6-535D-C581-BA21C86C2C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5D20C61-A191-19C3-C15B-1518B02B4C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878B300-35B8-7BB2-AC55-1986AA3856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4692C43-F42B-5CC1-436C-D49C5E354F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AC7F5-5982-BF42-9A3A-EF3B79F48225}" type="datetimeFigureOut">
              <a:rPr lang="en-US" smtClean="0"/>
              <a:t>9/28/25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C7B994-D043-4C40-BA7F-23D3FDBD8D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D254C83-8381-4CAB-6026-01B953ED8A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0BE6A-50D9-EC45-8856-4F8B5A7F06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64507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59DF8-B868-9F6F-16B3-CA9E2E1689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04F02DD-D52B-D05D-2A58-74C68CD670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AC7F5-5982-BF42-9A3A-EF3B79F48225}" type="datetimeFigureOut">
              <a:rPr lang="en-US" smtClean="0"/>
              <a:t>9/28/25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BBA64E-ABA7-880D-70A5-529035160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79F3F9-2647-54B2-0EDC-6BF3D02B4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0BE6A-50D9-EC45-8856-4F8B5A7F06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61824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46E009-1BF6-C615-E4DB-1EBA0142B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AC7F5-5982-BF42-9A3A-EF3B79F48225}" type="datetimeFigureOut">
              <a:rPr lang="en-US" smtClean="0"/>
              <a:t>9/28/25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8D2C1ED-184E-3AE3-F834-3A86E97D5B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3D7C7F-E664-65A0-1C28-CB03F75C1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0BE6A-50D9-EC45-8856-4F8B5A7F06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65168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69CD3D-762D-68F0-3715-25C56E1A59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3F08E9-16BC-2330-7E04-EBDB9A6E2E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E331F6-0B52-5415-FD28-E2888D84F0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73E588-3F55-AEBE-3985-2053968EB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AC7F5-5982-BF42-9A3A-EF3B79F48225}" type="datetimeFigureOut">
              <a:rPr lang="en-US" smtClean="0"/>
              <a:t>9/28/25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07EF94-F5BC-E0B4-ADE5-901C66CA6B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98C055-A9B4-9C38-BBD3-FF414530B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0BE6A-50D9-EC45-8856-4F8B5A7F06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0428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1D8A68-D60D-325D-829B-9B5542E86C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1E4AFEE-E30A-084C-EA66-C9F82851D8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2295BE-4048-9626-02BD-A7184871D6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1486A7-9ECF-7D30-37B2-95F6568D9F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AC7F5-5982-BF42-9A3A-EF3B79F48225}" type="datetimeFigureOut">
              <a:rPr lang="en-US" smtClean="0"/>
              <a:t>9/28/25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178B1C-4E6D-C6DB-8C98-482134084D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9BF528-FFD8-1206-C006-BD1C4BC06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0BE6A-50D9-EC45-8856-4F8B5A7F06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7273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770634-996D-0C30-7B24-D0249A9188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325CE3-486D-9115-FA7F-5B4022DE62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B3E5C8-D18A-8042-348A-06FBA732C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AC7F5-5982-BF42-9A3A-EF3B79F48225}" type="datetimeFigureOut">
              <a:rPr lang="en-US" smtClean="0"/>
              <a:t>9/28/25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0BF81A-6483-EE69-636A-7B082A9CD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69FD26-3010-8200-08FB-48AE1087C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0BE6A-50D9-EC45-8856-4F8B5A7F06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61687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2CE16A1-8194-7374-BB6E-4E2799C33CA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607782-A749-FC38-4CD7-468B3AC753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0B2547-BB4F-80A3-BA3B-39DDAAA78B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AC7F5-5982-BF42-9A3A-EF3B79F48225}" type="datetimeFigureOut">
              <a:rPr lang="en-US" smtClean="0"/>
              <a:t>9/28/25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E85AFA-8B27-3480-53CA-28847DEDAF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DF0ACC-C0A0-2E7C-B36B-FB85C93C3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0BE6A-50D9-EC45-8856-4F8B5A7F06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82736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4"/>
          <p:cNvSpPr txBox="1">
            <a:spLocks noGrp="1"/>
          </p:cNvSpPr>
          <p:nvPr>
            <p:ph type="title"/>
          </p:nvPr>
        </p:nvSpPr>
        <p:spPr>
          <a:xfrm>
            <a:off x="415600" y="546667"/>
            <a:ext cx="11360800" cy="81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4"/>
          <p:cNvSpPr txBox="1">
            <a:spLocks noGrp="1"/>
          </p:cNvSpPr>
          <p:nvPr>
            <p:ph type="body" idx="1"/>
          </p:nvPr>
        </p:nvSpPr>
        <p:spPr>
          <a:xfrm>
            <a:off x="415600" y="1639833"/>
            <a:ext cx="11360800" cy="44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8" name="Google Shape;28;p44"/>
          <p:cNvSpPr txBox="1">
            <a:spLocks noGrp="1"/>
          </p:cNvSpPr>
          <p:nvPr>
            <p:ph type="sldNum" idx="12"/>
          </p:nvPr>
        </p:nvSpPr>
        <p:spPr>
          <a:xfrm>
            <a:off x="11280575" y="6201587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0062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948F28B-7145-7D87-5565-9E73921B7C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BAB7C4-589B-9FB2-E1A1-59A026828D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A7AF9B-F63C-F8A4-8D79-BA9F457406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6AC7F5-5982-BF42-9A3A-EF3B79F48225}" type="datetimeFigureOut">
              <a:rPr lang="en-US" smtClean="0"/>
              <a:t>9/28/25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1A954F-03B1-77BF-DEE6-49555DD1CE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CB257A-4124-773D-F835-3482E7F121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20BE6A-50D9-EC45-8856-4F8B5A7F06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04446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youtu.be/iA788usYNWA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tiff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4D0F0FCA-53B5-6F40-B6DC-7700AD131260}"/>
              </a:ext>
            </a:extLst>
          </p:cNvPr>
          <p:cNvSpPr txBox="1"/>
          <p:nvPr/>
        </p:nvSpPr>
        <p:spPr>
          <a:xfrm>
            <a:off x="0" y="2574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 err="1"/>
              <a:t>Milankovich</a:t>
            </a:r>
            <a:r>
              <a:rPr lang="en-US" sz="2400" b="1" dirty="0"/>
              <a:t> and the 100,000 year glacial / interglacial pattern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E875C0B-7058-F240-A31D-2072A08F3EBC}"/>
              </a:ext>
            </a:extLst>
          </p:cNvPr>
          <p:cNvSpPr txBox="1"/>
          <p:nvPr/>
        </p:nvSpPr>
        <p:spPr>
          <a:xfrm>
            <a:off x="3966875" y="6255261"/>
            <a:ext cx="35237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2"/>
              </a:rPr>
              <a:t>Merrill video on Milankovich</a:t>
            </a:r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CD4A92F8-1470-9A4F-B58E-597137D434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6538" y="1001786"/>
            <a:ext cx="8684469" cy="4877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28005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C767C03-0D4A-B34F-B6AB-CA26AC2E8603}"/>
              </a:ext>
            </a:extLst>
          </p:cNvPr>
          <p:cNvSpPr txBox="1"/>
          <p:nvPr/>
        </p:nvSpPr>
        <p:spPr>
          <a:xfrm>
            <a:off x="0" y="0"/>
            <a:ext cx="12192000" cy="830997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Evidence that CO</a:t>
            </a:r>
            <a:r>
              <a:rPr lang="en-US" sz="2400" b="1" baseline="-25000" dirty="0"/>
              <a:t>2</a:t>
            </a:r>
            <a:r>
              <a:rPr lang="en-US" sz="2400" b="1" dirty="0"/>
              <a:t> and CH</a:t>
            </a:r>
            <a:r>
              <a:rPr lang="en-US" sz="2400" b="1" baseline="-25000" dirty="0"/>
              <a:t>4</a:t>
            </a:r>
            <a:r>
              <a:rPr lang="en-US" sz="2400" b="1" dirty="0"/>
              <a:t> climate feedbacks work in response to a temperature driver: the Pleistocene “experiment” </a:t>
            </a:r>
          </a:p>
        </p:txBody>
      </p:sp>
      <p:sp>
        <p:nvSpPr>
          <p:cNvPr id="3" name="AutoShape 4">
            <a:extLst>
              <a:ext uri="{FF2B5EF4-FFF2-40B4-BE49-F238E27FC236}">
                <a16:creationId xmlns:a16="http://schemas.microsoft.com/office/drawing/2014/main" id="{CE403E46-5304-24AE-C04E-9FDB1EB1468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029075" y="0"/>
            <a:ext cx="413226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9B18090-38A2-CB8A-2D6A-3B88824BD786}"/>
              </a:ext>
            </a:extLst>
          </p:cNvPr>
          <p:cNvGrpSpPr/>
          <p:nvPr/>
        </p:nvGrpSpPr>
        <p:grpSpPr>
          <a:xfrm>
            <a:off x="1173738" y="788063"/>
            <a:ext cx="8920702" cy="5651206"/>
            <a:chOff x="1004898" y="1598053"/>
            <a:chExt cx="8200913" cy="5015644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5BB28EE5-8EF5-03B3-7AA7-622CF46B5A5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04898" y="1884153"/>
              <a:ext cx="7016358" cy="4729544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F898ADA-4926-FE26-D9E5-BD6689767147}"/>
                </a:ext>
              </a:extLst>
            </p:cNvPr>
            <p:cNvSpPr txBox="1"/>
            <p:nvPr/>
          </p:nvSpPr>
          <p:spPr>
            <a:xfrm>
              <a:off x="1004898" y="1598053"/>
              <a:ext cx="8200913" cy="3277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7030A0"/>
                  </a:solidFill>
                </a:rPr>
                <a:t>Present</a:t>
              </a:r>
              <a:r>
                <a:rPr lang="en-US" dirty="0">
                  <a:solidFill>
                    <a:srgbClr val="7030A0"/>
                  </a:solidFill>
                </a:rPr>
                <a:t> 			</a:t>
              </a:r>
              <a:r>
                <a:rPr lang="en-US" dirty="0">
                  <a:solidFill>
                    <a:srgbClr val="7030A0"/>
                  </a:solidFill>
                  <a:sym typeface="Wingdings" pitchFamily="2" charset="2"/>
                </a:rPr>
                <a:t>&lt;-------</a:t>
              </a:r>
              <a:r>
                <a:rPr lang="en-US" dirty="0">
                  <a:solidFill>
                    <a:srgbClr val="7030A0"/>
                  </a:solidFill>
                </a:rPr>
                <a:t>			</a:t>
              </a:r>
              <a:r>
                <a:rPr lang="en-US" b="1" dirty="0">
                  <a:solidFill>
                    <a:srgbClr val="7030A0"/>
                  </a:solidFill>
                </a:rPr>
                <a:t>400,000 years ago</a:t>
              </a:r>
            </a:p>
          </p:txBody>
        </p:sp>
      </p:grpSp>
      <p:pic>
        <p:nvPicPr>
          <p:cNvPr id="2" name="Google Shape;58;p1" descr="Ice_core_researchers_from_AWI_drilling_at_the_EastGRIP_ice_core_site,_Greenland_2.jpg">
            <a:extLst>
              <a:ext uri="{FF2B5EF4-FFF2-40B4-BE49-F238E27FC236}">
                <a16:creationId xmlns:a16="http://schemas.microsoft.com/office/drawing/2014/main" id="{0C6495CD-6BEE-56F8-83FB-7DD5AAE09E25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577247" y="2361897"/>
            <a:ext cx="3514235" cy="265378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298583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C767C03-0D4A-B34F-B6AB-CA26AC2E8603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CO</a:t>
            </a:r>
            <a:r>
              <a:rPr lang="en-US" sz="2400" b="1" baseline="-25000" dirty="0"/>
              <a:t>2</a:t>
            </a:r>
            <a:r>
              <a:rPr lang="en-US" sz="2400" b="1" dirty="0"/>
              <a:t> and CH</a:t>
            </a:r>
            <a:r>
              <a:rPr lang="en-US" sz="2400" b="1" baseline="-25000" dirty="0"/>
              <a:t>4</a:t>
            </a:r>
            <a:r>
              <a:rPr lang="en-US" sz="2400" b="1" dirty="0"/>
              <a:t> (and ice/albedo feedback) were like climate power steering</a:t>
            </a:r>
          </a:p>
        </p:txBody>
      </p:sp>
      <p:sp>
        <p:nvSpPr>
          <p:cNvPr id="3" name="AutoShape 4">
            <a:extLst>
              <a:ext uri="{FF2B5EF4-FFF2-40B4-BE49-F238E27FC236}">
                <a16:creationId xmlns:a16="http://schemas.microsoft.com/office/drawing/2014/main" id="{CE403E46-5304-24AE-C04E-9FDB1EB1468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029075" y="0"/>
            <a:ext cx="413226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9B18090-38A2-CB8A-2D6A-3B88824BD786}"/>
              </a:ext>
            </a:extLst>
          </p:cNvPr>
          <p:cNvGrpSpPr/>
          <p:nvPr/>
        </p:nvGrpSpPr>
        <p:grpSpPr>
          <a:xfrm>
            <a:off x="204127" y="853183"/>
            <a:ext cx="8920702" cy="5651206"/>
            <a:chOff x="1004898" y="1598053"/>
            <a:chExt cx="8200913" cy="5015644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5BB28EE5-8EF5-03B3-7AA7-622CF46B5A5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04898" y="1884153"/>
              <a:ext cx="7016358" cy="4729544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F898ADA-4926-FE26-D9E5-BD6689767147}"/>
                </a:ext>
              </a:extLst>
            </p:cNvPr>
            <p:cNvSpPr txBox="1"/>
            <p:nvPr/>
          </p:nvSpPr>
          <p:spPr>
            <a:xfrm>
              <a:off x="1004898" y="1598053"/>
              <a:ext cx="8200913" cy="3277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7030A0"/>
                  </a:solidFill>
                </a:rPr>
                <a:t>Present</a:t>
              </a:r>
              <a:r>
                <a:rPr lang="en-US" dirty="0">
                  <a:solidFill>
                    <a:srgbClr val="7030A0"/>
                  </a:solidFill>
                </a:rPr>
                <a:t> 			</a:t>
              </a:r>
              <a:r>
                <a:rPr lang="en-US" b="1" dirty="0">
                  <a:solidFill>
                    <a:srgbClr val="7030A0"/>
                  </a:solidFill>
                  <a:sym typeface="Wingdings" pitchFamily="2" charset="2"/>
                </a:rPr>
                <a:t>&lt;-------</a:t>
              </a:r>
              <a:r>
                <a:rPr lang="en-US" dirty="0">
                  <a:solidFill>
                    <a:srgbClr val="7030A0"/>
                  </a:solidFill>
                </a:rPr>
                <a:t>			</a:t>
              </a:r>
              <a:r>
                <a:rPr lang="en-US" b="1" dirty="0">
                  <a:solidFill>
                    <a:srgbClr val="7030A0"/>
                  </a:solidFill>
                </a:rPr>
                <a:t>400,000 years ago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25456455-74DD-DD69-5C41-A3021ED3C8DE}"/>
              </a:ext>
            </a:extLst>
          </p:cNvPr>
          <p:cNvGrpSpPr/>
          <p:nvPr/>
        </p:nvGrpSpPr>
        <p:grpSpPr>
          <a:xfrm>
            <a:off x="8157091" y="580810"/>
            <a:ext cx="3830782" cy="3015961"/>
            <a:chOff x="8361218" y="1118020"/>
            <a:chExt cx="3830782" cy="3015961"/>
          </a:xfrm>
          <a:solidFill>
            <a:schemeClr val="bg1"/>
          </a:solidFill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8586671B-2AB7-4B73-3153-9E01D566B80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61218" y="1118020"/>
              <a:ext cx="3830782" cy="3015961"/>
            </a:xfrm>
            <a:prstGeom prst="rect">
              <a:avLst/>
            </a:prstGeom>
            <a:grpFill/>
            <a:ln w="9525">
              <a:solidFill>
                <a:srgbClr val="000000"/>
              </a:solidFill>
              <a:miter lim="800000"/>
              <a:headEnd/>
              <a:tailEnd/>
            </a:ln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11B0A5EE-176B-9CB9-A852-689A5A9E9789}"/>
                </a:ext>
              </a:extLst>
            </p:cNvPr>
            <p:cNvSpPr txBox="1"/>
            <p:nvPr/>
          </p:nvSpPr>
          <p:spPr>
            <a:xfrm>
              <a:off x="8535873" y="1617674"/>
              <a:ext cx="916039" cy="523220"/>
            </a:xfrm>
            <a:prstGeom prst="rect">
              <a:avLst/>
            </a:prstGeom>
            <a:grpFill/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Let Earth wobble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3014BD4-A9AA-43F5-67DB-E41D191C78D9}"/>
                </a:ext>
              </a:extLst>
            </p:cNvPr>
            <p:cNvSpPr txBox="1"/>
            <p:nvPr/>
          </p:nvSpPr>
          <p:spPr>
            <a:xfrm>
              <a:off x="9877943" y="1633531"/>
              <a:ext cx="916039" cy="461665"/>
            </a:xfrm>
            <a:prstGeom prst="rect">
              <a:avLst/>
            </a:prstGeom>
            <a:grpFill/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Warmer or </a:t>
              </a:r>
            </a:p>
            <a:p>
              <a:r>
                <a:rPr lang="en-US" sz="1200" dirty="0"/>
                <a:t>colder</a:t>
              </a: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8E8608A8-0F3A-F53B-A61E-0EF1F4748A33}"/>
              </a:ext>
            </a:extLst>
          </p:cNvPr>
          <p:cNvSpPr txBox="1"/>
          <p:nvPr/>
        </p:nvSpPr>
        <p:spPr>
          <a:xfrm>
            <a:off x="7972797" y="3760800"/>
            <a:ext cx="4132263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The </a:t>
            </a:r>
            <a:r>
              <a:rPr lang="en-US" sz="2400" b="1" dirty="0"/>
              <a:t>timing</a:t>
            </a:r>
            <a:r>
              <a:rPr lang="en-US" sz="2400" dirty="0"/>
              <a:t> is driven by Earth’s wobbling (“</a:t>
            </a:r>
            <a:r>
              <a:rPr lang="en-US" sz="2400" dirty="0" err="1"/>
              <a:t>Milankovič</a:t>
            </a:r>
            <a:r>
              <a:rPr lang="en-US" sz="2400" dirty="0"/>
              <a:t> in the driver’s seat”), but </a:t>
            </a:r>
            <a:r>
              <a:rPr lang="en-US" sz="2400" b="1" dirty="0"/>
              <a:t>CO</a:t>
            </a:r>
            <a:r>
              <a:rPr lang="en-US" sz="2400" b="1" baseline="-25000" dirty="0"/>
              <a:t>2</a:t>
            </a:r>
            <a:r>
              <a:rPr lang="en-US" sz="2400" b="1" dirty="0"/>
              <a:t> and CH</a:t>
            </a:r>
            <a:r>
              <a:rPr lang="en-US" sz="2400" b="1" baseline="-25000" dirty="0"/>
              <a:t>4</a:t>
            </a:r>
            <a:r>
              <a:rPr lang="en-US" sz="2400" b="1" dirty="0"/>
              <a:t> behaved in a way that amplified heating/cooling</a:t>
            </a:r>
            <a:r>
              <a:rPr lang="en-US" sz="2400" dirty="0"/>
              <a:t> (ice/albedo is also an amplifier).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4521418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C767C03-0D4A-B34F-B6AB-CA26AC2E8603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CO</a:t>
            </a:r>
            <a:r>
              <a:rPr lang="en-US" sz="2400" b="1" baseline="-25000" dirty="0"/>
              <a:t>2</a:t>
            </a:r>
            <a:r>
              <a:rPr lang="en-US" sz="2400" b="1" dirty="0"/>
              <a:t> and CH</a:t>
            </a:r>
            <a:r>
              <a:rPr lang="en-US" sz="2400" b="1" baseline="-25000" dirty="0"/>
              <a:t>4</a:t>
            </a:r>
            <a:r>
              <a:rPr lang="en-US" sz="2400" b="1" dirty="0"/>
              <a:t> (and ice/albedo feedback) were like climate power steering</a:t>
            </a:r>
          </a:p>
        </p:txBody>
      </p:sp>
      <p:sp>
        <p:nvSpPr>
          <p:cNvPr id="3" name="AutoShape 4">
            <a:extLst>
              <a:ext uri="{FF2B5EF4-FFF2-40B4-BE49-F238E27FC236}">
                <a16:creationId xmlns:a16="http://schemas.microsoft.com/office/drawing/2014/main" id="{CE403E46-5304-24AE-C04E-9FDB1EB1468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029075" y="0"/>
            <a:ext cx="413226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9B18090-38A2-CB8A-2D6A-3B88824BD786}"/>
              </a:ext>
            </a:extLst>
          </p:cNvPr>
          <p:cNvGrpSpPr/>
          <p:nvPr/>
        </p:nvGrpSpPr>
        <p:grpSpPr>
          <a:xfrm>
            <a:off x="204127" y="853183"/>
            <a:ext cx="8920702" cy="5651206"/>
            <a:chOff x="1004898" y="1598053"/>
            <a:chExt cx="8200913" cy="5015644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5BB28EE5-8EF5-03B3-7AA7-622CF46B5A5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04898" y="1884153"/>
              <a:ext cx="7016358" cy="4729544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F898ADA-4926-FE26-D9E5-BD6689767147}"/>
                </a:ext>
              </a:extLst>
            </p:cNvPr>
            <p:cNvSpPr txBox="1"/>
            <p:nvPr/>
          </p:nvSpPr>
          <p:spPr>
            <a:xfrm>
              <a:off x="1004898" y="1598053"/>
              <a:ext cx="8200913" cy="3277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7030A0"/>
                  </a:solidFill>
                </a:rPr>
                <a:t>Present</a:t>
              </a:r>
              <a:r>
                <a:rPr lang="en-US" dirty="0">
                  <a:solidFill>
                    <a:srgbClr val="7030A0"/>
                  </a:solidFill>
                </a:rPr>
                <a:t> 			</a:t>
              </a:r>
              <a:r>
                <a:rPr lang="en-US" b="1" dirty="0">
                  <a:solidFill>
                    <a:srgbClr val="7030A0"/>
                  </a:solidFill>
                  <a:sym typeface="Wingdings" pitchFamily="2" charset="2"/>
                </a:rPr>
                <a:t>&lt;-------</a:t>
              </a:r>
              <a:r>
                <a:rPr lang="en-US" dirty="0">
                  <a:solidFill>
                    <a:srgbClr val="7030A0"/>
                  </a:solidFill>
                </a:rPr>
                <a:t>			</a:t>
              </a:r>
              <a:r>
                <a:rPr lang="en-US" b="1" dirty="0">
                  <a:solidFill>
                    <a:srgbClr val="7030A0"/>
                  </a:solidFill>
                </a:rPr>
                <a:t>400,000 years ago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25456455-74DD-DD69-5C41-A3021ED3C8DE}"/>
              </a:ext>
            </a:extLst>
          </p:cNvPr>
          <p:cNvGrpSpPr/>
          <p:nvPr/>
        </p:nvGrpSpPr>
        <p:grpSpPr>
          <a:xfrm>
            <a:off x="8157091" y="580810"/>
            <a:ext cx="3830782" cy="3015961"/>
            <a:chOff x="8361218" y="1118020"/>
            <a:chExt cx="3830782" cy="3015961"/>
          </a:xfrm>
          <a:solidFill>
            <a:schemeClr val="bg1"/>
          </a:solidFill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8586671B-2AB7-4B73-3153-9E01D566B80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61218" y="1118020"/>
              <a:ext cx="3830782" cy="3015961"/>
            </a:xfrm>
            <a:prstGeom prst="rect">
              <a:avLst/>
            </a:prstGeom>
            <a:grpFill/>
            <a:ln w="9525">
              <a:solidFill>
                <a:srgbClr val="000000"/>
              </a:solidFill>
              <a:miter lim="800000"/>
              <a:headEnd/>
              <a:tailEnd/>
            </a:ln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11B0A5EE-176B-9CB9-A852-689A5A9E9789}"/>
                </a:ext>
              </a:extLst>
            </p:cNvPr>
            <p:cNvSpPr txBox="1"/>
            <p:nvPr/>
          </p:nvSpPr>
          <p:spPr>
            <a:xfrm>
              <a:off x="8535873" y="1617674"/>
              <a:ext cx="916039" cy="523220"/>
            </a:xfrm>
            <a:prstGeom prst="rect">
              <a:avLst/>
            </a:prstGeom>
            <a:grpFill/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Let Earth wobble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3014BD4-A9AA-43F5-67DB-E41D191C78D9}"/>
                </a:ext>
              </a:extLst>
            </p:cNvPr>
            <p:cNvSpPr txBox="1"/>
            <p:nvPr/>
          </p:nvSpPr>
          <p:spPr>
            <a:xfrm>
              <a:off x="9877943" y="1633531"/>
              <a:ext cx="916039" cy="461665"/>
            </a:xfrm>
            <a:prstGeom prst="rect">
              <a:avLst/>
            </a:prstGeom>
            <a:grpFill/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Warmer or </a:t>
              </a:r>
            </a:p>
            <a:p>
              <a:r>
                <a:rPr lang="en-US" sz="1200" dirty="0"/>
                <a:t>colder</a:t>
              </a: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8E8608A8-0F3A-F53B-A61E-0EF1F4748A33}"/>
              </a:ext>
            </a:extLst>
          </p:cNvPr>
          <p:cNvSpPr txBox="1"/>
          <p:nvPr/>
        </p:nvSpPr>
        <p:spPr>
          <a:xfrm>
            <a:off x="7972797" y="3760800"/>
            <a:ext cx="413226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Which raises the question: How strong were those feedback mechanisms?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5792020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AC7C58A5-C6DF-5140-B42C-771BB4BF5F67}"/>
              </a:ext>
            </a:extLst>
          </p:cNvPr>
          <p:cNvSpPr txBox="1"/>
          <p:nvPr/>
        </p:nvSpPr>
        <p:spPr>
          <a:xfrm>
            <a:off x="1" y="0"/>
            <a:ext cx="12192000" cy="830997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A good approximation to Earth’s actual Equilibrium Climate Sensitivity (as opposed to the ECS we got from a GCM) is the slope of temperature as a function of CO</a:t>
            </a:r>
            <a:r>
              <a:rPr lang="en-US" sz="2400" b="1" baseline="-25000" dirty="0"/>
              <a:t>2</a:t>
            </a:r>
            <a:endParaRPr lang="en-US" sz="2400" b="1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3134C06-12DC-1C1F-C4CD-C3F7EFE4BC52}"/>
              </a:ext>
            </a:extLst>
          </p:cNvPr>
          <p:cNvGrpSpPr>
            <a:grpSpLocks noChangeAspect="1"/>
          </p:cNvGrpSpPr>
          <p:nvPr/>
        </p:nvGrpSpPr>
        <p:grpSpPr>
          <a:xfrm>
            <a:off x="245217" y="1134738"/>
            <a:ext cx="9207393" cy="5331375"/>
            <a:chOff x="610977" y="584200"/>
            <a:chExt cx="10834981" cy="627380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F93D28A-C48F-1B46-B9AC-91814114A164}"/>
                </a:ext>
              </a:extLst>
            </p:cNvPr>
            <p:cNvSpPr txBox="1"/>
            <p:nvPr/>
          </p:nvSpPr>
          <p:spPr>
            <a:xfrm>
              <a:off x="6779660" y="5997039"/>
              <a:ext cx="389625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Courtesy Penny Rowe</a:t>
              </a:r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7112246C-F1E4-9B4D-9BA6-904EDBEA354B}"/>
                </a:ext>
              </a:extLst>
            </p:cNvPr>
            <p:cNvGrpSpPr/>
            <p:nvPr/>
          </p:nvGrpSpPr>
          <p:grpSpPr>
            <a:xfrm>
              <a:off x="610977" y="584200"/>
              <a:ext cx="10834981" cy="6273800"/>
              <a:chOff x="610977" y="584200"/>
              <a:chExt cx="10834981" cy="6273800"/>
            </a:xfrm>
          </p:grpSpPr>
          <p:pic>
            <p:nvPicPr>
              <p:cNvPr id="4" name="Picture 3">
                <a:extLst>
                  <a:ext uri="{FF2B5EF4-FFF2-40B4-BE49-F238E27FC236}">
                    <a16:creationId xmlns:a16="http://schemas.microsoft.com/office/drawing/2014/main" id="{636E9971-22CA-0545-9B08-B95E1ADA6BB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t="8519"/>
              <a:stretch/>
            </p:blipFill>
            <p:spPr>
              <a:xfrm>
                <a:off x="746042" y="584200"/>
                <a:ext cx="10699916" cy="6273800"/>
              </a:xfrm>
              <a:prstGeom prst="rect">
                <a:avLst/>
              </a:prstGeom>
            </p:spPr>
          </p:pic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261A32B-6EF8-F248-AF60-46981D0CFB52}"/>
                  </a:ext>
                </a:extLst>
              </p:cNvPr>
              <p:cNvSpPr txBox="1"/>
              <p:nvPr/>
            </p:nvSpPr>
            <p:spPr>
              <a:xfrm rot="16200000">
                <a:off x="-965389" y="2693967"/>
                <a:ext cx="3614398" cy="46166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>
                    <a:solidFill>
                      <a:srgbClr val="00B050"/>
                    </a:solidFill>
                  </a:rPr>
                  <a:t>T (relative to 1960)</a:t>
                </a: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64400071-091C-094C-8A43-2155362BB97D}"/>
                </a:ext>
              </a:extLst>
            </p:cNvPr>
            <p:cNvGrpSpPr/>
            <p:nvPr/>
          </p:nvGrpSpPr>
          <p:grpSpPr>
            <a:xfrm>
              <a:off x="1706008" y="1725999"/>
              <a:ext cx="5636790" cy="1592500"/>
              <a:chOff x="1413908" y="1598999"/>
              <a:chExt cx="5636790" cy="1592500"/>
            </a:xfrm>
          </p:grpSpPr>
          <p:sp>
            <p:nvSpPr>
              <p:cNvPr id="8" name="Left Brace 7">
                <a:extLst>
                  <a:ext uri="{FF2B5EF4-FFF2-40B4-BE49-F238E27FC236}">
                    <a16:creationId xmlns:a16="http://schemas.microsoft.com/office/drawing/2014/main" id="{A4CCB3AD-CD51-DC42-B1EF-3AA0552CB60C}"/>
                  </a:ext>
                </a:extLst>
              </p:cNvPr>
              <p:cNvSpPr/>
              <p:nvPr/>
            </p:nvSpPr>
            <p:spPr>
              <a:xfrm rot="5400000">
                <a:off x="3357350" y="1673849"/>
                <a:ext cx="266700" cy="2768600"/>
              </a:xfrm>
              <a:prstGeom prst="leftBrace">
                <a:avLst/>
              </a:prstGeom>
              <a:ln w="254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" name="TextBox 8">
                    <a:extLst>
                      <a:ext uri="{FF2B5EF4-FFF2-40B4-BE49-F238E27FC236}">
                        <a16:creationId xmlns:a16="http://schemas.microsoft.com/office/drawing/2014/main" id="{A4B92C70-4748-B749-8050-98466FF35702}"/>
                      </a:ext>
                    </a:extLst>
                  </p:cNvPr>
                  <p:cNvSpPr txBox="1"/>
                  <p:nvPr/>
                </p:nvSpPr>
                <p:spPr>
                  <a:xfrm>
                    <a:off x="1413908" y="1598999"/>
                    <a:ext cx="5636790" cy="122289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2400" dirty="0"/>
                      <a:t>Over the last million years, the slope was </a:t>
                    </a:r>
                    <a14:m>
                      <m:oMath xmlns:m="http://schemas.openxmlformats.org/officeDocument/2006/math"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≈</m:t>
                        </m:r>
                        <m:f>
                          <m:f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𝟐𝟎</m:t>
                            </m:r>
                            <m:r>
                              <a:rPr lang="en-US" sz="24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℃</m:t>
                            </m:r>
                          </m:num>
                          <m:den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2×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𝐶</m:t>
                            </m:r>
                            <m:sSub>
                              <m:sSub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𝑂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den>
                        </m:f>
                      </m:oMath>
                    </a14:m>
                    <a:r>
                      <a:rPr lang="en-US" sz="2400" dirty="0"/>
                      <a:t>   </a:t>
                    </a:r>
                  </a:p>
                </p:txBody>
              </p:sp>
            </mc:Choice>
            <mc:Fallback xmlns="">
              <p:sp>
                <p:nvSpPr>
                  <p:cNvPr id="9" name="TextBox 8">
                    <a:extLst>
                      <a:ext uri="{FF2B5EF4-FFF2-40B4-BE49-F238E27FC236}">
                        <a16:creationId xmlns:a16="http://schemas.microsoft.com/office/drawing/2014/main" id="{A4B92C70-4748-B749-8050-98466FF3570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13908" y="1598999"/>
                    <a:ext cx="5636790" cy="1222893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2116" t="-4819" r="-1323" b="-120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012BEC49-E646-8A46-A544-1E7C55E5C86B}"/>
                </a:ext>
              </a:extLst>
            </p:cNvPr>
            <p:cNvGrpSpPr/>
            <p:nvPr/>
          </p:nvGrpSpPr>
          <p:grpSpPr>
            <a:xfrm>
              <a:off x="4571997" y="4185369"/>
              <a:ext cx="5203205" cy="1592501"/>
              <a:chOff x="1803397" y="1325382"/>
              <a:chExt cx="5203205" cy="1592501"/>
            </a:xfrm>
          </p:grpSpPr>
          <p:sp>
            <p:nvSpPr>
              <p:cNvPr id="18" name="Left Brace 17">
                <a:extLst>
                  <a:ext uri="{FF2B5EF4-FFF2-40B4-BE49-F238E27FC236}">
                    <a16:creationId xmlns:a16="http://schemas.microsoft.com/office/drawing/2014/main" id="{ADDACCEE-6974-7E4D-98B1-861D6D92F388}"/>
                  </a:ext>
                </a:extLst>
              </p:cNvPr>
              <p:cNvSpPr/>
              <p:nvPr/>
            </p:nvSpPr>
            <p:spPr>
              <a:xfrm rot="5400000" flipH="1">
                <a:off x="3459344" y="-330563"/>
                <a:ext cx="266701" cy="3578591"/>
              </a:xfrm>
              <a:prstGeom prst="leftBrace">
                <a:avLst/>
              </a:prstGeom>
              <a:ln w="254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" name="TextBox 18">
                    <a:extLst>
                      <a:ext uri="{FF2B5EF4-FFF2-40B4-BE49-F238E27FC236}">
                        <a16:creationId xmlns:a16="http://schemas.microsoft.com/office/drawing/2014/main" id="{58929FCF-126D-9042-BDAA-EBF78B887246}"/>
                      </a:ext>
                    </a:extLst>
                  </p:cNvPr>
                  <p:cNvSpPr txBox="1"/>
                  <p:nvPr/>
                </p:nvSpPr>
                <p:spPr>
                  <a:xfrm>
                    <a:off x="1803397" y="1694990"/>
                    <a:ext cx="5203205" cy="1222893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accent1"/>
                    </a:solidFill>
                  </a:ln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2400" dirty="0"/>
                      <a:t>Over the last 150 years, the slope has been </a:t>
                    </a:r>
                    <a14:m>
                      <m:oMath xmlns:m="http://schemas.openxmlformats.org/officeDocument/2006/math"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≈</m:t>
                        </m:r>
                        <m:f>
                          <m:f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𝟐</m:t>
                            </m:r>
                            <m:r>
                              <a:rPr lang="en-US" sz="2400" b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en-US" sz="2400" b="1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𝟕</m:t>
                            </m:r>
                            <m:r>
                              <a:rPr lang="en-US" sz="24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℃</m:t>
                            </m:r>
                          </m:num>
                          <m:den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2×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𝐶</m:t>
                            </m:r>
                            <m:sSub>
                              <m:sSub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𝑂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den>
                        </m:f>
                      </m:oMath>
                    </a14:m>
                    <a:r>
                      <a:rPr lang="en-US" sz="2400" dirty="0"/>
                      <a:t> </a:t>
                    </a:r>
                  </a:p>
                </p:txBody>
              </p:sp>
            </mc:Choice>
            <mc:Fallback xmlns="">
              <p:sp>
                <p:nvSpPr>
                  <p:cNvPr id="19" name="TextBox 18">
                    <a:extLst>
                      <a:ext uri="{FF2B5EF4-FFF2-40B4-BE49-F238E27FC236}">
                        <a16:creationId xmlns:a16="http://schemas.microsoft.com/office/drawing/2014/main" id="{58929FCF-126D-9042-BDAA-EBF78B88724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803397" y="1694990"/>
                    <a:ext cx="5203205" cy="1222893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1994" t="-3571" r="-570"/>
                    </a:stretch>
                  </a:blipFill>
                  <a:ln>
                    <a:solidFill>
                      <a:schemeClr val="accent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72560F60-B4D1-2245-8A35-82DB2A86A279}"/>
                </a:ext>
              </a:extLst>
            </p:cNvPr>
            <p:cNvSpPr txBox="1"/>
            <p:nvPr/>
          </p:nvSpPr>
          <p:spPr>
            <a:xfrm>
              <a:off x="7549701" y="6348448"/>
              <a:ext cx="389625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Courtesy Penny Rowe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7730CDC-CBD7-9CED-A3B9-F19490DF0380}"/>
                  </a:ext>
                </a:extLst>
              </p:cNvPr>
              <p:cNvSpPr txBox="1"/>
              <p:nvPr/>
            </p:nvSpPr>
            <p:spPr>
              <a:xfrm>
                <a:off x="6504036" y="2135533"/>
                <a:ext cx="5523812" cy="103919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As we learned from EdGCM, most GCMs are predicting a slope of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1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𝟑</m:t>
                        </m:r>
                        <m:r>
                          <a:rPr lang="en-US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℃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2×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400" dirty="0"/>
                  <a:t> 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7730CDC-CBD7-9CED-A3B9-F19490DF03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4036" y="2135533"/>
                <a:ext cx="5523812" cy="1039195"/>
              </a:xfrm>
              <a:prstGeom prst="rect">
                <a:avLst/>
              </a:prstGeom>
              <a:blipFill>
                <a:blip r:embed="rId5"/>
                <a:stretch>
                  <a:fillRect l="-1602" t="-3571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612730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C767C03-0D4A-B34F-B6AB-CA26AC2E8603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Focusing on the </a:t>
            </a:r>
            <a:r>
              <a:rPr lang="en-US" sz="2400" b="1" dirty="0" err="1"/>
              <a:t>Eemian</a:t>
            </a:r>
            <a:r>
              <a:rPr lang="en-US" sz="2400" b="1" dirty="0"/>
              <a:t> and afterward, some fun (and useful) facts</a:t>
            </a:r>
          </a:p>
        </p:txBody>
      </p:sp>
      <p:sp>
        <p:nvSpPr>
          <p:cNvPr id="3" name="AutoShape 4">
            <a:extLst>
              <a:ext uri="{FF2B5EF4-FFF2-40B4-BE49-F238E27FC236}">
                <a16:creationId xmlns:a16="http://schemas.microsoft.com/office/drawing/2014/main" id="{CE403E46-5304-24AE-C04E-9FDB1EB1468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029075" y="0"/>
            <a:ext cx="413226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9B18090-38A2-CB8A-2D6A-3B88824BD786}"/>
              </a:ext>
            </a:extLst>
          </p:cNvPr>
          <p:cNvGrpSpPr/>
          <p:nvPr/>
        </p:nvGrpSpPr>
        <p:grpSpPr>
          <a:xfrm>
            <a:off x="204127" y="853183"/>
            <a:ext cx="8920702" cy="5651206"/>
            <a:chOff x="1004898" y="1598053"/>
            <a:chExt cx="8200913" cy="5015644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5BB28EE5-8EF5-03B3-7AA7-622CF46B5A5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04898" y="1884153"/>
              <a:ext cx="7016358" cy="4729544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F898ADA-4926-FE26-D9E5-BD6689767147}"/>
                </a:ext>
              </a:extLst>
            </p:cNvPr>
            <p:cNvSpPr txBox="1"/>
            <p:nvPr/>
          </p:nvSpPr>
          <p:spPr>
            <a:xfrm>
              <a:off x="1004898" y="1598053"/>
              <a:ext cx="8200913" cy="3277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7030A0"/>
                  </a:solidFill>
                </a:rPr>
                <a:t>Present</a:t>
              </a:r>
              <a:r>
                <a:rPr lang="en-US" dirty="0">
                  <a:solidFill>
                    <a:srgbClr val="7030A0"/>
                  </a:solidFill>
                </a:rPr>
                <a:t> 			</a:t>
              </a:r>
              <a:r>
                <a:rPr lang="en-US" b="1" dirty="0">
                  <a:solidFill>
                    <a:srgbClr val="7030A0"/>
                  </a:solidFill>
                  <a:sym typeface="Wingdings" pitchFamily="2" charset="2"/>
                </a:rPr>
                <a:t>&lt;-------</a:t>
              </a:r>
              <a:r>
                <a:rPr lang="en-US" dirty="0">
                  <a:solidFill>
                    <a:srgbClr val="7030A0"/>
                  </a:solidFill>
                </a:rPr>
                <a:t>			</a:t>
              </a:r>
              <a:r>
                <a:rPr lang="en-US" b="1" dirty="0">
                  <a:solidFill>
                    <a:srgbClr val="7030A0"/>
                  </a:solidFill>
                </a:rPr>
                <a:t>400,000 years ago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96A5279E-6CAB-1F95-1832-BC3A2F613E84}"/>
              </a:ext>
            </a:extLst>
          </p:cNvPr>
          <p:cNvGrpSpPr/>
          <p:nvPr/>
        </p:nvGrpSpPr>
        <p:grpSpPr>
          <a:xfrm>
            <a:off x="8131582" y="720215"/>
            <a:ext cx="4004219" cy="1389348"/>
            <a:chOff x="7911663" y="633166"/>
            <a:chExt cx="4004219" cy="1389348"/>
          </a:xfrm>
        </p:grpSpPr>
        <p:pic>
          <p:nvPicPr>
            <p:cNvPr id="12" name="Picture 4" descr="West Antarctic Ice Sheet's Collapse Triggers Sea Level Warning">
              <a:extLst>
                <a:ext uri="{FF2B5EF4-FFF2-40B4-BE49-F238E27FC236}">
                  <a16:creationId xmlns:a16="http://schemas.microsoft.com/office/drawing/2014/main" id="{13C0EE12-F6A0-8686-2CAC-E9372ED90E9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11663" y="633166"/>
              <a:ext cx="2467068" cy="138934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04ACA8DD-5BDC-E5EC-E8CE-CE2AA64EAEF1}"/>
                </a:ext>
              </a:extLst>
            </p:cNvPr>
            <p:cNvSpPr txBox="1"/>
            <p:nvPr/>
          </p:nvSpPr>
          <p:spPr>
            <a:xfrm>
              <a:off x="10455129" y="828862"/>
              <a:ext cx="1460753" cy="923330"/>
            </a:xfrm>
            <a:prstGeom prst="rect">
              <a:avLst/>
            </a:prstGeom>
            <a:solidFill>
              <a:srgbClr val="C00000">
                <a:alpha val="34249"/>
              </a:srgbClr>
            </a:solidFill>
            <a:ln>
              <a:solidFill>
                <a:schemeClr val="accent2">
                  <a:lumMod val="7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/>
                <a:t>The West Antarctic Ice Sheet (WAIS)</a:t>
              </a:r>
            </a:p>
          </p:txBody>
        </p:sp>
      </p:grp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2D720334-83E9-4825-53D4-27BDBA465A71}"/>
              </a:ext>
            </a:extLst>
          </p:cNvPr>
          <p:cNvSpPr/>
          <p:nvPr/>
        </p:nvSpPr>
        <p:spPr>
          <a:xfrm>
            <a:off x="2691709" y="1776557"/>
            <a:ext cx="487133" cy="3825589"/>
          </a:xfrm>
          <a:prstGeom prst="roundRect">
            <a:avLst/>
          </a:prstGeom>
          <a:solidFill>
            <a:srgbClr val="C00000">
              <a:alpha val="38493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B2D3B56-55BB-6693-7E7F-7E66669B9D82}"/>
              </a:ext>
            </a:extLst>
          </p:cNvPr>
          <p:cNvSpPr txBox="1"/>
          <p:nvPr/>
        </p:nvSpPr>
        <p:spPr>
          <a:xfrm>
            <a:off x="7836306" y="2242531"/>
            <a:ext cx="4132263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130,000 years ago – a period called the </a:t>
            </a:r>
            <a:r>
              <a:rPr lang="en-US" sz="2400" b="1" dirty="0" err="1">
                <a:solidFill>
                  <a:srgbClr val="FF0000"/>
                </a:solidFill>
              </a:rPr>
              <a:t>Eemian</a:t>
            </a:r>
            <a:r>
              <a:rPr lang="en-US" sz="2400" dirty="0"/>
              <a:t> – was pretty hot! Loss of summertime Arctic ice, partial loss of Greenland ice, complete disintegration of the WAIS =&gt; all leading to meters of sea level rise compared to today.</a:t>
            </a:r>
          </a:p>
          <a:p>
            <a:endParaRPr lang="en-US" sz="2400" dirty="0"/>
          </a:p>
          <a:p>
            <a:r>
              <a:rPr lang="en-US" sz="2400" dirty="0"/>
              <a:t>100,000 years ago (or so) – anatomically modern humans spread out from Africa.  </a:t>
            </a:r>
          </a:p>
        </p:txBody>
      </p:sp>
    </p:spTree>
    <p:extLst>
      <p:ext uri="{BB962C8B-B14F-4D97-AF65-F5344CB8AC3E}">
        <p14:creationId xmlns:p14="http://schemas.microsoft.com/office/powerpoint/2010/main" val="26334498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C767C03-0D4A-B34F-B6AB-CA26AC2E8603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CO</a:t>
            </a:r>
            <a:r>
              <a:rPr lang="en-US" sz="2400" b="1" baseline="-25000" dirty="0"/>
              <a:t>2</a:t>
            </a:r>
            <a:r>
              <a:rPr lang="en-US" sz="2400" b="1" dirty="0"/>
              <a:t> and CH</a:t>
            </a:r>
            <a:r>
              <a:rPr lang="en-US" sz="2400" b="1" baseline="-25000" dirty="0"/>
              <a:t>4</a:t>
            </a:r>
            <a:r>
              <a:rPr lang="en-US" sz="2400" b="1" dirty="0"/>
              <a:t> (and ice/albedo feedback) were like climate power steering</a:t>
            </a:r>
          </a:p>
        </p:txBody>
      </p:sp>
      <p:sp>
        <p:nvSpPr>
          <p:cNvPr id="3" name="AutoShape 4">
            <a:extLst>
              <a:ext uri="{FF2B5EF4-FFF2-40B4-BE49-F238E27FC236}">
                <a16:creationId xmlns:a16="http://schemas.microsoft.com/office/drawing/2014/main" id="{CE403E46-5304-24AE-C04E-9FDB1EB1468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029075" y="0"/>
            <a:ext cx="413226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9B18090-38A2-CB8A-2D6A-3B88824BD786}"/>
              </a:ext>
            </a:extLst>
          </p:cNvPr>
          <p:cNvGrpSpPr/>
          <p:nvPr/>
        </p:nvGrpSpPr>
        <p:grpSpPr>
          <a:xfrm>
            <a:off x="204127" y="853183"/>
            <a:ext cx="8920702" cy="5651206"/>
            <a:chOff x="1004898" y="1598053"/>
            <a:chExt cx="8200913" cy="5015644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5BB28EE5-8EF5-03B3-7AA7-622CF46B5A5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04898" y="1884153"/>
              <a:ext cx="7016358" cy="4729544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F898ADA-4926-FE26-D9E5-BD6689767147}"/>
                </a:ext>
              </a:extLst>
            </p:cNvPr>
            <p:cNvSpPr txBox="1"/>
            <p:nvPr/>
          </p:nvSpPr>
          <p:spPr>
            <a:xfrm>
              <a:off x="1004898" y="1598053"/>
              <a:ext cx="8200913" cy="3277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7030A0"/>
                  </a:solidFill>
                </a:rPr>
                <a:t>Present</a:t>
              </a:r>
              <a:r>
                <a:rPr lang="en-US" dirty="0">
                  <a:solidFill>
                    <a:srgbClr val="7030A0"/>
                  </a:solidFill>
                </a:rPr>
                <a:t> 			</a:t>
              </a:r>
              <a:r>
                <a:rPr lang="en-US" b="1" dirty="0">
                  <a:solidFill>
                    <a:srgbClr val="7030A0"/>
                  </a:solidFill>
                  <a:sym typeface="Wingdings" pitchFamily="2" charset="2"/>
                </a:rPr>
                <a:t>&lt;-------</a:t>
              </a:r>
              <a:r>
                <a:rPr lang="en-US" dirty="0">
                  <a:solidFill>
                    <a:srgbClr val="7030A0"/>
                  </a:solidFill>
                </a:rPr>
                <a:t>			</a:t>
              </a:r>
              <a:r>
                <a:rPr lang="en-US" b="1" dirty="0">
                  <a:solidFill>
                    <a:srgbClr val="7030A0"/>
                  </a:solidFill>
                </a:rPr>
                <a:t>400,000 years ago</a:t>
              </a:r>
            </a:p>
          </p:txBody>
        </p:sp>
      </p:grpSp>
      <p:pic>
        <p:nvPicPr>
          <p:cNvPr id="17" name="Picture 6">
            <a:extLst>
              <a:ext uri="{FF2B5EF4-FFF2-40B4-BE49-F238E27FC236}">
                <a16:creationId xmlns:a16="http://schemas.microsoft.com/office/drawing/2014/main" id="{E794356B-C325-0D19-1887-CDE8125A0C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8932" y="555641"/>
            <a:ext cx="2809181" cy="21039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2D720334-83E9-4825-53D4-27BDBA465A71}"/>
              </a:ext>
            </a:extLst>
          </p:cNvPr>
          <p:cNvSpPr/>
          <p:nvPr/>
        </p:nvSpPr>
        <p:spPr>
          <a:xfrm>
            <a:off x="2691709" y="1776557"/>
            <a:ext cx="487133" cy="3825589"/>
          </a:xfrm>
          <a:prstGeom prst="roundRect">
            <a:avLst/>
          </a:prstGeom>
          <a:solidFill>
            <a:srgbClr val="C00000">
              <a:alpha val="38493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C3EA9D70-9E76-3CF0-8E26-2654C1C28449}"/>
              </a:ext>
            </a:extLst>
          </p:cNvPr>
          <p:cNvSpPr/>
          <p:nvPr/>
        </p:nvSpPr>
        <p:spPr>
          <a:xfrm>
            <a:off x="1453019" y="1776557"/>
            <a:ext cx="275199" cy="3825589"/>
          </a:xfrm>
          <a:prstGeom prst="roundRect">
            <a:avLst/>
          </a:prstGeom>
          <a:solidFill>
            <a:srgbClr val="00B050">
              <a:alpha val="38493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6AD01B3-CF4F-43AB-B20C-BF5E79E0905F}"/>
                  </a:ext>
                </a:extLst>
              </p:cNvPr>
              <p:cNvSpPr txBox="1"/>
              <p:nvPr/>
            </p:nvSpPr>
            <p:spPr>
              <a:xfrm>
                <a:off x="7936514" y="2837800"/>
                <a:ext cx="4149980" cy="34163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b="1" dirty="0">
                    <a:solidFill>
                      <a:srgbClr val="00B050"/>
                    </a:solidFill>
                  </a:rPr>
                  <a:t>Holocene</a:t>
                </a:r>
                <a:r>
                  <a:rPr lang="en-US" sz="2400" dirty="0"/>
                  <a:t> (last 10,000 years): agriculture is “invented.”</a:t>
                </a:r>
              </a:p>
              <a:p>
                <a:endParaRPr lang="en-US" sz="2400" dirty="0"/>
              </a:p>
              <a:p>
                <a:r>
                  <a:rPr lang="en-US" sz="2400" dirty="0"/>
                  <a:t>5,000 years: cities, civilization, writing are developed.</a:t>
                </a:r>
              </a:p>
              <a:p>
                <a:endParaRPr lang="en-US" sz="2400" dirty="0"/>
              </a:p>
              <a:p>
                <a:r>
                  <a:rPr lang="en-US" sz="2400" dirty="0"/>
                  <a:t>150 years ago: start of the industrial revolution =&gt; release of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𝐶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/>
                  <a:t> on a global scale.</a:t>
                </a: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6AD01B3-CF4F-43AB-B20C-BF5E79E090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6514" y="2837800"/>
                <a:ext cx="4149980" cy="3416320"/>
              </a:xfrm>
              <a:prstGeom prst="rect">
                <a:avLst/>
              </a:prstGeom>
              <a:blipFill>
                <a:blip r:embed="rId4"/>
                <a:stretch>
                  <a:fillRect l="-2134" t="-1481" r="-915" b="-29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146409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E370659-7373-8186-8633-EEAFB8369FB3}"/>
              </a:ext>
            </a:extLst>
          </p:cNvPr>
          <p:cNvSpPr txBox="1"/>
          <p:nvPr/>
        </p:nvSpPr>
        <p:spPr>
          <a:xfrm>
            <a:off x="0" y="2677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Lessons of the Pleistocene experiment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9A58249-221C-E102-E751-6EECE37E2FAC}"/>
              </a:ext>
            </a:extLst>
          </p:cNvPr>
          <p:cNvGrpSpPr>
            <a:grpSpLocks noChangeAspect="1"/>
          </p:cNvGrpSpPr>
          <p:nvPr/>
        </p:nvGrpSpPr>
        <p:grpSpPr>
          <a:xfrm>
            <a:off x="1015512" y="503960"/>
            <a:ext cx="10258232" cy="3517718"/>
            <a:chOff x="795593" y="1476371"/>
            <a:chExt cx="11491367" cy="3940581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1AAF0C32-1166-04FF-EBFE-0D1835A3A896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795593" y="2043112"/>
              <a:ext cx="4937172" cy="3373839"/>
              <a:chOff x="8361218" y="1516198"/>
              <a:chExt cx="3830782" cy="2617782"/>
            </a:xfrm>
            <a:solidFill>
              <a:schemeClr val="bg1"/>
            </a:solidFill>
          </p:grpSpPr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F7618EFF-7318-E76F-B1ED-F67BACE612B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13202"/>
              <a:stretch/>
            </p:blipFill>
            <p:spPr bwMode="auto">
              <a:xfrm>
                <a:off x="8361218" y="1516198"/>
                <a:ext cx="3830782" cy="2617782"/>
              </a:xfrm>
              <a:prstGeom prst="rect">
                <a:avLst/>
              </a:prstGeom>
              <a:grpFill/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</p:pic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C2635A1-EE05-6446-7ED4-3BF819989BBA}"/>
                  </a:ext>
                </a:extLst>
              </p:cNvPr>
              <p:cNvSpPr txBox="1"/>
              <p:nvPr/>
            </p:nvSpPr>
            <p:spPr>
              <a:xfrm>
                <a:off x="8535873" y="1617674"/>
                <a:ext cx="916039" cy="523220"/>
              </a:xfrm>
              <a:prstGeom prst="rect">
                <a:avLst/>
              </a:prstGeom>
              <a:grp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/>
                  <a:t>Let Earth wobble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590C94D-622B-42F5-CB5C-EF1B152D0A43}"/>
                  </a:ext>
                </a:extLst>
              </p:cNvPr>
              <p:cNvSpPr txBox="1"/>
              <p:nvPr/>
            </p:nvSpPr>
            <p:spPr>
              <a:xfrm>
                <a:off x="9877943" y="1573921"/>
                <a:ext cx="916039" cy="561776"/>
              </a:xfrm>
              <a:prstGeom prst="rect">
                <a:avLst/>
              </a:prstGeom>
              <a:grp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endParaRPr lang="en-US" sz="1200" dirty="0"/>
              </a:p>
              <a:p>
                <a:pPr algn="ctr"/>
                <a:r>
                  <a:rPr lang="en-US" sz="1200" dirty="0"/>
                  <a:t>Warmer</a:t>
                </a:r>
              </a:p>
              <a:p>
                <a:pPr algn="ctr"/>
                <a:endParaRPr lang="en-US" sz="1200" dirty="0"/>
              </a:p>
            </p:txBody>
          </p:sp>
        </p:grpSp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45790F90-37AC-53EF-D35C-5DEA4CEB5F9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3202"/>
            <a:stretch/>
          </p:blipFill>
          <p:spPr bwMode="auto">
            <a:xfrm>
              <a:off x="6839506" y="2043112"/>
              <a:ext cx="4937172" cy="33738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EBF004D8-D118-8878-5D1F-62A410CA795A}"/>
                </a:ext>
              </a:extLst>
            </p:cNvPr>
            <p:cNvSpPr txBox="1"/>
            <p:nvPr/>
          </p:nvSpPr>
          <p:spPr>
            <a:xfrm>
              <a:off x="849609" y="1476371"/>
              <a:ext cx="4810412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dirty="0"/>
                <a:t>Initiated by </a:t>
              </a:r>
              <a:r>
                <a:rPr lang="en-US" sz="2400" dirty="0" err="1"/>
                <a:t>Milankovič</a:t>
              </a:r>
              <a:r>
                <a:rPr lang="en-US" sz="2400" dirty="0"/>
                <a:t> wobbling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00E9AAF5-3561-F101-6F27-E33FEF929A07}"/>
                </a:ext>
              </a:extLst>
            </p:cNvPr>
            <p:cNvSpPr txBox="1"/>
            <p:nvPr/>
          </p:nvSpPr>
          <p:spPr>
            <a:xfrm>
              <a:off x="6229931" y="1476371"/>
              <a:ext cx="6057029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dirty="0"/>
                <a:t>Initiated by burning fossil fuels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F0354C2-594C-C885-3A10-1FDEF84573A5}"/>
                  </a:ext>
                </a:extLst>
              </p:cNvPr>
              <p:cNvSpPr txBox="1"/>
              <p:nvPr/>
            </p:nvSpPr>
            <p:spPr>
              <a:xfrm>
                <a:off x="125730" y="4100406"/>
                <a:ext cx="11944350" cy="2724720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/>
                  <a:t>The industrial revolution is likely engaging similar “climate power steering” mechanisms that drove climate changes (</a:t>
                </a:r>
                <a:r>
                  <a:rPr lang="en-US" sz="2400" dirty="0" err="1"/>
                  <a:t>Milankovič</a:t>
                </a:r>
                <a:r>
                  <a:rPr lang="en-US" sz="2400" dirty="0"/>
                  <a:t> cycles) of the Pleistocene. 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/>
                  <a:t>The fact that the Pleistocene ECS 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20</m:t>
                        </m:r>
                        <m:r>
                          <a:rPr lang="en-US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℃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2×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400" dirty="0"/>
                  <a:t>) is so much greater than the GCM-predicted ECS (a mere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  <m:r>
                          <a:rPr lang="en-US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℃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2×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400" dirty="0"/>
                  <a:t>) should have us worried that current GCMs are not faithfully representing these feedbacks. That is, there’s good reason </a:t>
                </a:r>
                <a:r>
                  <a:rPr lang="en-US" sz="2400"/>
                  <a:t>to suspect </a:t>
                </a:r>
                <a:r>
                  <a:rPr lang="en-US" sz="2400" dirty="0"/>
                  <a:t>that GCMS are under-predicting the eventual climate impacts of anthropogenic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𝐶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/>
                  <a:t>.</a:t>
                </a: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F0354C2-594C-C885-3A10-1FDEF84573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730" y="4100406"/>
                <a:ext cx="11944350" cy="2724720"/>
              </a:xfrm>
              <a:prstGeom prst="rect">
                <a:avLst/>
              </a:prstGeom>
              <a:blipFill>
                <a:blip r:embed="rId4"/>
                <a:stretch>
                  <a:fillRect l="-743" t="-2304" r="-849" b="-3687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5BF3AFB3-410E-3468-5AB2-F59DC20DB09F}"/>
              </a:ext>
            </a:extLst>
          </p:cNvPr>
          <p:cNvSpPr txBox="1"/>
          <p:nvPr/>
        </p:nvSpPr>
        <p:spPr>
          <a:xfrm>
            <a:off x="8182154" y="1076294"/>
            <a:ext cx="1053915" cy="646331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US" sz="1200" dirty="0"/>
          </a:p>
          <a:p>
            <a:pPr algn="ctr"/>
            <a:r>
              <a:rPr lang="en-US" sz="1200" dirty="0"/>
              <a:t>Warmer</a:t>
            </a:r>
          </a:p>
          <a:p>
            <a:pPr algn="ctr"/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7928609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1165</TotalTime>
  <Words>515</Words>
  <Application>Microsoft Macintosh PowerPoint</Application>
  <PresentationFormat>Widescreen</PresentationFormat>
  <Paragraphs>47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Calibri Light</vt:lpstr>
      <vt:lpstr>Cambria Math</vt:lpstr>
      <vt:lpstr>Roboto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Steven</dc:creator>
  <cp:lastModifiedBy>Steven</cp:lastModifiedBy>
  <cp:revision>54</cp:revision>
  <dcterms:created xsi:type="dcterms:W3CDTF">2023-09-18T10:40:36Z</dcterms:created>
  <dcterms:modified xsi:type="dcterms:W3CDTF">2025-09-29T14:16:53Z</dcterms:modified>
</cp:coreProperties>
</file>