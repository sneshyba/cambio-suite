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1961" r:id="rId2"/>
    <p:sldId id="1982" r:id="rId3"/>
    <p:sldId id="201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58"/>
  </p:normalViewPr>
  <p:slideViewPr>
    <p:cSldViewPr snapToGrid="0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D453-E5A3-737C-536B-79561BCDD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72AA6-73BA-C8D6-474B-C2F99729C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C7B5B-09F2-20F0-2574-8BC3DFA6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A6055-318D-D245-A884-1461F7A0E37D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2F275-FC6C-6793-F799-DC466461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8F6DA-6A23-1BF2-DA22-1B3BD9AD8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5830-F6FF-FA47-8A2E-57EFA1A91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69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A9E7-BBE9-27EB-78E2-676420F02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2F644-00C7-406B-9155-DD29E030A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02E08-1792-2264-E613-85B7A3F7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A6055-318D-D245-A884-1461F7A0E37D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8AAE3-0510-F577-2EEF-4A480A515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A33FE-63A1-D7AC-0B96-328C5675C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5830-F6FF-FA47-8A2E-57EFA1A91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9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5652F-DD77-DA89-4861-488D11C6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C5B3C-BB2B-6ED7-A727-17E1D9797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0A96D-732C-4398-543E-251F2ACB2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A6055-318D-D245-A884-1461F7A0E37D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0FBB6-69BE-290C-67C1-B71ED679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0A62F-42F0-343E-DBCC-F3EEC37B8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5830-F6FF-FA47-8A2E-57EFA1A91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94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084CE-6924-4F5F-2184-E875CA53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5B776-43A0-A88C-BF34-7138FF076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A4427-8AE3-CD0C-60CB-FEB79B2F1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FDA45-409A-57F6-8401-8BA0E45DB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A6055-318D-D245-A884-1461F7A0E37D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5F900-1973-30E7-3E3D-AF1A4F7D8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D9174-EB8A-570D-71D9-7E7F7C8C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5830-F6FF-FA47-8A2E-57EFA1A91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43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C860-7411-FCDB-8ADB-0AF7D6595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A4E85-9013-7147-602F-916C0527F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15128-7F65-9B19-6709-6F6C638E9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4973A7-F31D-C309-BEBE-24467AEAE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3EB81C-F952-4630-992D-AFFE91C8F1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D3513-7185-260F-76D7-1BA6412D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A6055-318D-D245-A884-1461F7A0E37D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7E8412-69B8-3733-6766-B00B95FEC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5D16E1-8E48-9AB8-44B1-B335CAE62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5830-F6FF-FA47-8A2E-57EFA1A91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83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4A5EF-96C0-D24D-8CAC-40ABA0230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3674F-20A1-DB79-2EA6-758DAAEA2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A6055-318D-D245-A884-1461F7A0E37D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68B99-B3FB-96F3-B9AF-A472B1359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48A73-752A-6BDA-B00D-D561B9CE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5830-F6FF-FA47-8A2E-57EFA1A91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29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2FDA5-7E0E-7EE5-3032-8AA203F5D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A6055-318D-D245-A884-1461F7A0E37D}" type="datetimeFigureOut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E94E58-7355-FE03-E94F-BD9073F1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CDF88-5D56-37C9-657F-F3572BC9F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5830-F6FF-FA47-8A2E-57EFA1A91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788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2019A-1E62-F734-D08B-017997354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561AC-76AC-3D3D-3011-83EA445A1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E195B-5200-D7F0-6714-377067B2C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C08E-E6CF-E467-31B7-C9374C84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A6055-318D-D245-A884-1461F7A0E37D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50549-4F25-7B4B-2F57-E1ADAE7F4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A5766-914B-C168-391D-C7B31757E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5830-F6FF-FA47-8A2E-57EFA1A91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64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FC2E1-5873-1BEE-8616-00A0AF61F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0D98A7-0CC7-1FFB-04EA-03ECFB9BF5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5BA90-4099-77A8-909A-B24E8E84A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FE0BD-A416-5D20-DDC7-78C1D35B3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A6055-318D-D245-A884-1461F7A0E37D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797E0-7112-8DC3-FF83-DF86BE6ED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16AB0-252C-8EC9-6C77-53D180DB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5830-F6FF-FA47-8A2E-57EFA1A91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1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F43A4-320E-29BF-41A8-F7A4D3719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495065-6558-8ECC-CCB2-225A619F7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6BF9D-301C-C45F-5192-BA36E9864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A6055-318D-D245-A884-1461F7A0E37D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7123B-BA13-EC84-7E90-012E7975A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5AC62-5CCA-0AD4-04E5-0262C718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5830-F6FF-FA47-8A2E-57EFA1A91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4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3F3BE8-FC29-D818-8AD1-47A857F6D6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35BBA4-E371-0B4A-71E6-798019E4E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CE7DA-EFB0-3C78-7F32-5D614741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A6055-318D-D245-A884-1461F7A0E37D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54803-EB37-40BB-6EAE-479845DF4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DBDEE-1016-82A9-017D-62064F62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5830-F6FF-FA47-8A2E-57EFA1A91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3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70BC4B-B9E7-1FD5-1430-22BD39A6B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2BB3B-DF01-2E32-02B2-18BFA407E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4D55E-C066-1B0F-B903-ACAA5BF06D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A6055-318D-D245-A884-1461F7A0E37D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5CCDE-F9D4-8050-D523-357369004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5731F-16CF-CE9C-DB9B-4886E5A2D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95830-F6FF-FA47-8A2E-57EFA1A91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25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5FBBD3-BEF0-B849-A644-76FE66A95864}"/>
              </a:ext>
            </a:extLst>
          </p:cNvPr>
          <p:cNvSpPr txBox="1"/>
          <p:nvPr/>
        </p:nvSpPr>
        <p:spPr>
          <a:xfrm>
            <a:off x="0" y="267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Back in Week 4, we considered </a:t>
            </a:r>
            <a:r>
              <a:rPr lang="en-US" sz="2400" b="1" dirty="0" err="1"/>
              <a:t>Lenton’s</a:t>
            </a:r>
            <a:r>
              <a:rPr lang="en-US" sz="2400" b="1" dirty="0"/>
              <a:t> picture of “Tipping Elements” and “Tipping Points”</a:t>
            </a:r>
          </a:p>
        </p:txBody>
      </p:sp>
      <p:pic>
        <p:nvPicPr>
          <p:cNvPr id="17" name="Picture 2" descr="https://www.pnas.org/content/pnas/115/33/8252/F3.large.jpg?width=800&amp;height=600&amp;carousel=1">
            <a:extLst>
              <a:ext uri="{FF2B5EF4-FFF2-40B4-BE49-F238E27FC236}">
                <a16:creationId xmlns:a16="http://schemas.microsoft.com/office/drawing/2014/main" id="{69AF55F4-5EC4-8F6B-1680-2693BE050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44" y="797655"/>
            <a:ext cx="8190061" cy="5262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EE04BFE-DD40-BF50-CE32-152751807A95}"/>
              </a:ext>
            </a:extLst>
          </p:cNvPr>
          <p:cNvSpPr txBox="1"/>
          <p:nvPr/>
        </p:nvSpPr>
        <p:spPr>
          <a:xfrm>
            <a:off x="8133347" y="1130679"/>
            <a:ext cx="38982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tipping element </a:t>
            </a:r>
            <a:r>
              <a:rPr lang="en-US" sz="2400" dirty="0"/>
              <a:t>is a feedback mechanism (and we probably don’t know about all of them).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tipping point </a:t>
            </a:r>
            <a:r>
              <a:rPr lang="en-US" sz="2400" dirty="0"/>
              <a:t>is the temperature at which that mechanism will kick in, so we should keep warming below those values. </a:t>
            </a:r>
          </a:p>
        </p:txBody>
      </p:sp>
    </p:spTree>
    <p:extLst>
      <p:ext uri="{BB962C8B-B14F-4D97-AF65-F5344CB8AC3E}">
        <p14:creationId xmlns:p14="http://schemas.microsoft.com/office/powerpoint/2010/main" val="371567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D0F0FCA-53B5-6F40-B6DC-7700AD131260}"/>
              </a:ext>
            </a:extLst>
          </p:cNvPr>
          <p:cNvSpPr txBox="1"/>
          <p:nvPr/>
        </p:nvSpPr>
        <p:spPr>
          <a:xfrm>
            <a:off x="0" y="2574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Tipping points encompass the idea of irreversibility (at least, on a human time scale)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94E748-9007-0364-F053-BB9B731B7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189" y="1052752"/>
            <a:ext cx="6036476" cy="4752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A8FAFC-E982-E99E-C378-719457F2BA5E}"/>
              </a:ext>
            </a:extLst>
          </p:cNvPr>
          <p:cNvCxnSpPr/>
          <p:nvPr/>
        </p:nvCxnSpPr>
        <p:spPr>
          <a:xfrm>
            <a:off x="3337560" y="1760220"/>
            <a:ext cx="708660" cy="93726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6EBFFE9-4BC7-2A8D-F310-ED8C16831AC2}"/>
              </a:ext>
            </a:extLst>
          </p:cNvPr>
          <p:cNvSpPr txBox="1"/>
          <p:nvPr/>
        </p:nvSpPr>
        <p:spPr>
          <a:xfrm>
            <a:off x="77785" y="1259354"/>
            <a:ext cx="3291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Crossing a tipping point: </a:t>
            </a:r>
            <a:r>
              <a:rPr lang="en-US" sz="2400" dirty="0"/>
              <a:t>when the initial forcing is no longer needed to keep the cycle going</a:t>
            </a:r>
          </a:p>
        </p:txBody>
      </p:sp>
    </p:spTree>
    <p:extLst>
      <p:ext uri="{BB962C8B-B14F-4D97-AF65-F5344CB8AC3E}">
        <p14:creationId xmlns:p14="http://schemas.microsoft.com/office/powerpoint/2010/main" val="66019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5FBBD3-BEF0-B849-A644-76FE66A95864}"/>
              </a:ext>
            </a:extLst>
          </p:cNvPr>
          <p:cNvSpPr txBox="1"/>
          <p:nvPr/>
        </p:nvSpPr>
        <p:spPr>
          <a:xfrm>
            <a:off x="0" y="267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Reframing </a:t>
            </a:r>
            <a:r>
              <a:rPr lang="en-US" sz="2400" b="1" strike="sngStrike" dirty="0"/>
              <a:t>Tipping Elements </a:t>
            </a:r>
            <a:r>
              <a:rPr lang="en-US" sz="2400" b="1" dirty="0"/>
              <a:t> as Sacrifice Zones</a:t>
            </a:r>
          </a:p>
        </p:txBody>
      </p:sp>
      <p:pic>
        <p:nvPicPr>
          <p:cNvPr id="17" name="Picture 2" descr="https://www.pnas.org/content/pnas/115/33/8252/F3.large.jpg?width=800&amp;height=600&amp;carousel=1">
            <a:extLst>
              <a:ext uri="{FF2B5EF4-FFF2-40B4-BE49-F238E27FC236}">
                <a16:creationId xmlns:a16="http://schemas.microsoft.com/office/drawing/2014/main" id="{69AF55F4-5EC4-8F6B-1680-2693BE050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44" y="797655"/>
            <a:ext cx="8190061" cy="5262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EE04BFE-DD40-BF50-CE32-152751807A95}"/>
              </a:ext>
            </a:extLst>
          </p:cNvPr>
          <p:cNvSpPr txBox="1"/>
          <p:nvPr/>
        </p:nvSpPr>
        <p:spPr>
          <a:xfrm>
            <a:off x="8181473" y="613929"/>
            <a:ext cx="389823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sacrifice zone </a:t>
            </a:r>
            <a:r>
              <a:rPr lang="en-US" sz="2400" dirty="0"/>
              <a:t>is a region of the planet that we are willing to tolerate being destroyed by continued release of carbon into the climate system.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sacrifice zone tipping point </a:t>
            </a:r>
            <a:r>
              <a:rPr lang="en-US" sz="2400" dirty="0"/>
              <a:t>is the temperature at which we can expect the zone to be irreversibly sacrificed.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list is </a:t>
            </a:r>
            <a:r>
              <a:rPr lang="en-US" sz="2400" b="1" dirty="0"/>
              <a:t>undoubtedly incomplete</a:t>
            </a:r>
            <a:r>
              <a:rPr lang="en-US" sz="2400" dirty="0"/>
              <a:t>, however, because we don’t understand the climate system well enough yet.</a:t>
            </a:r>
          </a:p>
        </p:txBody>
      </p:sp>
    </p:spTree>
    <p:extLst>
      <p:ext uri="{BB962C8B-B14F-4D97-AF65-F5344CB8AC3E}">
        <p14:creationId xmlns:p14="http://schemas.microsoft.com/office/powerpoint/2010/main" val="1805386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167</Words>
  <Application>Microsoft Macintosh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</cp:revision>
  <dcterms:created xsi:type="dcterms:W3CDTF">2024-11-10T19:06:42Z</dcterms:created>
  <dcterms:modified xsi:type="dcterms:W3CDTF">2025-11-03T04:32:30Z</dcterms:modified>
</cp:coreProperties>
</file>