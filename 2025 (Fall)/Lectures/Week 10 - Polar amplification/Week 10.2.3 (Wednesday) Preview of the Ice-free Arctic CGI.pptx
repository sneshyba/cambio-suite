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30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5976"/>
  </p:normalViewPr>
  <p:slideViewPr>
    <p:cSldViewPr snapToGrid="0">
      <p:cViewPr varScale="1">
        <p:scale>
          <a:sx n="112" d="100"/>
          <a:sy n="112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F7C97-44B6-E14E-BD1D-13641366890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64DC6-FA1C-184C-A158-EEC031D27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28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C778-2891-2608-8EDA-8BF065487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827F9-F85F-2170-F673-6D18F5974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312CB-A532-082C-C839-3FB97B35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40D41-0EF4-9E3C-0562-6253BE93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0CDA-A7A9-05E9-F4F0-650222C7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0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9A22-55B4-ED77-164D-638A504E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12870-8807-A601-A252-614E98035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E094D-3A71-6249-F990-FBE01A27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FEF0F-14BB-7C93-E5D9-6775CD05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F5A6E-4F4C-8ADE-7B45-95C51456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7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50FD7-0BAC-3B91-8EA1-BF0A7927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37983-F1B6-154B-15FA-56B3AEB04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FBFD-4027-944A-53B7-84ABF6A6D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62C9A-B0C3-6E06-7133-A4C7ACD6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CC9E8-308A-F09F-3C0A-1D21E79D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114B7-2FA9-D032-E926-6C2E07B1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B093D-7F9F-60E0-9B0C-7505F9A5F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FE40E-5D40-8C0E-B35C-C1C97C4BB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D414B-C109-0E78-75CA-7DDCB2C4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FB584-0BB3-7A98-5977-793DBB6B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69DE4-6209-974D-4AF3-142C68B9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94F6-E006-3256-1F85-D602C3A7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18BF-622A-937C-7C8C-DB9AB6193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58861-B03B-E476-EE36-DA7F5126F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EB6F6-6ACA-DCD2-9A1C-4344E6ECA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BC3B0-3EAD-9537-F86A-DA120BA85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1E27E-5B13-61C5-D748-C60FFC15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EEBDC-6458-6555-9918-D569FC9B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E7C1D2-FE17-564F-DAA8-06C0A520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1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DF56-C986-D1CE-F0E7-E7E9BD8F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5F331-88E0-C501-504E-026BF0F3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67729-D7A3-2ADF-F539-E9CD7D0A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04A69-24BF-C420-B1DE-EB893E0C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DD24D-7364-137C-EB0C-86A07857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4F895-E2A5-5A03-A9B6-BCEC9107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E0920-68E2-98CC-56D2-FDE3D475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E5FD-0E06-4454-894B-AA90B121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06A9C-06E0-1EA6-C99D-690599282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A5FD8-CA75-1846-B36F-116C0D3AB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14C74-01F2-B826-F6C6-C72C2F5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42132-ECA8-0439-B2BD-39003E113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0F92B-08AD-ED97-1E86-E340D2F1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426A-4439-E7B7-3F29-04E129FA4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DC5F7F-6782-3840-15D5-736D7C33F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5B400-DE22-6DFB-2BC4-A2D0A8877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B60E2-151C-D755-11E3-B599070D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8126C-7A06-6DCC-B2A9-20927EF9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0EAB1-2B63-1DC1-14F8-3BFE7531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8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37E4-E609-9790-460E-37E3450A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8C6F9-2FC4-0D9C-E587-5EDB1429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7D27D-6375-DB12-E4E9-5F29EFD0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A1B24-D25D-9142-682B-BC216A7D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BB23E-F008-B3E2-484F-326B232E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5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7C6B5-D1A7-25DB-AFF5-48FC5CA3B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4ADA4-8CA9-DA55-07A5-377BFE468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DFAFE-37B0-98A0-B80D-7BDF6D39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62EFA-C393-938B-B978-FD12659E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A470E-1FFB-42CD-BA4F-BCDC261B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5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F044A-CD4B-078F-8C2D-F7CA51D2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17038-43F0-77E5-00AA-ED64C094A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5092-A3CD-AA20-3BD2-B95525A7A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5E41A-D3FB-4A4E-9A80-E79E13A223F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4903B-FA63-946A-4C04-7D09A663A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DDEF7-DEF5-DB30-C684-DF66D74DA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0CB6D-2AED-AB41-B0DF-6BCE5850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6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99F264-3717-3C6A-0CF2-688331DE38BE}"/>
                  </a:ext>
                </a:extLst>
              </p:cNvPr>
              <p:cNvSpPr txBox="1"/>
              <p:nvPr/>
            </p:nvSpPr>
            <p:spPr>
              <a:xfrm>
                <a:off x="1310739" y="5036893"/>
                <a:ext cx="10557185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Key equations: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Mass of the Arctic Ocean’s photic layer: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𝒎𝒂𝒔𝒔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𝑨𝒓𝒆𝒂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𝑫𝒆𝒑𝒕𝒉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𝑫𝒆𝒏𝒔𝒊𝒕𝒚</m:t>
                    </m:r>
                  </m:oMath>
                </a14:m>
                <a:endParaRPr lang="en-US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Heat capacity of the ocean’s photic layer: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𝑪𝒔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𝒎𝒂𝒔𝒔</m:t>
                    </m:r>
                  </m:oMath>
                </a14:m>
                <a:endParaRPr lang="en-US" b="1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Solar insolation difference after Arctic sea ice is gone: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𝒊𝒄𝒆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𝒐𝒄𝒆𝒂𝒏</m:t>
                            </m:r>
                          </m:sub>
                        </m:sSub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𝑨𝒓𝒆𝒂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</m:oMath>
                </a14:m>
                <a:endParaRPr lang="en-US" b="1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Energy difference: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Temperature difference: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99F264-3717-3C6A-0CF2-688331DE3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739" y="5036893"/>
                <a:ext cx="10557185" cy="1754326"/>
              </a:xfrm>
              <a:prstGeom prst="rect">
                <a:avLst/>
              </a:prstGeom>
              <a:blipFill>
                <a:blip r:embed="rId2"/>
                <a:stretch>
                  <a:fillRect l="-481" t="-1439" b="-50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475A5F2-94F6-10D7-A974-F6BFF3FE9719}"/>
              </a:ext>
            </a:extLst>
          </p:cNvPr>
          <p:cNvGrpSpPr/>
          <p:nvPr/>
        </p:nvGrpSpPr>
        <p:grpSpPr>
          <a:xfrm>
            <a:off x="8494380" y="3193823"/>
            <a:ext cx="2785904" cy="983088"/>
            <a:chOff x="8927292" y="616204"/>
            <a:chExt cx="2785904" cy="983088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04DAA9-5679-BB09-A7C1-6DD032AE895F}"/>
                </a:ext>
              </a:extLst>
            </p:cNvPr>
            <p:cNvSpPr/>
            <p:nvPr/>
          </p:nvSpPr>
          <p:spPr>
            <a:xfrm>
              <a:off x="8949228" y="616204"/>
              <a:ext cx="2763968" cy="983088"/>
            </a:xfrm>
            <a:prstGeom prst="rect">
              <a:avLst/>
            </a:prstGeom>
            <a:solidFill>
              <a:schemeClr val="accent1">
                <a:alpha val="4503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A0E10AA-072F-7E12-5E39-5FCAC859E849}"/>
                    </a:ext>
                  </a:extLst>
                </p:cNvPr>
                <p:cNvSpPr txBox="1"/>
                <p:nvPr/>
              </p:nvSpPr>
              <p:spPr>
                <a:xfrm>
                  <a:off x="8927292" y="644966"/>
                  <a:ext cx="2763968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b="0" dirty="0"/>
                    <a:t>Seawater has a known </a:t>
                  </a:r>
                  <a14:m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𝑫𝒆𝒏𝒔𝒊𝒕𝒚</m:t>
                      </m:r>
                    </m:oMath>
                  </a14:m>
                  <a:r>
                    <a:rPr lang="en-US" b="0" dirty="0"/>
                    <a:t> and</a:t>
                  </a:r>
                </a:p>
                <a:p>
                  <a:pPr algn="ctr"/>
                  <a:r>
                    <a:rPr lang="en-US" i="1" dirty="0"/>
                    <a:t>specific heat capacity 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A0E10AA-072F-7E12-5E39-5FCAC859E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7292" y="644966"/>
                  <a:ext cx="2763968" cy="923330"/>
                </a:xfrm>
                <a:prstGeom prst="rect">
                  <a:avLst/>
                </a:prstGeom>
                <a:blipFill>
                  <a:blip r:embed="rId3"/>
                  <a:stretch>
                    <a:fillRect t="-2703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D658D1B-4BD1-467B-43C3-D8B02BB09364}"/>
              </a:ext>
            </a:extLst>
          </p:cNvPr>
          <p:cNvGrpSpPr/>
          <p:nvPr/>
        </p:nvGrpSpPr>
        <p:grpSpPr>
          <a:xfrm>
            <a:off x="642134" y="88232"/>
            <a:ext cx="9179942" cy="10116709"/>
            <a:chOff x="642134" y="88232"/>
            <a:chExt cx="9179942" cy="1011670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FA98AF1-6745-A1D0-813A-13A2DFC1CD74}"/>
                </a:ext>
              </a:extLst>
            </p:cNvPr>
            <p:cNvGrpSpPr/>
            <p:nvPr/>
          </p:nvGrpSpPr>
          <p:grpSpPr>
            <a:xfrm>
              <a:off x="642134" y="88232"/>
              <a:ext cx="9179942" cy="10116709"/>
              <a:chOff x="2294474" y="49043"/>
              <a:chExt cx="9179942" cy="10116709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B61FD46-3DF9-2150-9F21-692078140865}"/>
                  </a:ext>
                </a:extLst>
              </p:cNvPr>
              <p:cNvGrpSpPr/>
              <p:nvPr/>
            </p:nvGrpSpPr>
            <p:grpSpPr>
              <a:xfrm>
                <a:off x="2294474" y="49043"/>
                <a:ext cx="9179942" cy="10116709"/>
                <a:chOff x="431028" y="317035"/>
                <a:chExt cx="9179942" cy="10116709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506EF047-1B57-87F0-B326-2F6AB01D3F35}"/>
                    </a:ext>
                  </a:extLst>
                </p:cNvPr>
                <p:cNvGrpSpPr/>
                <p:nvPr/>
              </p:nvGrpSpPr>
              <p:grpSpPr>
                <a:xfrm>
                  <a:off x="431028" y="317035"/>
                  <a:ext cx="9179942" cy="10116709"/>
                  <a:chOff x="1975369" y="320937"/>
                  <a:chExt cx="9179942" cy="10116709"/>
                </a:xfrm>
              </p:grpSpPr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DAB512C0-6843-93D1-8EE1-CF02CAF476E7}"/>
                      </a:ext>
                    </a:extLst>
                  </p:cNvPr>
                  <p:cNvGrpSpPr/>
                  <p:nvPr/>
                </p:nvGrpSpPr>
                <p:grpSpPr>
                  <a:xfrm>
                    <a:off x="1975369" y="1575338"/>
                    <a:ext cx="9179942" cy="8862308"/>
                    <a:chOff x="1975369" y="-178123"/>
                    <a:chExt cx="9179942" cy="8862308"/>
                  </a:xfrm>
                </p:grpSpPr>
                <p:cxnSp>
                  <p:nvCxnSpPr>
                    <p:cNvPr id="58" name="Straight Arrow Connector 57">
                      <a:extLst>
                        <a:ext uri="{FF2B5EF4-FFF2-40B4-BE49-F238E27FC236}">
                          <a16:creationId xmlns:a16="http://schemas.microsoft.com/office/drawing/2014/main" id="{29786F77-6173-E5CF-C69E-3FEC4BCECC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460296" y="1027095"/>
                      <a:ext cx="182004" cy="38776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0" name="Freeform 59">
                      <a:extLst>
                        <a:ext uri="{FF2B5EF4-FFF2-40B4-BE49-F238E27FC236}">
                          <a16:creationId xmlns:a16="http://schemas.microsoft.com/office/drawing/2014/main" id="{DE6E3EDF-0436-3A4E-98FD-E5BA3A1C7948}"/>
                        </a:ext>
                      </a:extLst>
                    </p:cNvPr>
                    <p:cNvSpPr/>
                    <p:nvPr/>
                  </p:nvSpPr>
                  <p:spPr>
                    <a:xfrm rot="20728458">
                      <a:off x="3253298" y="216982"/>
                      <a:ext cx="988756" cy="477026"/>
                    </a:xfrm>
                    <a:custGeom>
                      <a:avLst/>
                      <a:gdLst>
                        <a:gd name="connsiteX0" fmla="*/ 132598 w 988756"/>
                        <a:gd name="connsiteY0" fmla="*/ 406400 h 723900"/>
                        <a:gd name="connsiteX1" fmla="*/ 43698 w 988756"/>
                        <a:gd name="connsiteY1" fmla="*/ 419100 h 723900"/>
                        <a:gd name="connsiteX2" fmla="*/ 18298 w 988756"/>
                        <a:gd name="connsiteY2" fmla="*/ 266700 h 723900"/>
                        <a:gd name="connsiteX3" fmla="*/ 30998 w 988756"/>
                        <a:gd name="connsiteY3" fmla="*/ 228600 h 723900"/>
                        <a:gd name="connsiteX4" fmla="*/ 145298 w 988756"/>
                        <a:gd name="connsiteY4" fmla="*/ 165100 h 723900"/>
                        <a:gd name="connsiteX5" fmla="*/ 157998 w 988756"/>
                        <a:gd name="connsiteY5" fmla="*/ 76200 h 723900"/>
                        <a:gd name="connsiteX6" fmla="*/ 221498 w 988756"/>
                        <a:gd name="connsiteY6" fmla="*/ 12700 h 723900"/>
                        <a:gd name="connsiteX7" fmla="*/ 259598 w 988756"/>
                        <a:gd name="connsiteY7" fmla="*/ 0 h 723900"/>
                        <a:gd name="connsiteX8" fmla="*/ 348498 w 988756"/>
                        <a:gd name="connsiteY8" fmla="*/ 25400 h 723900"/>
                        <a:gd name="connsiteX9" fmla="*/ 437398 w 988756"/>
                        <a:gd name="connsiteY9" fmla="*/ 63500 h 723900"/>
                        <a:gd name="connsiteX10" fmla="*/ 513598 w 988756"/>
                        <a:gd name="connsiteY10" fmla="*/ 38100 h 723900"/>
                        <a:gd name="connsiteX11" fmla="*/ 551698 w 988756"/>
                        <a:gd name="connsiteY11" fmla="*/ 25400 h 723900"/>
                        <a:gd name="connsiteX12" fmla="*/ 615198 w 988756"/>
                        <a:gd name="connsiteY12" fmla="*/ 12700 h 723900"/>
                        <a:gd name="connsiteX13" fmla="*/ 691398 w 988756"/>
                        <a:gd name="connsiteY13" fmla="*/ 25400 h 723900"/>
                        <a:gd name="connsiteX14" fmla="*/ 742198 w 988756"/>
                        <a:gd name="connsiteY14" fmla="*/ 88900 h 723900"/>
                        <a:gd name="connsiteX15" fmla="*/ 767598 w 988756"/>
                        <a:gd name="connsiteY15" fmla="*/ 127000 h 723900"/>
                        <a:gd name="connsiteX16" fmla="*/ 780298 w 988756"/>
                        <a:gd name="connsiteY16" fmla="*/ 254000 h 723900"/>
                        <a:gd name="connsiteX17" fmla="*/ 881898 w 988756"/>
                        <a:gd name="connsiteY17" fmla="*/ 279400 h 723900"/>
                        <a:gd name="connsiteX18" fmla="*/ 919998 w 988756"/>
                        <a:gd name="connsiteY18" fmla="*/ 292100 h 723900"/>
                        <a:gd name="connsiteX19" fmla="*/ 932698 w 988756"/>
                        <a:gd name="connsiteY19" fmla="*/ 330200 h 723900"/>
                        <a:gd name="connsiteX20" fmla="*/ 932698 w 988756"/>
                        <a:gd name="connsiteY20" fmla="*/ 482600 h 723900"/>
                        <a:gd name="connsiteX21" fmla="*/ 970798 w 988756"/>
                        <a:gd name="connsiteY21" fmla="*/ 520700 h 723900"/>
                        <a:gd name="connsiteX22" fmla="*/ 970798 w 988756"/>
                        <a:gd name="connsiteY22" fmla="*/ 647700 h 723900"/>
                        <a:gd name="connsiteX23" fmla="*/ 894598 w 988756"/>
                        <a:gd name="connsiteY23" fmla="*/ 698500 h 723900"/>
                        <a:gd name="connsiteX24" fmla="*/ 856498 w 988756"/>
                        <a:gd name="connsiteY24" fmla="*/ 723900 h 723900"/>
                        <a:gd name="connsiteX25" fmla="*/ 818398 w 988756"/>
                        <a:gd name="connsiteY25" fmla="*/ 711200 h 723900"/>
                        <a:gd name="connsiteX26" fmla="*/ 792998 w 988756"/>
                        <a:gd name="connsiteY26" fmla="*/ 673100 h 723900"/>
                        <a:gd name="connsiteX27" fmla="*/ 754898 w 988756"/>
                        <a:gd name="connsiteY27" fmla="*/ 647700 h 723900"/>
                        <a:gd name="connsiteX28" fmla="*/ 450098 w 988756"/>
                        <a:gd name="connsiteY28" fmla="*/ 647700 h 723900"/>
                        <a:gd name="connsiteX29" fmla="*/ 424698 w 988756"/>
                        <a:gd name="connsiteY29" fmla="*/ 609600 h 723900"/>
                        <a:gd name="connsiteX30" fmla="*/ 386598 w 988756"/>
                        <a:gd name="connsiteY30" fmla="*/ 596900 h 723900"/>
                        <a:gd name="connsiteX31" fmla="*/ 272298 w 988756"/>
                        <a:gd name="connsiteY31" fmla="*/ 596900 h 723900"/>
                        <a:gd name="connsiteX32" fmla="*/ 259598 w 988756"/>
                        <a:gd name="connsiteY32" fmla="*/ 558800 h 723900"/>
                        <a:gd name="connsiteX33" fmla="*/ 119898 w 988756"/>
                        <a:gd name="connsiteY33" fmla="*/ 520700 h 723900"/>
                        <a:gd name="connsiteX34" fmla="*/ 81798 w 988756"/>
                        <a:gd name="connsiteY34" fmla="*/ 431800 h 7239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988756" h="723900">
                          <a:moveTo>
                            <a:pt x="132598" y="406400"/>
                          </a:moveTo>
                          <a:cubicBezTo>
                            <a:pt x="102965" y="410633"/>
                            <a:pt x="73484" y="422079"/>
                            <a:pt x="43698" y="419100"/>
                          </a:cubicBezTo>
                          <a:cubicBezTo>
                            <a:pt x="-33406" y="411390"/>
                            <a:pt x="14129" y="293802"/>
                            <a:pt x="18298" y="266700"/>
                          </a:cubicBezTo>
                          <a:cubicBezTo>
                            <a:pt x="20334" y="253469"/>
                            <a:pt x="21532" y="238066"/>
                            <a:pt x="30998" y="228600"/>
                          </a:cubicBezTo>
                          <a:cubicBezTo>
                            <a:pt x="74667" y="184931"/>
                            <a:pt x="97388" y="181070"/>
                            <a:pt x="145298" y="165100"/>
                          </a:cubicBezTo>
                          <a:cubicBezTo>
                            <a:pt x="149531" y="135467"/>
                            <a:pt x="149396" y="104872"/>
                            <a:pt x="157998" y="76200"/>
                          </a:cubicBezTo>
                          <a:cubicBezTo>
                            <a:pt x="166963" y="46318"/>
                            <a:pt x="195600" y="25649"/>
                            <a:pt x="221498" y="12700"/>
                          </a:cubicBezTo>
                          <a:cubicBezTo>
                            <a:pt x="233472" y="6713"/>
                            <a:pt x="246898" y="4233"/>
                            <a:pt x="259598" y="0"/>
                          </a:cubicBezTo>
                          <a:cubicBezTo>
                            <a:pt x="275874" y="4069"/>
                            <a:pt x="330278" y="16290"/>
                            <a:pt x="348498" y="25400"/>
                          </a:cubicBezTo>
                          <a:cubicBezTo>
                            <a:pt x="436203" y="69253"/>
                            <a:pt x="331672" y="37069"/>
                            <a:pt x="437398" y="63500"/>
                          </a:cubicBezTo>
                          <a:lnTo>
                            <a:pt x="513598" y="38100"/>
                          </a:lnTo>
                          <a:cubicBezTo>
                            <a:pt x="526298" y="33867"/>
                            <a:pt x="538571" y="28025"/>
                            <a:pt x="551698" y="25400"/>
                          </a:cubicBezTo>
                          <a:lnTo>
                            <a:pt x="615198" y="12700"/>
                          </a:lnTo>
                          <a:cubicBezTo>
                            <a:pt x="640598" y="16933"/>
                            <a:pt x="666969" y="17257"/>
                            <a:pt x="691398" y="25400"/>
                          </a:cubicBezTo>
                          <a:cubicBezTo>
                            <a:pt x="742779" y="42527"/>
                            <a:pt x="722792" y="50088"/>
                            <a:pt x="742198" y="88900"/>
                          </a:cubicBezTo>
                          <a:cubicBezTo>
                            <a:pt x="749024" y="102552"/>
                            <a:pt x="759131" y="114300"/>
                            <a:pt x="767598" y="127000"/>
                          </a:cubicBezTo>
                          <a:cubicBezTo>
                            <a:pt x="771831" y="169333"/>
                            <a:pt x="754771" y="219964"/>
                            <a:pt x="780298" y="254000"/>
                          </a:cubicBezTo>
                          <a:cubicBezTo>
                            <a:pt x="801243" y="281927"/>
                            <a:pt x="848780" y="268361"/>
                            <a:pt x="881898" y="279400"/>
                          </a:cubicBezTo>
                          <a:lnTo>
                            <a:pt x="919998" y="292100"/>
                          </a:lnTo>
                          <a:cubicBezTo>
                            <a:pt x="924231" y="304800"/>
                            <a:pt x="932698" y="316813"/>
                            <a:pt x="932698" y="330200"/>
                          </a:cubicBezTo>
                          <a:cubicBezTo>
                            <a:pt x="932698" y="372452"/>
                            <a:pt x="902924" y="437939"/>
                            <a:pt x="932698" y="482600"/>
                          </a:cubicBezTo>
                          <a:cubicBezTo>
                            <a:pt x="942661" y="497544"/>
                            <a:pt x="958098" y="508000"/>
                            <a:pt x="970798" y="520700"/>
                          </a:cubicBezTo>
                          <a:cubicBezTo>
                            <a:pt x="985214" y="563948"/>
                            <a:pt x="1002721" y="597536"/>
                            <a:pt x="970798" y="647700"/>
                          </a:cubicBezTo>
                          <a:cubicBezTo>
                            <a:pt x="954409" y="673454"/>
                            <a:pt x="919998" y="681567"/>
                            <a:pt x="894598" y="698500"/>
                          </a:cubicBezTo>
                          <a:lnTo>
                            <a:pt x="856498" y="723900"/>
                          </a:lnTo>
                          <a:cubicBezTo>
                            <a:pt x="843798" y="719667"/>
                            <a:pt x="828851" y="719563"/>
                            <a:pt x="818398" y="711200"/>
                          </a:cubicBezTo>
                          <a:cubicBezTo>
                            <a:pt x="806479" y="701665"/>
                            <a:pt x="803791" y="683893"/>
                            <a:pt x="792998" y="673100"/>
                          </a:cubicBezTo>
                          <a:cubicBezTo>
                            <a:pt x="782205" y="662307"/>
                            <a:pt x="767598" y="656167"/>
                            <a:pt x="754898" y="647700"/>
                          </a:cubicBezTo>
                          <a:cubicBezTo>
                            <a:pt x="637222" y="667313"/>
                            <a:pt x="604226" y="678526"/>
                            <a:pt x="450098" y="647700"/>
                          </a:cubicBezTo>
                          <a:cubicBezTo>
                            <a:pt x="435131" y="644707"/>
                            <a:pt x="436617" y="619135"/>
                            <a:pt x="424698" y="609600"/>
                          </a:cubicBezTo>
                          <a:cubicBezTo>
                            <a:pt x="414245" y="601237"/>
                            <a:pt x="399298" y="601133"/>
                            <a:pt x="386598" y="596900"/>
                          </a:cubicBezTo>
                          <a:cubicBezTo>
                            <a:pt x="295918" y="627127"/>
                            <a:pt x="332675" y="637152"/>
                            <a:pt x="272298" y="596900"/>
                          </a:cubicBezTo>
                          <a:cubicBezTo>
                            <a:pt x="268065" y="584200"/>
                            <a:pt x="267961" y="569253"/>
                            <a:pt x="259598" y="558800"/>
                          </a:cubicBezTo>
                          <a:cubicBezTo>
                            <a:pt x="227580" y="518778"/>
                            <a:pt x="159543" y="525656"/>
                            <a:pt x="119898" y="520700"/>
                          </a:cubicBezTo>
                          <a:cubicBezTo>
                            <a:pt x="64186" y="483559"/>
                            <a:pt x="81798" y="510564"/>
                            <a:pt x="81798" y="431800"/>
                          </a:cubicBezTo>
                        </a:path>
                      </a:pathLst>
                    </a:custGeom>
                    <a:solidFill>
                      <a:schemeClr val="bg2">
                        <a:alpha val="68679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937ACD00-BA19-678C-A3F5-E02C2AD052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75369" y="-178123"/>
                      <a:ext cx="9179942" cy="8862308"/>
                      <a:chOff x="908569" y="944460"/>
                      <a:chExt cx="9179942" cy="8862308"/>
                    </a:xfrm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9615FC8A-EE23-0E52-4CA1-B25BF549840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08569" y="1730678"/>
                        <a:ext cx="9179942" cy="8076090"/>
                        <a:chOff x="-50800" y="666378"/>
                        <a:chExt cx="9179942" cy="8076090"/>
                      </a:xfrm>
                    </p:grpSpPr>
                    <p:grpSp>
                      <p:nvGrpSpPr>
                        <p:cNvPr id="6" name="Group 5">
                          <a:extLst>
                            <a:ext uri="{FF2B5EF4-FFF2-40B4-BE49-F238E27FC236}">
                              <a16:creationId xmlns:a16="http://schemas.microsoft.com/office/drawing/2014/main" id="{F638B816-AD1F-8F6F-BB05-CAF2FBCAA79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50800" y="1310862"/>
                          <a:ext cx="7986110" cy="7431606"/>
                          <a:chOff x="2373084" y="1320800"/>
                          <a:chExt cx="7986110" cy="7431606"/>
                        </a:xfrm>
                      </p:grpSpPr>
                      <p:sp>
                        <p:nvSpPr>
                          <p:cNvPr id="4" name="Arc 3">
                            <a:extLst>
                              <a:ext uri="{FF2B5EF4-FFF2-40B4-BE49-F238E27FC236}">
                                <a16:creationId xmlns:a16="http://schemas.microsoft.com/office/drawing/2014/main" id="{9071BB5D-FCAA-14B5-87C1-0FFBB4CC18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697335" y="1629084"/>
                            <a:ext cx="7351776" cy="6778752"/>
                          </a:xfrm>
                          <a:prstGeom prst="arc">
                            <a:avLst>
                              <a:gd name="adj1" fmla="val 12428108"/>
                              <a:gd name="adj2" fmla="val 19898702"/>
                            </a:avLst>
                          </a:prstGeom>
                          <a:ln w="508000">
                            <a:solidFill>
                              <a:schemeClr val="accent1">
                                <a:alpha val="51000"/>
                              </a:schemeClr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5" name="Arc 4">
                            <a:extLst>
                              <a:ext uri="{FF2B5EF4-FFF2-40B4-BE49-F238E27FC236}">
                                <a16:creationId xmlns:a16="http://schemas.microsoft.com/office/drawing/2014/main" id="{E78F4991-E47A-D094-B6FD-1F73FA0DC0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73084" y="1320800"/>
                            <a:ext cx="7986110" cy="7431606"/>
                          </a:xfrm>
                          <a:prstGeom prst="arc">
                            <a:avLst>
                              <a:gd name="adj1" fmla="val 12826972"/>
                              <a:gd name="adj2" fmla="val 19574346"/>
                            </a:avLst>
                          </a:prstGeom>
                          <a:ln w="127000">
                            <a:solidFill>
                              <a:schemeClr val="bg1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p:grpSp>
                      <p:nvGrpSpPr>
                        <p:cNvPr id="13" name="Group 12">
                          <a:extLst>
                            <a:ext uri="{FF2B5EF4-FFF2-40B4-BE49-F238E27FC236}">
                              <a16:creationId xmlns:a16="http://schemas.microsoft.com/office/drawing/2014/main" id="{36F61A05-1F11-D34E-B0BC-DEB960E2FC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41667" y="2188024"/>
                          <a:ext cx="2430428" cy="914332"/>
                          <a:chOff x="1078301" y="1636148"/>
                          <a:chExt cx="2430428" cy="914332"/>
                        </a:xfrm>
                      </p:grpSpPr>
                      <p:cxnSp>
                        <p:nvCxnSpPr>
                          <p:cNvPr id="9" name="Straight Arrow Connector 8">
                            <a:extLst>
                              <a:ext uri="{FF2B5EF4-FFF2-40B4-BE49-F238E27FC236}">
                                <a16:creationId xmlns:a16="http://schemas.microsoft.com/office/drawing/2014/main" id="{276BF7DC-84E4-F06D-5430-E96A0373CD8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620410" y="1636148"/>
                            <a:ext cx="285626" cy="341333"/>
                          </a:xfrm>
                          <a:prstGeom prst="straightConnector1">
                            <a:avLst/>
                          </a:prstGeom>
                          <a:ln w="38100">
                            <a:solidFill>
                              <a:schemeClr val="tx1"/>
                            </a:solidFill>
                            <a:headEnd type="triangle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2" name="TextBox 11">
                                <a:extLst>
                                  <a:ext uri="{FF2B5EF4-FFF2-40B4-BE49-F238E27FC236}">
                                    <a16:creationId xmlns:a16="http://schemas.microsoft.com/office/drawing/2014/main" id="{781B8FFB-3D16-C770-2C5D-4A99E37A2726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78301" y="1904149"/>
                                <a:ext cx="2430428" cy="646331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ctr"/>
                                <a14:m>
                                  <m:oMath xmlns:m="http://schemas.openxmlformats.org/officeDocument/2006/math"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𝑫𝒆𝒑𝒕𝒉</m:t>
                                    </m:r>
                                  </m:oMath>
                                </a14:m>
                                <a:r>
                                  <a:rPr lang="en-US" b="1" i="1" dirty="0"/>
                                  <a:t> </a:t>
                                </a:r>
                              </a:p>
                              <a:p>
                                <a:pPr algn="ctr"/>
                                <a:r>
                                  <a:rPr lang="en-US" i="1" dirty="0"/>
                                  <a:t>(of photic layer)</a:t>
                                </a: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2" name="TextBox 11">
                                <a:extLst>
                                  <a:ext uri="{FF2B5EF4-FFF2-40B4-BE49-F238E27FC236}">
                                    <a16:creationId xmlns:a16="http://schemas.microsoft.com/office/drawing/2014/main" id="{781B8FFB-3D16-C770-2C5D-4A99E37A2726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1078301" y="1904149"/>
                                <a:ext cx="2430428" cy="646331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4"/>
                                <a:stretch>
                                  <a:fillRect b="-13462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8" name="TextBox 17">
                              <a:extLst>
                                <a:ext uri="{FF2B5EF4-FFF2-40B4-BE49-F238E27FC236}">
                                  <a16:creationId xmlns:a16="http://schemas.microsoft.com/office/drawing/2014/main" id="{83330397-08EC-5CC4-91AA-0BBD5FB8F84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912567" y="666378"/>
                              <a:ext cx="4216575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ctr"/>
                              <a14:m>
                                <m:oMath xmlns:m="http://schemas.openxmlformats.org/officeDocument/2006/math"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𝑨𝒓𝒆𝒂</m:t>
                                  </m:r>
                                </m:oMath>
                              </a14:m>
                              <a:r>
                                <a:rPr lang="en-US" i="1" dirty="0"/>
                                <a:t> (of ice-covered Arctic Ocean)</a:t>
                              </a: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8" name="TextBox 17">
                              <a:extLst>
                                <a:ext uri="{FF2B5EF4-FFF2-40B4-BE49-F238E27FC236}">
                                  <a16:creationId xmlns:a16="http://schemas.microsoft.com/office/drawing/2014/main" id="{83330397-08EC-5CC4-91AA-0BBD5FB8F846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4912567" y="666378"/>
                              <a:ext cx="4216575" cy="369332"/>
                            </a:xfrm>
                            <a:prstGeom prst="rect">
                              <a:avLst/>
                            </a:prstGeom>
                            <a:blipFill>
                              <a:blip r:embed="rId5"/>
                              <a:stretch>
                                <a:fillRect t="-6667" b="-26667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cxnSp>
                    <p:nvCxnSpPr>
                      <p:cNvPr id="22" name="Straight Arrow Connector 21">
                        <a:extLst>
                          <a:ext uri="{FF2B5EF4-FFF2-40B4-BE49-F238E27FC236}">
                            <a16:creationId xmlns:a16="http://schemas.microsoft.com/office/drawing/2014/main" id="{0758B099-FDB7-9526-D0E5-46FB1DCC9C5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919819" y="1783697"/>
                        <a:ext cx="625486" cy="757273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7" name="TextBox 26">
                            <a:extLst>
                              <a:ext uri="{FF2B5EF4-FFF2-40B4-BE49-F238E27FC236}">
                                <a16:creationId xmlns:a16="http://schemas.microsoft.com/office/drawing/2014/main" id="{393014AC-7756-B1AD-BD87-0910CF0C76F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938764" y="2537445"/>
                            <a:ext cx="1070749" cy="64633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oMath>
                            </a14:m>
                            <a:r>
                              <a:rPr lang="en-US" i="1" dirty="0"/>
                              <a:t>,</a:t>
                            </a:r>
                            <a:r>
                              <a:rPr lang="en-US" b="1" i="1" dirty="0"/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a14:m>
                            <a:endParaRPr lang="en-US" b="1" i="1" dirty="0"/>
                          </a:p>
                          <a:p>
                            <a:endParaRPr lang="en-US" b="1" i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" name="TextBox 26">
                            <a:extLst>
                              <a:ext uri="{FF2B5EF4-FFF2-40B4-BE49-F238E27FC236}">
                                <a16:creationId xmlns:a16="http://schemas.microsoft.com/office/drawing/2014/main" id="{393014AC-7756-B1AD-BD87-0910CF0C76FE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938764" y="2537445"/>
                            <a:ext cx="1070749" cy="646331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 t="-5769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0" name="TextBox 29">
                            <a:extLst>
                              <a:ext uri="{FF2B5EF4-FFF2-40B4-BE49-F238E27FC236}">
                                <a16:creationId xmlns:a16="http://schemas.microsoft.com/office/drawing/2014/main" id="{9C7B0B49-9BF5-9303-71DE-649209C9EFD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016616" y="944460"/>
                            <a:ext cx="354804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oMath>
                              </m:oMathPara>
                            </a14:m>
                            <a:endParaRPr lang="en-US" b="1" i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0" name="TextBox 29">
                            <a:extLst>
                              <a:ext uri="{FF2B5EF4-FFF2-40B4-BE49-F238E27FC236}">
                                <a16:creationId xmlns:a16="http://schemas.microsoft.com/office/drawing/2014/main" id="{9C7B0B49-9BF5-9303-71DE-649209C9EFD6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016616" y="944460"/>
                            <a:ext cx="354804" cy="369332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33" name="Straight Arrow Connector 32">
                        <a:extLst>
                          <a:ext uri="{FF2B5EF4-FFF2-40B4-BE49-F238E27FC236}">
                            <a16:creationId xmlns:a16="http://schemas.microsoft.com/office/drawing/2014/main" id="{398870A2-F4B6-B6A0-29F6-689F9AEE3EF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661601" y="2635761"/>
                        <a:ext cx="100944" cy="232351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prstDash val="soli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8" name="TextBox 37">
                            <a:extLst>
                              <a:ext uri="{FF2B5EF4-FFF2-40B4-BE49-F238E27FC236}">
                                <a16:creationId xmlns:a16="http://schemas.microsoft.com/office/drawing/2014/main" id="{A695F82D-FE27-415F-4ED0-8D23F8BACC3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229275" y="1868678"/>
                            <a:ext cx="534697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oMath>
                            </a14:m>
                            <a:r>
                              <a:rPr lang="en-US" b="1" i="1" baseline="-25000" dirty="0"/>
                              <a:t>ice</a:t>
                            </a: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8" name="TextBox 37">
                            <a:extLst>
                              <a:ext uri="{FF2B5EF4-FFF2-40B4-BE49-F238E27FC236}">
                                <a16:creationId xmlns:a16="http://schemas.microsoft.com/office/drawing/2014/main" id="{A695F82D-FE27-415F-4ED0-8D23F8BACC31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229275" y="1868678"/>
                            <a:ext cx="534697" cy="369332"/>
                          </a:xfrm>
                          <a:prstGeom prst="rect">
                            <a:avLst/>
                          </a:prstGeom>
                          <a:blipFill>
                            <a:blip r:embed="rId8"/>
                            <a:stretch>
                              <a:fillRect b="-16667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40" name="Group 39">
                        <a:extLst>
                          <a:ext uri="{FF2B5EF4-FFF2-40B4-BE49-F238E27FC236}">
                            <a16:creationId xmlns:a16="http://schemas.microsoft.com/office/drawing/2014/main" id="{84E15B80-36DA-83BC-EFC9-204A7BC11CA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49748" y="1775108"/>
                        <a:ext cx="846389" cy="654045"/>
                        <a:chOff x="3321217" y="1859044"/>
                        <a:chExt cx="846389" cy="654045"/>
                      </a:xfrm>
                    </p:grpSpPr>
                    <p:cxnSp>
                      <p:nvCxnSpPr>
                        <p:cNvPr id="41" name="Straight Arrow Connector 40">
                          <a:extLst>
                            <a:ext uri="{FF2B5EF4-FFF2-40B4-BE49-F238E27FC236}">
                              <a16:creationId xmlns:a16="http://schemas.microsoft.com/office/drawing/2014/main" id="{5777022B-8C04-2499-38A1-771145277F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512354" y="2196559"/>
                          <a:ext cx="155876" cy="316530"/>
                        </a:xfrm>
                        <a:prstGeom prst="straightConnector1">
                          <a:avLst/>
                        </a:prstGeom>
                        <a:ln w="3810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E361564C-4177-144E-B9EA-32B99F518EE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321217" y="1859044"/>
                              <a:ext cx="846389" cy="36298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14:m>
                                <m:oMath xmlns:m="http://schemas.openxmlformats.org/officeDocument/2006/math"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</m:oMath>
                              </a14:m>
                              <a:r>
                                <a:rPr lang="en-US" b="1" i="1" baseline="-25000" dirty="0"/>
                                <a:t>ocean</a:t>
                              </a: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E361564C-4177-144E-B9EA-32B99F518EE4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21217" y="1859044"/>
                              <a:ext cx="846389" cy="362984"/>
                            </a:xfrm>
                            <a:prstGeom prst="rect">
                              <a:avLst/>
                            </a:prstGeom>
                            <a:blipFill>
                              <a:blip r:embed="rId9"/>
                              <a:stretch>
                                <a:fillRect b="-17241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cxnSp>
                    <p:nvCxnSpPr>
                      <p:cNvPr id="47" name="Straight Arrow Connector 46">
                        <a:extLst>
                          <a:ext uri="{FF2B5EF4-FFF2-40B4-BE49-F238E27FC236}">
                            <a16:creationId xmlns:a16="http://schemas.microsoft.com/office/drawing/2014/main" id="{08AA25C1-9DE4-F806-9121-7FDED5F1E84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561064" y="1648909"/>
                        <a:ext cx="347644" cy="780244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Straight Arrow Connector 50">
                        <a:extLst>
                          <a:ext uri="{FF2B5EF4-FFF2-40B4-BE49-F238E27FC236}">
                            <a16:creationId xmlns:a16="http://schemas.microsoft.com/office/drawing/2014/main" id="{92A1E4E2-FD1A-0E4D-201A-2EBD3F90906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40885" y="2491840"/>
                        <a:ext cx="0" cy="404525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prstDash val="soli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Straight Arrow Connector 53">
                        <a:extLst>
                          <a:ext uri="{FF2B5EF4-FFF2-40B4-BE49-F238E27FC236}">
                            <a16:creationId xmlns:a16="http://schemas.microsoft.com/office/drawing/2014/main" id="{1BF761A5-CD72-93C6-C207-65113913EC5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599874" y="1833575"/>
                        <a:ext cx="142667" cy="677616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71" name="Straight Arrow Connector 70">
                    <a:extLst>
                      <a:ext uri="{FF2B5EF4-FFF2-40B4-BE49-F238E27FC236}">
                        <a16:creationId xmlns:a16="http://schemas.microsoft.com/office/drawing/2014/main" id="{1E095D09-E06A-4FCA-5E1F-C6DE9193EE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9620" y="320937"/>
                    <a:ext cx="1452994" cy="1787758"/>
                  </a:xfrm>
                  <a:prstGeom prst="straightConnector1">
                    <a:avLst/>
                  </a:prstGeom>
                  <a:ln w="381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Arrow Connector 71">
                    <a:extLst>
                      <a:ext uri="{FF2B5EF4-FFF2-40B4-BE49-F238E27FC236}">
                        <a16:creationId xmlns:a16="http://schemas.microsoft.com/office/drawing/2014/main" id="{1ED4160F-0D6D-716B-8759-819D89E592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55576" y="438603"/>
                    <a:ext cx="556360" cy="1625244"/>
                  </a:xfrm>
                  <a:prstGeom prst="straightConnector1">
                    <a:avLst/>
                  </a:prstGeom>
                  <a:ln w="381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4389EE09-1946-2BAF-7FA2-FBA02C36A741}"/>
                    </a:ext>
                  </a:extLst>
                </p:cNvPr>
                <p:cNvSpPr/>
                <p:nvPr/>
              </p:nvSpPr>
              <p:spPr>
                <a:xfrm rot="21096786">
                  <a:off x="3466081" y="1796418"/>
                  <a:ext cx="988756" cy="477026"/>
                </a:xfrm>
                <a:custGeom>
                  <a:avLst/>
                  <a:gdLst>
                    <a:gd name="connsiteX0" fmla="*/ 132598 w 988756"/>
                    <a:gd name="connsiteY0" fmla="*/ 406400 h 723900"/>
                    <a:gd name="connsiteX1" fmla="*/ 43698 w 988756"/>
                    <a:gd name="connsiteY1" fmla="*/ 419100 h 723900"/>
                    <a:gd name="connsiteX2" fmla="*/ 18298 w 988756"/>
                    <a:gd name="connsiteY2" fmla="*/ 266700 h 723900"/>
                    <a:gd name="connsiteX3" fmla="*/ 30998 w 988756"/>
                    <a:gd name="connsiteY3" fmla="*/ 228600 h 723900"/>
                    <a:gd name="connsiteX4" fmla="*/ 145298 w 988756"/>
                    <a:gd name="connsiteY4" fmla="*/ 165100 h 723900"/>
                    <a:gd name="connsiteX5" fmla="*/ 157998 w 988756"/>
                    <a:gd name="connsiteY5" fmla="*/ 76200 h 723900"/>
                    <a:gd name="connsiteX6" fmla="*/ 221498 w 988756"/>
                    <a:gd name="connsiteY6" fmla="*/ 12700 h 723900"/>
                    <a:gd name="connsiteX7" fmla="*/ 259598 w 988756"/>
                    <a:gd name="connsiteY7" fmla="*/ 0 h 723900"/>
                    <a:gd name="connsiteX8" fmla="*/ 348498 w 988756"/>
                    <a:gd name="connsiteY8" fmla="*/ 25400 h 723900"/>
                    <a:gd name="connsiteX9" fmla="*/ 437398 w 988756"/>
                    <a:gd name="connsiteY9" fmla="*/ 63500 h 723900"/>
                    <a:gd name="connsiteX10" fmla="*/ 513598 w 988756"/>
                    <a:gd name="connsiteY10" fmla="*/ 38100 h 723900"/>
                    <a:gd name="connsiteX11" fmla="*/ 551698 w 988756"/>
                    <a:gd name="connsiteY11" fmla="*/ 25400 h 723900"/>
                    <a:gd name="connsiteX12" fmla="*/ 615198 w 988756"/>
                    <a:gd name="connsiteY12" fmla="*/ 12700 h 723900"/>
                    <a:gd name="connsiteX13" fmla="*/ 691398 w 988756"/>
                    <a:gd name="connsiteY13" fmla="*/ 25400 h 723900"/>
                    <a:gd name="connsiteX14" fmla="*/ 742198 w 988756"/>
                    <a:gd name="connsiteY14" fmla="*/ 88900 h 723900"/>
                    <a:gd name="connsiteX15" fmla="*/ 767598 w 988756"/>
                    <a:gd name="connsiteY15" fmla="*/ 127000 h 723900"/>
                    <a:gd name="connsiteX16" fmla="*/ 780298 w 988756"/>
                    <a:gd name="connsiteY16" fmla="*/ 254000 h 723900"/>
                    <a:gd name="connsiteX17" fmla="*/ 881898 w 988756"/>
                    <a:gd name="connsiteY17" fmla="*/ 279400 h 723900"/>
                    <a:gd name="connsiteX18" fmla="*/ 919998 w 988756"/>
                    <a:gd name="connsiteY18" fmla="*/ 292100 h 723900"/>
                    <a:gd name="connsiteX19" fmla="*/ 932698 w 988756"/>
                    <a:gd name="connsiteY19" fmla="*/ 330200 h 723900"/>
                    <a:gd name="connsiteX20" fmla="*/ 932698 w 988756"/>
                    <a:gd name="connsiteY20" fmla="*/ 482600 h 723900"/>
                    <a:gd name="connsiteX21" fmla="*/ 970798 w 988756"/>
                    <a:gd name="connsiteY21" fmla="*/ 520700 h 723900"/>
                    <a:gd name="connsiteX22" fmla="*/ 970798 w 988756"/>
                    <a:gd name="connsiteY22" fmla="*/ 647700 h 723900"/>
                    <a:gd name="connsiteX23" fmla="*/ 894598 w 988756"/>
                    <a:gd name="connsiteY23" fmla="*/ 698500 h 723900"/>
                    <a:gd name="connsiteX24" fmla="*/ 856498 w 988756"/>
                    <a:gd name="connsiteY24" fmla="*/ 723900 h 723900"/>
                    <a:gd name="connsiteX25" fmla="*/ 818398 w 988756"/>
                    <a:gd name="connsiteY25" fmla="*/ 711200 h 723900"/>
                    <a:gd name="connsiteX26" fmla="*/ 792998 w 988756"/>
                    <a:gd name="connsiteY26" fmla="*/ 673100 h 723900"/>
                    <a:gd name="connsiteX27" fmla="*/ 754898 w 988756"/>
                    <a:gd name="connsiteY27" fmla="*/ 647700 h 723900"/>
                    <a:gd name="connsiteX28" fmla="*/ 450098 w 988756"/>
                    <a:gd name="connsiteY28" fmla="*/ 647700 h 723900"/>
                    <a:gd name="connsiteX29" fmla="*/ 424698 w 988756"/>
                    <a:gd name="connsiteY29" fmla="*/ 609600 h 723900"/>
                    <a:gd name="connsiteX30" fmla="*/ 386598 w 988756"/>
                    <a:gd name="connsiteY30" fmla="*/ 596900 h 723900"/>
                    <a:gd name="connsiteX31" fmla="*/ 272298 w 988756"/>
                    <a:gd name="connsiteY31" fmla="*/ 596900 h 723900"/>
                    <a:gd name="connsiteX32" fmla="*/ 259598 w 988756"/>
                    <a:gd name="connsiteY32" fmla="*/ 558800 h 723900"/>
                    <a:gd name="connsiteX33" fmla="*/ 119898 w 988756"/>
                    <a:gd name="connsiteY33" fmla="*/ 520700 h 723900"/>
                    <a:gd name="connsiteX34" fmla="*/ 81798 w 988756"/>
                    <a:gd name="connsiteY34" fmla="*/ 431800 h 723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988756" h="723900">
                      <a:moveTo>
                        <a:pt x="132598" y="406400"/>
                      </a:moveTo>
                      <a:cubicBezTo>
                        <a:pt x="102965" y="410633"/>
                        <a:pt x="73484" y="422079"/>
                        <a:pt x="43698" y="419100"/>
                      </a:cubicBezTo>
                      <a:cubicBezTo>
                        <a:pt x="-33406" y="411390"/>
                        <a:pt x="14129" y="293802"/>
                        <a:pt x="18298" y="266700"/>
                      </a:cubicBezTo>
                      <a:cubicBezTo>
                        <a:pt x="20334" y="253469"/>
                        <a:pt x="21532" y="238066"/>
                        <a:pt x="30998" y="228600"/>
                      </a:cubicBezTo>
                      <a:cubicBezTo>
                        <a:pt x="74667" y="184931"/>
                        <a:pt x="97388" y="181070"/>
                        <a:pt x="145298" y="165100"/>
                      </a:cubicBezTo>
                      <a:cubicBezTo>
                        <a:pt x="149531" y="135467"/>
                        <a:pt x="149396" y="104872"/>
                        <a:pt x="157998" y="76200"/>
                      </a:cubicBezTo>
                      <a:cubicBezTo>
                        <a:pt x="166963" y="46318"/>
                        <a:pt x="195600" y="25649"/>
                        <a:pt x="221498" y="12700"/>
                      </a:cubicBezTo>
                      <a:cubicBezTo>
                        <a:pt x="233472" y="6713"/>
                        <a:pt x="246898" y="4233"/>
                        <a:pt x="259598" y="0"/>
                      </a:cubicBezTo>
                      <a:cubicBezTo>
                        <a:pt x="275874" y="4069"/>
                        <a:pt x="330278" y="16290"/>
                        <a:pt x="348498" y="25400"/>
                      </a:cubicBezTo>
                      <a:cubicBezTo>
                        <a:pt x="436203" y="69253"/>
                        <a:pt x="331672" y="37069"/>
                        <a:pt x="437398" y="63500"/>
                      </a:cubicBezTo>
                      <a:lnTo>
                        <a:pt x="513598" y="38100"/>
                      </a:lnTo>
                      <a:cubicBezTo>
                        <a:pt x="526298" y="33867"/>
                        <a:pt x="538571" y="28025"/>
                        <a:pt x="551698" y="25400"/>
                      </a:cubicBezTo>
                      <a:lnTo>
                        <a:pt x="615198" y="12700"/>
                      </a:lnTo>
                      <a:cubicBezTo>
                        <a:pt x="640598" y="16933"/>
                        <a:pt x="666969" y="17257"/>
                        <a:pt x="691398" y="25400"/>
                      </a:cubicBezTo>
                      <a:cubicBezTo>
                        <a:pt x="742779" y="42527"/>
                        <a:pt x="722792" y="50088"/>
                        <a:pt x="742198" y="88900"/>
                      </a:cubicBezTo>
                      <a:cubicBezTo>
                        <a:pt x="749024" y="102552"/>
                        <a:pt x="759131" y="114300"/>
                        <a:pt x="767598" y="127000"/>
                      </a:cubicBezTo>
                      <a:cubicBezTo>
                        <a:pt x="771831" y="169333"/>
                        <a:pt x="754771" y="219964"/>
                        <a:pt x="780298" y="254000"/>
                      </a:cubicBezTo>
                      <a:cubicBezTo>
                        <a:pt x="801243" y="281927"/>
                        <a:pt x="848780" y="268361"/>
                        <a:pt x="881898" y="279400"/>
                      </a:cubicBezTo>
                      <a:lnTo>
                        <a:pt x="919998" y="292100"/>
                      </a:lnTo>
                      <a:cubicBezTo>
                        <a:pt x="924231" y="304800"/>
                        <a:pt x="932698" y="316813"/>
                        <a:pt x="932698" y="330200"/>
                      </a:cubicBezTo>
                      <a:cubicBezTo>
                        <a:pt x="932698" y="372452"/>
                        <a:pt x="902924" y="437939"/>
                        <a:pt x="932698" y="482600"/>
                      </a:cubicBezTo>
                      <a:cubicBezTo>
                        <a:pt x="942661" y="497544"/>
                        <a:pt x="958098" y="508000"/>
                        <a:pt x="970798" y="520700"/>
                      </a:cubicBezTo>
                      <a:cubicBezTo>
                        <a:pt x="985214" y="563948"/>
                        <a:pt x="1002721" y="597536"/>
                        <a:pt x="970798" y="647700"/>
                      </a:cubicBezTo>
                      <a:cubicBezTo>
                        <a:pt x="954409" y="673454"/>
                        <a:pt x="919998" y="681567"/>
                        <a:pt x="894598" y="698500"/>
                      </a:cubicBezTo>
                      <a:lnTo>
                        <a:pt x="856498" y="723900"/>
                      </a:lnTo>
                      <a:cubicBezTo>
                        <a:pt x="843798" y="719667"/>
                        <a:pt x="828851" y="719563"/>
                        <a:pt x="818398" y="711200"/>
                      </a:cubicBezTo>
                      <a:cubicBezTo>
                        <a:pt x="806479" y="701665"/>
                        <a:pt x="803791" y="683893"/>
                        <a:pt x="792998" y="673100"/>
                      </a:cubicBezTo>
                      <a:cubicBezTo>
                        <a:pt x="782205" y="662307"/>
                        <a:pt x="767598" y="656167"/>
                        <a:pt x="754898" y="647700"/>
                      </a:cubicBezTo>
                      <a:cubicBezTo>
                        <a:pt x="637222" y="667313"/>
                        <a:pt x="604226" y="678526"/>
                        <a:pt x="450098" y="647700"/>
                      </a:cubicBezTo>
                      <a:cubicBezTo>
                        <a:pt x="435131" y="644707"/>
                        <a:pt x="436617" y="619135"/>
                        <a:pt x="424698" y="609600"/>
                      </a:cubicBezTo>
                      <a:cubicBezTo>
                        <a:pt x="414245" y="601237"/>
                        <a:pt x="399298" y="601133"/>
                        <a:pt x="386598" y="596900"/>
                      </a:cubicBezTo>
                      <a:cubicBezTo>
                        <a:pt x="295918" y="627127"/>
                        <a:pt x="332675" y="637152"/>
                        <a:pt x="272298" y="596900"/>
                      </a:cubicBezTo>
                      <a:cubicBezTo>
                        <a:pt x="268065" y="584200"/>
                        <a:pt x="267961" y="569253"/>
                        <a:pt x="259598" y="558800"/>
                      </a:cubicBezTo>
                      <a:cubicBezTo>
                        <a:pt x="227580" y="518778"/>
                        <a:pt x="159543" y="525656"/>
                        <a:pt x="119898" y="520700"/>
                      </a:cubicBezTo>
                      <a:cubicBezTo>
                        <a:pt x="64186" y="483559"/>
                        <a:pt x="81798" y="510564"/>
                        <a:pt x="81798" y="431800"/>
                      </a:cubicBezTo>
                    </a:path>
                  </a:pathLst>
                </a:custGeom>
                <a:solidFill>
                  <a:schemeClr val="bg2">
                    <a:alpha val="68679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51AD3172-6583-0E38-43B1-43D28B9ABEA6}"/>
                      </a:ext>
                    </a:extLst>
                  </p:cNvPr>
                  <p:cNvSpPr txBox="1"/>
                  <p:nvPr/>
                </p:nvSpPr>
                <p:spPr>
                  <a:xfrm>
                    <a:off x="3446491" y="2157781"/>
                    <a:ext cx="93015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𝒔𝒖𝒓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51AD3172-6583-0E38-43B1-43D28B9ABE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6491" y="2157781"/>
                    <a:ext cx="930156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71F6683-22EC-197C-D058-9ACAEDF4A540}"/>
                </a:ext>
              </a:extLst>
            </p:cNvPr>
            <p:cNvSpPr txBox="1"/>
            <p:nvPr/>
          </p:nvSpPr>
          <p:spPr>
            <a:xfrm>
              <a:off x="2022895" y="1814188"/>
              <a:ext cx="851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clouds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2276544-EA92-4169-19A0-6DFAAEAE516F}"/>
                  </a:ext>
                </a:extLst>
              </p:cNvPr>
              <p:cNvSpPr txBox="1"/>
              <p:nvPr/>
            </p:nvSpPr>
            <p:spPr>
              <a:xfrm>
                <a:off x="7282794" y="788635"/>
                <a:ext cx="2638697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The Arctic summer is about three months long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𝒎𝒐𝒏𝒕𝒉𝒔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2276544-EA92-4169-19A0-6DFAAEAE5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794" y="788635"/>
                <a:ext cx="2638697" cy="923330"/>
              </a:xfrm>
              <a:prstGeom prst="rect">
                <a:avLst/>
              </a:prstGeom>
              <a:blipFill>
                <a:blip r:embed="rId11"/>
                <a:stretch>
                  <a:fillRect t="-1333" r="-957" b="-9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8BC71DC-8CE2-A21D-E849-37A9126A143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67654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Ice-Free Arctic schematic</a:t>
            </a:r>
          </a:p>
        </p:txBody>
      </p:sp>
    </p:spTree>
    <p:extLst>
      <p:ext uri="{BB962C8B-B14F-4D97-AF65-F5344CB8AC3E}">
        <p14:creationId xmlns:p14="http://schemas.microsoft.com/office/powerpoint/2010/main" val="24944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95A90F-B7AD-3AED-5ABA-6D618845645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  <a:endParaRPr lang="en-US" sz="24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BE397-4488-0129-9F9F-B3F0A8873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745" y="545338"/>
            <a:ext cx="5604510" cy="631266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93648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132</Words>
  <Application>Microsoft Macintosh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Francis and Vavrus, 2013 </dc:title>
  <dc:creator>Steven</dc:creator>
  <cp:lastModifiedBy>Steven</cp:lastModifiedBy>
  <cp:revision>9</cp:revision>
  <dcterms:created xsi:type="dcterms:W3CDTF">2024-11-05T04:40:08Z</dcterms:created>
  <dcterms:modified xsi:type="dcterms:W3CDTF">2025-10-30T18:49:49Z</dcterms:modified>
</cp:coreProperties>
</file>