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06" r:id="rId2"/>
    <p:sldId id="1864" r:id="rId3"/>
    <p:sldId id="1860" r:id="rId4"/>
    <p:sldId id="1866" r:id="rId5"/>
    <p:sldId id="1865" r:id="rId6"/>
    <p:sldId id="18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3"/>
  </p:normalViewPr>
  <p:slideViewPr>
    <p:cSldViewPr snapToGrid="0" showGuides="1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23A2E-4402-D248-B8FC-AF7AE3EF753E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70C7DC-1D52-0A4B-B4B3-74F29F439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08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45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93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38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22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69F4-9DD1-85FE-F113-CD09CE790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5CC0A-57D0-50DF-DFC4-201E74FBE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BD1C2-83E5-4D70-5FA1-CEECDDAD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3008D-1628-340C-07DA-3FE56675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6D4A8-103B-085C-8F69-0CE4D7F0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7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A77E-E488-8370-B5D4-76CCEA24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B07D-4BB8-4EC3-1153-5C9B3CCF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32606-C917-5104-23AE-7ECF76D4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BDE3-2BED-C8AC-D071-106A767B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842A-0E77-02EC-8701-096361F4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1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0431-A7A2-D178-3098-CC5E081F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64598-3021-EDA8-8A14-47CA60880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5156E-EB91-1FD5-62E1-68C862A9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8A48-4589-9903-EC64-433FDAC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29181-2DFB-3566-7343-FAFE4A0E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5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5203-AE61-63A0-674A-EF14A5A7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CCC2-A56D-1602-8EEA-9306984B2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04A2A-A2D3-F297-0B90-46AB1471D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AD506-E46D-DB8C-7D17-41D099C1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E6306-6B10-9C1C-57EF-B9975A02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3203A-661B-37A0-250D-0699463E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94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FE6F-0723-A34A-CCBD-6D3B9A0B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0C577-D8EB-D08F-0580-6E31B959F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5D2A7-4D10-8703-8DA5-59BCC8582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13B29-427F-A7BA-439A-346A81EA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12FC85-ECE0-E645-3260-A367642E6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E7702-5C99-B5A6-E378-5284E195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84BF9-5B5E-159C-5AAF-ED821732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BC10B2-784D-03F7-A0D3-EF8FE42F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7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12CC-02C6-E044-C5A1-6D6A7C2A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DEA59-2B74-3558-D0AB-D5728BF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DC496-CB0D-472C-9791-D6D5C794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AC8A4-D979-FFB2-BDE3-4E67071D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0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799D6-2A32-BB99-BC80-96493FB8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8B85F-A98B-929C-3C3E-06554182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4C720-E406-E61A-ADF0-25532AAC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7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A3F2-49B8-D8A3-74B7-D4B6BF44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140DB-6A5B-DF91-D0C8-E65DCCD28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DD5EE-D2B5-1798-1DE1-383F75B1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21E70-D1F8-C2AD-F0AA-5B6B1070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A3F1-70DC-E787-87B8-39F95D87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3E068-9F81-48B7-3359-805EDD56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9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379D-AC25-4325-0171-A58D0675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4EBE0-1DC8-E994-20BB-CF7DF0076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01EB7-8AFC-4B14-ADDE-945D7A009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CAB42-C48F-33E7-FB06-D49562D0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83CC7-6D22-D07E-2B4F-6F1A7046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CAA35-BF2E-AE9B-E649-6107C316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6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C821-359E-69C6-C277-29F462FA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8D47E-993D-CA16-844E-4B8CB66DF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BBCAB-DFF0-1529-51A0-AA315938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669-8A73-F694-D8DC-5D38BD39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6801C-D4AE-4666-3609-2CE278BE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1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5BEAAD-C96C-C20C-F338-04F66021D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16FC1-F390-C682-988F-B3CE9AFF3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E0204-8455-9FA3-2319-61A726F9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5EEC-818E-E1BC-4C9A-FCAD105C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24107-7FF6-0EDC-D572-80915AC4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7EBF1-79D2-DC9D-360C-4AD6A0C1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1AA32-2427-7414-A6B7-010343EA0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9722-100B-D2B5-B4D3-276E10FB1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831B-F5AA-F968-C6B4-E4740CC1F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0025A-E0AC-E75F-2276-ADE5993FB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eedbackloopsclimate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eyNm2QcOw8&amp;feature=youtu.b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+mn-lt"/>
                <a:cs typeface="Arial"/>
                <a:sym typeface="Arial"/>
              </a:rPr>
              <a:t>The “Albedo” video (</a:t>
            </a:r>
            <a:r>
              <a:rPr lang="en-US" sz="2400" dirty="0">
                <a:hlinkClick r:id="rId2"/>
              </a:rPr>
              <a:t>Climate Emergency: Feedback Loops</a:t>
            </a:r>
            <a:r>
              <a:rPr lang="en-US" sz="2400" b="1" dirty="0">
                <a:solidFill>
                  <a:schemeClr val="tx1"/>
                </a:solidFill>
                <a:latin typeface="+mn-lt"/>
                <a:cs typeface="Arial"/>
                <a:sym typeface="Arial"/>
              </a:rPr>
              <a:t>) referred to the “New Arctic”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764EE0-6C72-2BB7-C05B-D864F27FD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99" y="461665"/>
            <a:ext cx="10930804" cy="620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7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4722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Repercussions of Arctic warming you may not have imagined  (Francis and </a:t>
            </a:r>
            <a:r>
              <a:rPr lang="en-US" sz="2400" b="1" dirty="0" err="1">
                <a:latin typeface="+mn-lt"/>
              </a:rPr>
              <a:t>Vavrus</a:t>
            </a:r>
            <a:r>
              <a:rPr lang="en-US" sz="2400" b="1" dirty="0">
                <a:latin typeface="+mn-lt"/>
              </a:rPr>
              <a:t>, 2013) 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9CD1F61E-E81E-0D48-A935-A075CB709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089" y="1070089"/>
            <a:ext cx="5538872" cy="36303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147E35-B648-5247-951C-C794F0A40DF9}"/>
              </a:ext>
            </a:extLst>
          </p:cNvPr>
          <p:cNvSpPr/>
          <p:nvPr/>
        </p:nvSpPr>
        <p:spPr>
          <a:xfrm>
            <a:off x="2618196" y="5245843"/>
            <a:ext cx="71426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www.youtube.com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watch?v</a:t>
            </a:r>
            <a:r>
              <a:rPr lang="en-US" dirty="0">
                <a:hlinkClick r:id="rId3"/>
              </a:rPr>
              <a:t>=8eyNm2QcOw8&amp;feature=</a:t>
            </a:r>
            <a:r>
              <a:rPr lang="en-US" dirty="0" err="1">
                <a:hlinkClick r:id="rId3"/>
              </a:rPr>
              <a:t>youtu.be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03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5D8D72-5898-E645-BA56-498F6D5E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86" y="1166647"/>
            <a:ext cx="10143243" cy="54375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88514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Jet stream forms a meandering boundary between cold Polar air and warmer mid-latitude air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8343AC-0F08-404E-8580-BD59964D81A0}"/>
              </a:ext>
            </a:extLst>
          </p:cNvPr>
          <p:cNvGrpSpPr/>
          <p:nvPr/>
        </p:nvGrpSpPr>
        <p:grpSpPr>
          <a:xfrm>
            <a:off x="3037490" y="1166647"/>
            <a:ext cx="6408684" cy="5364778"/>
            <a:chOff x="3037490" y="1166647"/>
            <a:chExt cx="6408684" cy="536477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4679AB-79F9-CF47-8300-1364C235B1EC}"/>
                </a:ext>
              </a:extLst>
            </p:cNvPr>
            <p:cNvSpPr txBox="1"/>
            <p:nvPr/>
          </p:nvSpPr>
          <p:spPr>
            <a:xfrm>
              <a:off x="3037490" y="1166647"/>
              <a:ext cx="2081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highlight>
                    <a:srgbClr val="00FFFF"/>
                  </a:highlight>
                </a:rPr>
                <a:t>Cold Arctic air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9BAFF7-285B-A448-A5DE-CA76162502C4}"/>
                </a:ext>
              </a:extLst>
            </p:cNvPr>
            <p:cNvSpPr txBox="1"/>
            <p:nvPr/>
          </p:nvSpPr>
          <p:spPr>
            <a:xfrm>
              <a:off x="3168868" y="3536732"/>
              <a:ext cx="3231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Warm mid-latitude air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6BCD9D-5048-E445-926A-E0734B1CBC06}"/>
                </a:ext>
              </a:extLst>
            </p:cNvPr>
            <p:cNvSpPr txBox="1"/>
            <p:nvPr/>
          </p:nvSpPr>
          <p:spPr>
            <a:xfrm>
              <a:off x="6096000" y="6069760"/>
              <a:ext cx="3350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highlight>
                    <a:srgbClr val="00FFFF"/>
                  </a:highlight>
                </a:rPr>
                <a:t>Cold Antarctic 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03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88514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But meandering happens more when the terrain is flat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EFBC6B-7F63-35FE-B27C-1317056EE2BD}"/>
              </a:ext>
            </a:extLst>
          </p:cNvPr>
          <p:cNvGrpSpPr/>
          <p:nvPr/>
        </p:nvGrpSpPr>
        <p:grpSpPr>
          <a:xfrm>
            <a:off x="2168801" y="658629"/>
            <a:ext cx="7854397" cy="5887383"/>
            <a:chOff x="2168801" y="658629"/>
            <a:chExt cx="7854397" cy="5887383"/>
          </a:xfrm>
        </p:grpSpPr>
        <p:pic>
          <p:nvPicPr>
            <p:cNvPr id="13314" name="Picture 2">
              <a:extLst>
                <a:ext uri="{FF2B5EF4-FFF2-40B4-BE49-F238E27FC236}">
                  <a16:creationId xmlns:a16="http://schemas.microsoft.com/office/drawing/2014/main" id="{DD705DAF-5189-184D-9A8E-021E4664C4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8801" y="658629"/>
              <a:ext cx="7854397" cy="58873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CF7048F3-1C25-864C-93B7-75075485C8C7}"/>
                </a:ext>
              </a:extLst>
            </p:cNvPr>
            <p:cNvSpPr/>
            <p:nvPr/>
          </p:nvSpPr>
          <p:spPr>
            <a:xfrm rot="16200000" flipV="1">
              <a:off x="8588897" y="3076804"/>
              <a:ext cx="399393" cy="651639"/>
            </a:xfrm>
            <a:prstGeom prst="up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Up Arrow 7">
              <a:extLst>
                <a:ext uri="{FF2B5EF4-FFF2-40B4-BE49-F238E27FC236}">
                  <a16:creationId xmlns:a16="http://schemas.microsoft.com/office/drawing/2014/main" id="{07377BD7-67D5-A144-8812-1ECA548342AC}"/>
                </a:ext>
              </a:extLst>
            </p:cNvPr>
            <p:cNvSpPr/>
            <p:nvPr/>
          </p:nvSpPr>
          <p:spPr>
            <a:xfrm rot="5400000" flipV="1">
              <a:off x="4464452" y="3323473"/>
              <a:ext cx="399393" cy="651639"/>
            </a:xfrm>
            <a:prstGeom prst="up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826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2868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Warmer Arctic -&gt; less temperature difference between Arctic and mid-latitude -&gt; jet is wavier and slower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DFA55DB-56D1-6C4A-957B-04AD5221A6B5}"/>
              </a:ext>
            </a:extLst>
          </p:cNvPr>
          <p:cNvGrpSpPr/>
          <p:nvPr/>
        </p:nvGrpSpPr>
        <p:grpSpPr>
          <a:xfrm>
            <a:off x="798786" y="1166647"/>
            <a:ext cx="10143243" cy="5437519"/>
            <a:chOff x="629860" y="557407"/>
            <a:chExt cx="10932280" cy="62254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4F94A1-5672-9743-AD19-29A2EC719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860" y="557407"/>
              <a:ext cx="10932280" cy="6225436"/>
            </a:xfrm>
            <a:prstGeom prst="rect">
              <a:avLst/>
            </a:prstGeom>
          </p:spPr>
        </p:pic>
        <p:sp>
          <p:nvSpPr>
            <p:cNvPr id="3" name="Up Arrow 2">
              <a:extLst>
                <a:ext uri="{FF2B5EF4-FFF2-40B4-BE49-F238E27FC236}">
                  <a16:creationId xmlns:a16="http://schemas.microsoft.com/office/drawing/2014/main" id="{3E4D247E-AA9F-7341-ACA9-F067A911D0B5}"/>
                </a:ext>
              </a:extLst>
            </p:cNvPr>
            <p:cNvSpPr/>
            <p:nvPr/>
          </p:nvSpPr>
          <p:spPr>
            <a:xfrm>
              <a:off x="2774731" y="1450428"/>
              <a:ext cx="399393" cy="651641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Up Arrow 5">
              <a:extLst>
                <a:ext uri="{FF2B5EF4-FFF2-40B4-BE49-F238E27FC236}">
                  <a16:creationId xmlns:a16="http://schemas.microsoft.com/office/drawing/2014/main" id="{8FE248C3-F8B4-4846-9A49-CA0E06CA5898}"/>
                </a:ext>
              </a:extLst>
            </p:cNvPr>
            <p:cNvSpPr/>
            <p:nvPr/>
          </p:nvSpPr>
          <p:spPr>
            <a:xfrm flipV="1">
              <a:off x="3904162" y="2680352"/>
              <a:ext cx="399393" cy="651639"/>
            </a:xfrm>
            <a:prstGeom prst="up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D397CE5D-E09B-614E-AF09-CB2BE8247BAE}"/>
                </a:ext>
              </a:extLst>
            </p:cNvPr>
            <p:cNvSpPr/>
            <p:nvPr/>
          </p:nvSpPr>
          <p:spPr>
            <a:xfrm flipV="1">
              <a:off x="8150486" y="2880769"/>
              <a:ext cx="399393" cy="651639"/>
            </a:xfrm>
            <a:prstGeom prst="up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Up Arrow 7">
              <a:extLst>
                <a:ext uri="{FF2B5EF4-FFF2-40B4-BE49-F238E27FC236}">
                  <a16:creationId xmlns:a16="http://schemas.microsoft.com/office/drawing/2014/main" id="{DBAD0248-2CBD-7A41-8EAB-861BF0B9784E}"/>
                </a:ext>
              </a:extLst>
            </p:cNvPr>
            <p:cNvSpPr/>
            <p:nvPr/>
          </p:nvSpPr>
          <p:spPr>
            <a:xfrm>
              <a:off x="5896303" y="1124607"/>
              <a:ext cx="399393" cy="651641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C5966C-CD41-1144-BB1D-5DDC09E0D897}"/>
              </a:ext>
            </a:extLst>
          </p:cNvPr>
          <p:cNvGrpSpPr/>
          <p:nvPr/>
        </p:nvGrpSpPr>
        <p:grpSpPr>
          <a:xfrm>
            <a:off x="2981524" y="1200395"/>
            <a:ext cx="6464650" cy="5331030"/>
            <a:chOff x="2981524" y="1200395"/>
            <a:chExt cx="6464650" cy="53310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E471AD-2C6A-1546-9C77-97757B4A6792}"/>
                </a:ext>
              </a:extLst>
            </p:cNvPr>
            <p:cNvSpPr txBox="1"/>
            <p:nvPr/>
          </p:nvSpPr>
          <p:spPr>
            <a:xfrm>
              <a:off x="2981524" y="1200395"/>
              <a:ext cx="2081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highlight>
                    <a:srgbClr val="00FFFF"/>
                  </a:highlight>
                </a:rPr>
                <a:t>Cold Arctic air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21CBE2-228A-5940-949C-DD2D646E7A3B}"/>
                </a:ext>
              </a:extLst>
            </p:cNvPr>
            <p:cNvSpPr txBox="1"/>
            <p:nvPr/>
          </p:nvSpPr>
          <p:spPr>
            <a:xfrm>
              <a:off x="3168868" y="3536732"/>
              <a:ext cx="3231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Warm mid-latitude air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B982FC-7695-6F45-B6F7-A98556F7E523}"/>
                </a:ext>
              </a:extLst>
            </p:cNvPr>
            <p:cNvSpPr txBox="1"/>
            <p:nvPr/>
          </p:nvSpPr>
          <p:spPr>
            <a:xfrm>
              <a:off x="6096000" y="6069760"/>
              <a:ext cx="3350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highlight>
                    <a:srgbClr val="00FFFF"/>
                  </a:highlight>
                </a:rPr>
                <a:t>Cold Antarctic 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46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2868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Warmer Arctic -&gt; less temperature difference between Arctic and mid-latitude -&gt; jet is wavier and slower -&gt; prolonged periods of drought and cold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33B3C-A3D9-C84F-BB79-F627F802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20" y="1348154"/>
            <a:ext cx="4869991" cy="39809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13D356-2A8C-A34B-ACA0-2324881B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15" y="4791101"/>
            <a:ext cx="1993900" cy="1003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5939DF-5F23-5D44-94C0-322BE2486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058" y="1501042"/>
            <a:ext cx="6410692" cy="36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4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139</Words>
  <Application>Microsoft Macintosh PowerPoint</Application>
  <PresentationFormat>Widescreen</PresentationFormat>
  <Paragraphs>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Repercussions of Arctic warming you may not have imagined  (Francis and Vavrus, 2013) </vt:lpstr>
      <vt:lpstr>Jet stream forms a meandering boundary between cold Polar air and warmer mid-latitude air</vt:lpstr>
      <vt:lpstr>But meandering happens more when the terrain is flat</vt:lpstr>
      <vt:lpstr>Warmer Arctic -&gt; less temperature difference between Arctic and mid-latitude -&gt; jet is wavier and slower</vt:lpstr>
      <vt:lpstr>Warmer Arctic -&gt; less temperature difference between Arctic and mid-latitude -&gt; jet is wavier and slower -&gt; prolonged periods of drought and cold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34</cp:revision>
  <cp:lastPrinted>2023-11-01T17:19:52Z</cp:lastPrinted>
  <dcterms:created xsi:type="dcterms:W3CDTF">2023-11-01T10:31:21Z</dcterms:created>
  <dcterms:modified xsi:type="dcterms:W3CDTF">2025-11-03T04:36:07Z</dcterms:modified>
</cp:coreProperties>
</file>