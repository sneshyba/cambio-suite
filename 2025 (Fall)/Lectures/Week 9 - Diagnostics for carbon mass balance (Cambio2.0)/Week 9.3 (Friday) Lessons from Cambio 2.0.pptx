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006" r:id="rId2"/>
    <p:sldId id="2015" r:id="rId3"/>
    <p:sldId id="2020" r:id="rId4"/>
    <p:sldId id="2021" r:id="rId5"/>
    <p:sldId id="2000" r:id="rId6"/>
    <p:sldId id="2004" r:id="rId7"/>
    <p:sldId id="2005" r:id="rId8"/>
    <p:sldId id="1990" r:id="rId9"/>
    <p:sldId id="1991" r:id="rId10"/>
    <p:sldId id="2016" r:id="rId11"/>
    <p:sldId id="197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976"/>
  </p:normalViewPr>
  <p:slideViewPr>
    <p:cSldViewPr snapToGrid="0" showGuides="1">
      <p:cViewPr varScale="1">
        <p:scale>
          <a:sx n="112" d="100"/>
          <a:sy n="112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009AE5-CC78-854A-B0FD-9222285B9799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146035-70D6-0E47-80A6-BAA08FE31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187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 the temperature if CO2 continues to rise. If we reduce CO2 emissions to zero.</a:t>
            </a:r>
          </a:p>
        </p:txBody>
      </p:sp>
    </p:spTree>
    <p:extLst>
      <p:ext uri="{BB962C8B-B14F-4D97-AF65-F5344CB8AC3E}">
        <p14:creationId xmlns:p14="http://schemas.microsoft.com/office/powerpoint/2010/main" val="2964033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40753-4009-5500-A440-323603A828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516CC8-1E88-D0CF-0CCF-D7E7FA6887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46128-1610-6161-E170-F210E957A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584D-7FED-BD4A-BB6D-CF311F2A8BA5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D7D0A-9DAF-8171-1D17-E5A2F5DAB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D7C19-E955-1C59-0834-C1C0CF5E3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2E58D-6D03-FD47-BC1D-43DB2BE78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808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425AD-53A7-78A4-33B5-FCCE26FAC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DB80B-7F05-3FCE-CED5-18B18FE4A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5FAE3-E4A5-E2A9-DBFF-AEE45BB00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584D-7FED-BD4A-BB6D-CF311F2A8BA5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39F7C-938D-463D-3B89-2CD2F9CC8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36E31-BAE8-4BEA-0A58-9B9CF29D5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2E58D-6D03-FD47-BC1D-43DB2BE78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922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A8085-2A09-E36B-ED4A-B6E785244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663EF8-9704-67FB-5BCC-0BF4A3DA8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7D5B9-775C-5ADD-B133-ACBC3C68C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584D-7FED-BD4A-BB6D-CF311F2A8BA5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B7290-A70A-1C2D-5A6F-F96700EF3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73D9A-C644-787C-9BEF-9C7318290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2E58D-6D03-FD47-BC1D-43DB2BE78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095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1E6FE-D52A-C583-CE5A-82B334746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DEFBF-304C-0DF1-BF4D-3314E484E1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A24D4-A94C-CAFF-9DFD-14729802F2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CCFE7C-873D-B0E9-121C-CC5E12751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584D-7FED-BD4A-BB6D-CF311F2A8BA5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21715-0DB1-207D-A559-050491D04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02DAD-E96C-9826-16A8-9C416EE05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2E58D-6D03-FD47-BC1D-43DB2BE78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66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6F3C0-985D-EC2B-C8AB-BF66BB3F7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F56EC-9FAC-67BE-DC74-18306D772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02D57F-1DD6-236F-5C8B-ECC18F337F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423ADC-BE55-51DC-ED22-2BC4F97569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6830C2-AAE2-3638-073F-6301B5C780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DEF1B3-216B-0CED-DB46-17DC87FF6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584D-7FED-BD4A-BB6D-CF311F2A8BA5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1D3A4A-E68E-0100-F3CE-C6857F9B0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E00B09-D20C-A714-8D25-90E989781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2E58D-6D03-FD47-BC1D-43DB2BE78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42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5D86A-BD2E-9176-8D68-8880D62BB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69CC7F-9AF4-0F52-C479-CE6338CF5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584D-7FED-BD4A-BB6D-CF311F2A8BA5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B17E78-97A6-7F02-1506-3185FE4C1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CD485-D183-E6C8-AC56-18339D3F0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2E58D-6D03-FD47-BC1D-43DB2BE78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35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084838-C7F1-4FA4-30BF-D4C31CED5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584D-7FED-BD4A-BB6D-CF311F2A8BA5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F8DD06-4B3B-B8E3-CA0B-9E63FF543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6AB73-3A47-F670-888B-B8A04826C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2E58D-6D03-FD47-BC1D-43DB2BE78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339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480EA-4D79-B0E3-0577-B889D395E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16920-C8F7-51D6-A660-9A6A5D937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4EF483-9538-7353-296F-6D21EAD275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F014C-50EB-4D0F-28AC-658B3783B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584D-7FED-BD4A-BB6D-CF311F2A8BA5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DAF53-D450-8AE4-65FC-9CFE2EE1B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8E718-5C46-6C38-9E0E-142A504DA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2E58D-6D03-FD47-BC1D-43DB2BE78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484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0E399-EBC3-18AE-E9EB-C52C12D4F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9D31A4-6E31-D301-24FF-FEE8A54185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8C4EC7-6644-57E6-9572-5E1BC5C377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069FF1-568A-B31F-DD79-F33E58F82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584D-7FED-BD4A-BB6D-CF311F2A8BA5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02110A-4E28-B679-78CF-AB8D2C53D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03F11-87E9-363F-7036-B2D577836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2E58D-6D03-FD47-BC1D-43DB2BE78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942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47E7E-F01B-9080-ECE7-BDEB5F290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2E4D2E-77A8-F258-4BCE-67A58876F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FF32F-4CB9-0620-8187-DCFDC8CE6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584D-7FED-BD4A-BB6D-CF311F2A8BA5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2A258-DF2F-77B7-05F9-81CF00E4C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17CB6-49B7-179F-AD5F-863D38886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2E58D-6D03-FD47-BC1D-43DB2BE78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979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A9F57C-63C8-81DE-5ADE-D1233131E8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5DDCAF-19F8-B70D-415C-5F55E0B3E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00DB3-2BB8-4BE2-7C6C-E7927A22C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584D-7FED-BD4A-BB6D-CF311F2A8BA5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455DC-CBFB-D07B-F8EF-0103D88E6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DEF1E-219A-885E-31D1-06B2C6259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2E58D-6D03-FD47-BC1D-43DB2BE78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043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4"/>
          <p:cNvSpPr txBox="1">
            <a:spLocks noGrp="1"/>
          </p:cNvSpPr>
          <p:nvPr>
            <p:ph type="title"/>
          </p:nvPr>
        </p:nvSpPr>
        <p:spPr>
          <a:xfrm>
            <a:off x="415600" y="546667"/>
            <a:ext cx="11360800" cy="8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4"/>
          <p:cNvSpPr txBox="1">
            <a:spLocks noGrp="1"/>
          </p:cNvSpPr>
          <p:nvPr>
            <p:ph type="body" idx="1"/>
          </p:nvPr>
        </p:nvSpPr>
        <p:spPr>
          <a:xfrm>
            <a:off x="415600" y="1639833"/>
            <a:ext cx="11360800" cy="44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44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113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E8EE1B-B8CB-4C92-CC3E-8BD79BB5D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21483-C812-05A6-87D7-2690568A3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EF52D-128A-970C-4DBF-D74858E400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CE584D-7FED-BD4A-BB6D-CF311F2A8BA5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5D964-0963-0BF1-E4CE-53AA8FE08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4ECB6-6651-38B7-9A2F-E55AFB339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22E58D-6D03-FD47-BC1D-43DB2BE78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11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9.jpeg"/><Relationship Id="rId7" Type="http://schemas.openxmlformats.org/officeDocument/2006/relationships/image" Target="../media/image20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0.png"/><Relationship Id="rId5" Type="http://schemas.openxmlformats.org/officeDocument/2006/relationships/image" Target="../media/image10.png"/><Relationship Id="rId4" Type="http://schemas.openxmlformats.org/officeDocument/2006/relationships/image" Target="../media/image70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feedbackloopsclimate.com/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C7C58A5-C6DF-5140-B42C-771BB4BF5F67}"/>
              </a:ext>
            </a:extLst>
          </p:cNvPr>
          <p:cNvSpPr txBox="1"/>
          <p:nvPr/>
        </p:nvSpPr>
        <p:spPr>
          <a:xfrm>
            <a:off x="1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 wrote our own functions in Python (here was an important one)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28095DD-7FBB-3DE4-693F-31003A07A07C}"/>
              </a:ext>
            </a:extLst>
          </p:cNvPr>
          <p:cNvGrpSpPr/>
          <p:nvPr/>
        </p:nvGrpSpPr>
        <p:grpSpPr>
          <a:xfrm>
            <a:off x="8705479" y="914400"/>
            <a:ext cx="3486521" cy="4507408"/>
            <a:chOff x="8705479" y="914400"/>
            <a:chExt cx="3486521" cy="450740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37B4942-434A-DB35-CE02-A150EC79E3A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705479" y="968018"/>
              <a:ext cx="3486521" cy="4453790"/>
              <a:chOff x="8148669" y="336048"/>
              <a:chExt cx="4580405" cy="5851153"/>
            </a:xfrm>
          </p:grpSpPr>
          <p:pic>
            <p:nvPicPr>
              <p:cNvPr id="11" name="Picture 10" descr="MuliMIX Electric Apple Grinder (0.8 Ton)">
                <a:extLst>
                  <a:ext uri="{FF2B5EF4-FFF2-40B4-BE49-F238E27FC236}">
                    <a16:creationId xmlns:a16="http://schemas.microsoft.com/office/drawing/2014/main" id="{4FDCF1B7-9119-5036-79A5-904FD67416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48669" y="1634796"/>
                <a:ext cx="3588407" cy="35884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7D838A-A45A-4D0F-3D87-D736A39037E2}"/>
                  </a:ext>
                </a:extLst>
              </p:cNvPr>
              <p:cNvSpPr txBox="1"/>
              <p:nvPr/>
            </p:nvSpPr>
            <p:spPr>
              <a:xfrm>
                <a:off x="8396727" y="336048"/>
                <a:ext cx="4332347" cy="1091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err="1"/>
                  <a:t>C_atm</a:t>
                </a:r>
                <a:r>
                  <a:rPr lang="en-US" sz="2400" dirty="0"/>
                  <a:t>, alpha, and </a:t>
                </a:r>
                <a:r>
                  <a:rPr lang="en-US" sz="2400" dirty="0" err="1"/>
                  <a:t>ClimateParams</a:t>
                </a:r>
                <a:r>
                  <a:rPr lang="en-US" sz="2400" dirty="0"/>
                  <a:t> go in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847BAA8-5424-842E-EBB6-359126E4F4AA}"/>
                  </a:ext>
                </a:extLst>
              </p:cNvPr>
              <p:cNvSpPr txBox="1"/>
              <p:nvPr/>
            </p:nvSpPr>
            <p:spPr>
              <a:xfrm>
                <a:off x="8597756" y="5095481"/>
                <a:ext cx="3139320" cy="1091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err="1"/>
                  <a:t>T_anomaly</a:t>
                </a:r>
                <a:r>
                  <a:rPr lang="en-US" sz="2400" dirty="0"/>
                  <a:t> comes out</a:t>
                </a:r>
              </a:p>
            </p:txBody>
          </p:sp>
        </p:grpSp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377988C7-CEA4-0F2B-02D8-ED0A67658B06}"/>
                </a:ext>
              </a:extLst>
            </p:cNvPr>
            <p:cNvSpPr/>
            <p:nvPr/>
          </p:nvSpPr>
          <p:spPr>
            <a:xfrm>
              <a:off x="8854540" y="914400"/>
              <a:ext cx="3098921" cy="4507408"/>
            </a:xfrm>
            <a:prstGeom prst="frame">
              <a:avLst>
                <a:gd name="adj1" fmla="val 95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6491CCE-011A-1594-8894-1AB62B490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55" y="593939"/>
            <a:ext cx="7361966" cy="346274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2830235-B0BC-A98F-3888-EF9E52F75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95" y="4394041"/>
            <a:ext cx="8141596" cy="214389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47604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F7BB53-63CC-83FD-12D7-B83E45BA8279}"/>
              </a:ext>
            </a:extLst>
          </p:cNvPr>
          <p:cNvSpPr txBox="1"/>
          <p:nvPr/>
        </p:nvSpPr>
        <p:spPr>
          <a:xfrm>
            <a:off x="0" y="0"/>
            <a:ext cx="1219199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 wrote our own functions in Python (here was another important one)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C6B8BB-E1A9-C903-6929-0AF7AEF5B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57" y="606757"/>
            <a:ext cx="10869709" cy="78653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01655E09-6EA3-A2B8-543E-6DA4DDB0CDB4}"/>
              </a:ext>
            </a:extLst>
          </p:cNvPr>
          <p:cNvGrpSpPr>
            <a:grpSpLocks noChangeAspect="1"/>
          </p:cNvGrpSpPr>
          <p:nvPr/>
        </p:nvGrpSpPr>
        <p:grpSpPr>
          <a:xfrm>
            <a:off x="2621749" y="1509042"/>
            <a:ext cx="4595539" cy="3433347"/>
            <a:chOff x="2181912" y="1509043"/>
            <a:chExt cx="7004002" cy="523272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FC157E4-93C6-ACA0-E57F-12862C7B8F4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181912" y="1509043"/>
              <a:ext cx="7004002" cy="5232720"/>
              <a:chOff x="2181912" y="1927225"/>
              <a:chExt cx="5773367" cy="4313307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739207B0-2083-07EE-17E5-8BA1671C0F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81912" y="1927225"/>
                <a:ext cx="5773367" cy="4313307"/>
              </a:xfrm>
              <a:prstGeom prst="rect">
                <a:avLst/>
              </a:prstGeom>
            </p:spPr>
          </p:pic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446CB8D-5830-A74A-60B3-3FB9D91997D0}"/>
                  </a:ext>
                </a:extLst>
              </p:cNvPr>
              <p:cNvSpPr/>
              <p:nvPr/>
            </p:nvSpPr>
            <p:spPr>
              <a:xfrm>
                <a:off x="2829755" y="4477541"/>
                <a:ext cx="160020" cy="160020"/>
              </a:xfrm>
              <a:prstGeom prst="ellipse">
                <a:avLst/>
              </a:prstGeom>
              <a:solidFill>
                <a:schemeClr val="tx1">
                  <a:alpha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11CC38FB-8BBD-12B9-B812-F40403BDA92A}"/>
                  </a:ext>
                </a:extLst>
              </p:cNvPr>
              <p:cNvSpPr/>
              <p:nvPr/>
            </p:nvSpPr>
            <p:spPr>
              <a:xfrm>
                <a:off x="2841070" y="5492118"/>
                <a:ext cx="160020" cy="160020"/>
              </a:xfrm>
              <a:prstGeom prst="ellipse">
                <a:avLst/>
              </a:prstGeom>
              <a:solidFill>
                <a:schemeClr val="accent1">
                  <a:alpha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529248B-2FCD-8C5B-F282-09893D0F11E6}"/>
                  </a:ext>
                </a:extLst>
              </p:cNvPr>
              <p:cNvSpPr/>
              <p:nvPr/>
            </p:nvSpPr>
            <p:spPr>
              <a:xfrm>
                <a:off x="3016446" y="4450312"/>
                <a:ext cx="160020" cy="16002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49CA3A9-8FCC-ADB1-BAB7-FAAA7B220B84}"/>
                  </a:ext>
                </a:extLst>
              </p:cNvPr>
              <p:cNvSpPr/>
              <p:nvPr/>
            </p:nvSpPr>
            <p:spPr>
              <a:xfrm>
                <a:off x="3072806" y="5472394"/>
                <a:ext cx="160020" cy="160020"/>
              </a:xfrm>
              <a:prstGeom prst="ellipse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Right Arrow 21">
              <a:extLst>
                <a:ext uri="{FF2B5EF4-FFF2-40B4-BE49-F238E27FC236}">
                  <a16:creationId xmlns:a16="http://schemas.microsoft.com/office/drawing/2014/main" id="{4BD94641-EA8D-8B5F-B5BC-45BD7823B880}"/>
                </a:ext>
              </a:extLst>
            </p:cNvPr>
            <p:cNvSpPr/>
            <p:nvPr/>
          </p:nvSpPr>
          <p:spPr>
            <a:xfrm>
              <a:off x="3117240" y="5819090"/>
              <a:ext cx="201835" cy="203222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ight Arrow 22">
              <a:extLst>
                <a:ext uri="{FF2B5EF4-FFF2-40B4-BE49-F238E27FC236}">
                  <a16:creationId xmlns:a16="http://schemas.microsoft.com/office/drawing/2014/main" id="{0A495C02-F51A-3E75-F80F-9B9FDD4AD4EF}"/>
                </a:ext>
              </a:extLst>
            </p:cNvPr>
            <p:cNvSpPr/>
            <p:nvPr/>
          </p:nvSpPr>
          <p:spPr>
            <a:xfrm rot="21156139">
              <a:off x="3087197" y="4582961"/>
              <a:ext cx="201835" cy="203222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19358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F7BB53-63CC-83FD-12D7-B83E45BA8279}"/>
              </a:ext>
            </a:extLst>
          </p:cNvPr>
          <p:cNvSpPr txBox="1"/>
          <p:nvPr/>
        </p:nvSpPr>
        <p:spPr>
          <a:xfrm>
            <a:off x="0" y="0"/>
            <a:ext cx="1219199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 learned how to take advantage of other functions too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C6B8BB-E1A9-C903-6929-0AF7AEF5B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57" y="606757"/>
            <a:ext cx="10869709" cy="78653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FC157E4-93C6-ACA0-E57F-12862C7B8F48}"/>
              </a:ext>
            </a:extLst>
          </p:cNvPr>
          <p:cNvGrpSpPr>
            <a:grpSpLocks noChangeAspect="1"/>
          </p:cNvGrpSpPr>
          <p:nvPr/>
        </p:nvGrpSpPr>
        <p:grpSpPr>
          <a:xfrm>
            <a:off x="2621749" y="1509042"/>
            <a:ext cx="4595539" cy="3433347"/>
            <a:chOff x="2181912" y="1927225"/>
            <a:chExt cx="5773367" cy="4313307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39207B0-2083-07EE-17E5-8BA1671C0F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81912" y="1927225"/>
              <a:ext cx="5773367" cy="4313307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446CB8D-5830-A74A-60B3-3FB9D91997D0}"/>
                </a:ext>
              </a:extLst>
            </p:cNvPr>
            <p:cNvSpPr/>
            <p:nvPr/>
          </p:nvSpPr>
          <p:spPr>
            <a:xfrm>
              <a:off x="2829755" y="4477541"/>
              <a:ext cx="160020" cy="160020"/>
            </a:xfrm>
            <a:prstGeom prst="ellipse">
              <a:avLst/>
            </a:prstGeom>
            <a:solidFill>
              <a:schemeClr val="tx1">
                <a:alpha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1CC38FB-8BBD-12B9-B812-F40403BDA92A}"/>
                </a:ext>
              </a:extLst>
            </p:cNvPr>
            <p:cNvSpPr/>
            <p:nvPr/>
          </p:nvSpPr>
          <p:spPr>
            <a:xfrm>
              <a:off x="2841070" y="5492118"/>
              <a:ext cx="160020" cy="160020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529248B-2FCD-8C5B-F282-09893D0F11E6}"/>
                </a:ext>
              </a:extLst>
            </p:cNvPr>
            <p:cNvSpPr/>
            <p:nvPr/>
          </p:nvSpPr>
          <p:spPr>
            <a:xfrm>
              <a:off x="7410287" y="2646047"/>
              <a:ext cx="160020" cy="16002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49CA3A9-8FCC-ADB1-BAB7-FAAA7B220B84}"/>
                </a:ext>
              </a:extLst>
            </p:cNvPr>
            <p:cNvSpPr/>
            <p:nvPr/>
          </p:nvSpPr>
          <p:spPr>
            <a:xfrm>
              <a:off x="7410287" y="4207902"/>
              <a:ext cx="160020" cy="160020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B0E622DE-AD56-7ED1-506F-E5F4E8145DE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2205"/>
          <a:stretch/>
        </p:blipFill>
        <p:spPr>
          <a:xfrm>
            <a:off x="162657" y="5013542"/>
            <a:ext cx="10171399" cy="44970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184275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F7BB53-63CC-83FD-12D7-B83E45BA8279}"/>
              </a:ext>
            </a:extLst>
          </p:cNvPr>
          <p:cNvSpPr txBox="1"/>
          <p:nvPr/>
        </p:nvSpPr>
        <p:spPr>
          <a:xfrm>
            <a:off x="0" y="0"/>
            <a:ext cx="1219199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 learned how to take advantage of other functions too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C6B8BB-E1A9-C903-6929-0AF7AEF5B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57" y="606757"/>
            <a:ext cx="10869709" cy="78653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FC157E4-93C6-ACA0-E57F-12862C7B8F48}"/>
              </a:ext>
            </a:extLst>
          </p:cNvPr>
          <p:cNvGrpSpPr>
            <a:grpSpLocks noChangeAspect="1"/>
          </p:cNvGrpSpPr>
          <p:nvPr/>
        </p:nvGrpSpPr>
        <p:grpSpPr>
          <a:xfrm>
            <a:off x="2621749" y="1509042"/>
            <a:ext cx="4595539" cy="3433347"/>
            <a:chOff x="2181912" y="1927225"/>
            <a:chExt cx="5773367" cy="4313307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39207B0-2083-07EE-17E5-8BA1671C0F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81912" y="1927225"/>
              <a:ext cx="5773367" cy="4313307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446CB8D-5830-A74A-60B3-3FB9D91997D0}"/>
                </a:ext>
              </a:extLst>
            </p:cNvPr>
            <p:cNvSpPr/>
            <p:nvPr/>
          </p:nvSpPr>
          <p:spPr>
            <a:xfrm>
              <a:off x="2829755" y="4477541"/>
              <a:ext cx="160020" cy="160020"/>
            </a:xfrm>
            <a:prstGeom prst="ellipse">
              <a:avLst/>
            </a:prstGeom>
            <a:solidFill>
              <a:schemeClr val="tx1">
                <a:alpha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1CC38FB-8BBD-12B9-B812-F40403BDA92A}"/>
                </a:ext>
              </a:extLst>
            </p:cNvPr>
            <p:cNvSpPr/>
            <p:nvPr/>
          </p:nvSpPr>
          <p:spPr>
            <a:xfrm>
              <a:off x="2841070" y="5492118"/>
              <a:ext cx="160020" cy="160020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529248B-2FCD-8C5B-F282-09893D0F11E6}"/>
                </a:ext>
              </a:extLst>
            </p:cNvPr>
            <p:cNvSpPr/>
            <p:nvPr/>
          </p:nvSpPr>
          <p:spPr>
            <a:xfrm>
              <a:off x="7410287" y="2646047"/>
              <a:ext cx="160020" cy="16002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49CA3A9-8FCC-ADB1-BAB7-FAAA7B220B84}"/>
                </a:ext>
              </a:extLst>
            </p:cNvPr>
            <p:cNvSpPr/>
            <p:nvPr/>
          </p:nvSpPr>
          <p:spPr>
            <a:xfrm>
              <a:off x="7410287" y="4207902"/>
              <a:ext cx="160020" cy="160020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2EBA6B3C-0C6F-4C0F-3D58-8EE9E61C2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636" y="5016413"/>
            <a:ext cx="10171399" cy="161793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4D572C-B786-03A3-2E88-A3CF36132E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0871" y="1538387"/>
            <a:ext cx="2158079" cy="16765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4F60DC0-1E74-22CA-499F-B98ABD8933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0923" y="2945830"/>
            <a:ext cx="2293697" cy="172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647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5FA501-585D-ED60-7FE6-F3C502CE10D6}"/>
                  </a:ext>
                </a:extLst>
              </p:cNvPr>
              <p:cNvSpPr txBox="1"/>
              <p:nvPr/>
            </p:nvSpPr>
            <p:spPr>
              <a:xfrm>
                <a:off x="0" y="-11575"/>
                <a:ext cx="12192000" cy="4955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 point of Cambio 2.0 is to 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𝒂𝒏𝒐𝒎𝒂𝒍𝒚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1" dirty="0"/>
                  <a:t>to take into account the </a:t>
                </a:r>
                <a:r>
                  <a:rPr lang="en-US" sz="2400" b="1" i="1" dirty="0"/>
                  <a:t>Henry effect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5FA501-585D-ED60-7FE6-F3C502CE1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11575"/>
                <a:ext cx="12192000" cy="495520"/>
              </a:xfrm>
              <a:prstGeom prst="rect">
                <a:avLst/>
              </a:prstGeom>
              <a:blipFill>
                <a:blip r:embed="rId2"/>
                <a:stretch>
                  <a:fillRect l="-832" t="-769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77E57A5E-AAD4-8F8F-13CA-9F19B95AAF30}"/>
              </a:ext>
            </a:extLst>
          </p:cNvPr>
          <p:cNvSpPr txBox="1"/>
          <p:nvPr/>
        </p:nvSpPr>
        <p:spPr>
          <a:xfrm>
            <a:off x="657743" y="1456744"/>
            <a:ext cx="51400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is the </a:t>
            </a:r>
            <a:r>
              <a:rPr lang="en-US" sz="2400" b="1" dirty="0"/>
              <a:t>Henry effect</a:t>
            </a:r>
            <a:r>
              <a:rPr lang="en-US" sz="2400" dirty="0"/>
              <a:t>, whereby  gases are less soluble in warmer oceans.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29A5E5C-5FE2-308C-12FC-537726018494}"/>
              </a:ext>
            </a:extLst>
          </p:cNvPr>
          <p:cNvGrpSpPr>
            <a:grpSpLocks noChangeAspect="1"/>
          </p:cNvGrpSpPr>
          <p:nvPr/>
        </p:nvGrpSpPr>
        <p:grpSpPr>
          <a:xfrm>
            <a:off x="122128" y="2484118"/>
            <a:ext cx="6384174" cy="4256116"/>
            <a:chOff x="279002" y="814200"/>
            <a:chExt cx="7739820" cy="5159880"/>
          </a:xfrm>
        </p:grpSpPr>
        <p:pic>
          <p:nvPicPr>
            <p:cNvPr id="3" name="Picture 2" descr="Draft diagram of the carbon cycle.">
              <a:extLst>
                <a:ext uri="{FF2B5EF4-FFF2-40B4-BE49-F238E27FC236}">
                  <a16:creationId xmlns:a16="http://schemas.microsoft.com/office/drawing/2014/main" id="{9F2083BC-7B8A-5D0F-5257-C6CF1E81B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9002" y="814200"/>
              <a:ext cx="7739820" cy="5159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Frame 3">
              <a:extLst>
                <a:ext uri="{FF2B5EF4-FFF2-40B4-BE49-F238E27FC236}">
                  <a16:creationId xmlns:a16="http://schemas.microsoft.com/office/drawing/2014/main" id="{FE66E050-A33E-09BC-B7FA-4F155836106F}"/>
                </a:ext>
              </a:extLst>
            </p:cNvPr>
            <p:cNvSpPr/>
            <p:nvPr/>
          </p:nvSpPr>
          <p:spPr>
            <a:xfrm>
              <a:off x="6509084" y="2123364"/>
              <a:ext cx="733926" cy="415302"/>
            </a:xfrm>
            <a:prstGeom prst="fram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99E46A8-9E8E-B820-D569-328222DBA9A0}"/>
                  </a:ext>
                </a:extLst>
              </p:cNvPr>
              <p:cNvSpPr txBox="1"/>
              <p:nvPr/>
            </p:nvSpPr>
            <p:spPr>
              <a:xfrm>
                <a:off x="282216" y="975687"/>
                <a:ext cx="6384174" cy="49084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𝑜𝑐𝑒𝑎𝑛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𝑎𝑡𝑚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𝑜𝑎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×(1+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𝑎𝑛𝑜𝑚𝑎𝑙𝑦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)[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𝑜𝑐𝑒𝑎𝑛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99E46A8-9E8E-B820-D569-328222DBA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16" y="975687"/>
                <a:ext cx="6384174" cy="490840"/>
              </a:xfrm>
              <a:prstGeom prst="rect">
                <a:avLst/>
              </a:prstGeom>
              <a:blipFill>
                <a:blip r:embed="rId4"/>
                <a:stretch>
                  <a:fillRect r="-198" b="-731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CE9A834A-C7DE-E9A1-C16D-B3E40D683C38}"/>
              </a:ext>
            </a:extLst>
          </p:cNvPr>
          <p:cNvGrpSpPr/>
          <p:nvPr/>
        </p:nvGrpSpPr>
        <p:grpSpPr>
          <a:xfrm>
            <a:off x="7213213" y="3122582"/>
            <a:ext cx="4553560" cy="3715492"/>
            <a:chOff x="7345217" y="2261748"/>
            <a:chExt cx="4553560" cy="3715492"/>
          </a:xfrm>
        </p:grpSpPr>
        <p:pic>
          <p:nvPicPr>
            <p:cNvPr id="18" name="Picture 2">
              <a:extLst>
                <a:ext uri="{FF2B5EF4-FFF2-40B4-BE49-F238E27FC236}">
                  <a16:creationId xmlns:a16="http://schemas.microsoft.com/office/drawing/2014/main" id="{B832081A-61B2-55B7-34FD-130559961FE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546"/>
            <a:stretch/>
          </p:blipFill>
          <p:spPr bwMode="auto">
            <a:xfrm>
              <a:off x="7345217" y="2261748"/>
              <a:ext cx="4553560" cy="3224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C0C6B0E-2D43-AE8E-F3DC-033AD57BA845}"/>
                    </a:ext>
                  </a:extLst>
                </p:cNvPr>
                <p:cNvSpPr txBox="1"/>
                <p:nvPr/>
              </p:nvSpPr>
              <p:spPr>
                <a:xfrm>
                  <a:off x="8089900" y="2712889"/>
                  <a:ext cx="186199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𝑜𝑐𝑒𝑎𝑛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𝑎𝑡𝑚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C0C6B0E-2D43-AE8E-F3DC-033AD57BA8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9900" y="2712889"/>
                  <a:ext cx="1861992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25F4B45-C4E4-2424-B1A6-5001F1727B0D}"/>
                    </a:ext>
                  </a:extLst>
                </p:cNvPr>
                <p:cNvSpPr txBox="1"/>
                <p:nvPr/>
              </p:nvSpPr>
              <p:spPr>
                <a:xfrm>
                  <a:off x="8826500" y="5486400"/>
                  <a:ext cx="1861992" cy="49084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𝑎𝑛𝑜𝑚𝑎𝑙𝑦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25F4B45-C4E4-2424-B1A6-5001F1727B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6500" y="5486400"/>
                  <a:ext cx="1861992" cy="490840"/>
                </a:xfrm>
                <a:prstGeom prst="rect">
                  <a:avLst/>
                </a:prstGeom>
                <a:blipFill>
                  <a:blip r:embed="rId7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FA10CA0-61EC-B8A4-7A99-3773D0756D9F}"/>
              </a:ext>
            </a:extLst>
          </p:cNvPr>
          <p:cNvGrpSpPr>
            <a:grpSpLocks noChangeAspect="1"/>
          </p:cNvGrpSpPr>
          <p:nvPr/>
        </p:nvGrpSpPr>
        <p:grpSpPr>
          <a:xfrm>
            <a:off x="7625035" y="912628"/>
            <a:ext cx="3614814" cy="2493914"/>
            <a:chOff x="371474" y="1402078"/>
            <a:chExt cx="6400801" cy="426053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A7D2EB0-6CC9-C5B4-4FB6-A490C7D1D58B}"/>
                </a:ext>
              </a:extLst>
            </p:cNvPr>
            <p:cNvGrpSpPr/>
            <p:nvPr/>
          </p:nvGrpSpPr>
          <p:grpSpPr>
            <a:xfrm>
              <a:off x="371474" y="1402078"/>
              <a:ext cx="6400801" cy="4260533"/>
              <a:chOff x="2771774" y="2230753"/>
              <a:chExt cx="6400801" cy="4260533"/>
            </a:xfrm>
          </p:grpSpPr>
          <p:pic>
            <p:nvPicPr>
              <p:cNvPr id="11" name="Picture 2">
                <a:extLst>
                  <a:ext uri="{FF2B5EF4-FFF2-40B4-BE49-F238E27FC236}">
                    <a16:creationId xmlns:a16="http://schemas.microsoft.com/office/drawing/2014/main" id="{566C3237-1B00-8C0B-A298-1CC37D206C9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71774" y="2230753"/>
                <a:ext cx="6400801" cy="426053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" name="Up Arrow 11">
                <a:extLst>
                  <a:ext uri="{FF2B5EF4-FFF2-40B4-BE49-F238E27FC236}">
                    <a16:creationId xmlns:a16="http://schemas.microsoft.com/office/drawing/2014/main" id="{97601EAD-2B01-62CE-0D98-53783A5390C6}"/>
                  </a:ext>
                </a:extLst>
              </p:cNvPr>
              <p:cNvSpPr/>
              <p:nvPr/>
            </p:nvSpPr>
            <p:spPr>
              <a:xfrm>
                <a:off x="6443663" y="2386013"/>
                <a:ext cx="528637" cy="2043113"/>
              </a:xfrm>
              <a:prstGeom prst="upArrow">
                <a:avLst/>
              </a:prstGeom>
              <a:solidFill>
                <a:schemeClr val="accent2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Up Arrow 12">
                <a:extLst>
                  <a:ext uri="{FF2B5EF4-FFF2-40B4-BE49-F238E27FC236}">
                    <a16:creationId xmlns:a16="http://schemas.microsoft.com/office/drawing/2014/main" id="{4B9272BA-22F4-FA26-9828-1487AC033E2C}"/>
                  </a:ext>
                </a:extLst>
              </p:cNvPr>
              <p:cNvSpPr/>
              <p:nvPr/>
            </p:nvSpPr>
            <p:spPr>
              <a:xfrm>
                <a:off x="4343400" y="3095625"/>
                <a:ext cx="528637" cy="1081088"/>
              </a:xfrm>
              <a:prstGeom prst="upArrow">
                <a:avLst/>
              </a:prstGeom>
              <a:solidFill>
                <a:schemeClr val="accent2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607DC5E-5DBF-AF6A-58E7-608CB643DD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46097" t="56698" r="35555" b="33092"/>
            <a:stretch/>
          </p:blipFill>
          <p:spPr>
            <a:xfrm>
              <a:off x="2085971" y="1510572"/>
              <a:ext cx="1762124" cy="560768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11B2A7F-A92C-64FA-822A-75CC9D2A649A}"/>
                </a:ext>
              </a:extLst>
            </p:cNvPr>
            <p:cNvSpPr txBox="1"/>
            <p:nvPr/>
          </p:nvSpPr>
          <p:spPr>
            <a:xfrm>
              <a:off x="1204911" y="3929063"/>
              <a:ext cx="1762123" cy="126702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Cold ocean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9C9BECF-7730-5F05-03DE-F298B8E56ED1}"/>
                </a:ext>
              </a:extLst>
            </p:cNvPr>
            <p:cNvSpPr txBox="1"/>
            <p:nvPr/>
          </p:nvSpPr>
          <p:spPr>
            <a:xfrm>
              <a:off x="3509323" y="4085465"/>
              <a:ext cx="2125350" cy="126702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Warm ocean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9910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C7C58A5-C6DF-5140-B42C-771BB4BF5F67}"/>
              </a:ext>
            </a:extLst>
          </p:cNvPr>
          <p:cNvSpPr txBox="1"/>
          <p:nvPr/>
        </p:nvSpPr>
        <p:spPr>
          <a:xfrm>
            <a:off x="0" y="-3338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Lessons from Cambio 2.0: as several of you noted, the temperature impact is not great 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392B2B-D2A3-490F-54D2-7F252D74B2E7}"/>
                  </a:ext>
                </a:extLst>
              </p:cNvPr>
              <p:cNvSpPr txBox="1"/>
              <p:nvPr/>
            </p:nvSpPr>
            <p:spPr>
              <a:xfrm>
                <a:off x="1032082" y="5138228"/>
                <a:ext cx="6087104" cy="830997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Cambio 2.0’s peak temperature seems to be about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0.1 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2400" dirty="0"/>
                  <a:t> higher than Cambio 1.0. 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392B2B-D2A3-490F-54D2-7F252D74B2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082" y="5138228"/>
                <a:ext cx="6087104" cy="830997"/>
              </a:xfrm>
              <a:prstGeom prst="rect">
                <a:avLst/>
              </a:prstGeom>
              <a:blipFill>
                <a:blip r:embed="rId2"/>
                <a:stretch>
                  <a:fillRect l="-1452" t="-5970" b="-1492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75CA7D1D-5D8D-F982-F96E-0FA18AAE753D}"/>
              </a:ext>
            </a:extLst>
          </p:cNvPr>
          <p:cNvGrpSpPr>
            <a:grpSpLocks noChangeAspect="1"/>
          </p:cNvGrpSpPr>
          <p:nvPr/>
        </p:nvGrpSpPr>
        <p:grpSpPr>
          <a:xfrm>
            <a:off x="413306" y="530996"/>
            <a:ext cx="10945154" cy="4266508"/>
            <a:chOff x="413305" y="1586376"/>
            <a:chExt cx="7491333" cy="292018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207E073-5AA9-B43E-8E08-C6BD1D8FC5F1}"/>
                </a:ext>
              </a:extLst>
            </p:cNvPr>
            <p:cNvSpPr txBox="1"/>
            <p:nvPr/>
          </p:nvSpPr>
          <p:spPr>
            <a:xfrm>
              <a:off x="4613161" y="1586376"/>
              <a:ext cx="26289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Cambio 2.0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A1F81B8-86B5-9BD9-F00B-787040837680}"/>
                </a:ext>
              </a:extLst>
            </p:cNvPr>
            <p:cNvSpPr txBox="1"/>
            <p:nvPr/>
          </p:nvSpPr>
          <p:spPr>
            <a:xfrm>
              <a:off x="1177468" y="1609634"/>
              <a:ext cx="26289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Cambio 1.0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CAC512A-92DE-0519-BB17-92F416BEC53B}"/>
                </a:ext>
              </a:extLst>
            </p:cNvPr>
            <p:cNvGrpSpPr/>
            <p:nvPr/>
          </p:nvGrpSpPr>
          <p:grpSpPr>
            <a:xfrm>
              <a:off x="413305" y="1957332"/>
              <a:ext cx="7491333" cy="2549225"/>
              <a:chOff x="413305" y="1957332"/>
              <a:chExt cx="7491333" cy="2549225"/>
            </a:xfrm>
          </p:grpSpPr>
          <p:pic>
            <p:nvPicPr>
              <p:cNvPr id="25" name="Picture 32">
                <a:extLst>
                  <a:ext uri="{FF2B5EF4-FFF2-40B4-BE49-F238E27FC236}">
                    <a16:creationId xmlns:a16="http://schemas.microsoft.com/office/drawing/2014/main" id="{E61B775C-2219-06F3-1993-7C52AFA85C0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1400"/>
              <a:stretch/>
            </p:blipFill>
            <p:spPr bwMode="auto">
              <a:xfrm>
                <a:off x="413305" y="2032082"/>
                <a:ext cx="3715812" cy="24683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7" name="Picture 4">
                <a:extLst>
                  <a:ext uri="{FF2B5EF4-FFF2-40B4-BE49-F238E27FC236}">
                    <a16:creationId xmlns:a16="http://schemas.microsoft.com/office/drawing/2014/main" id="{A601703A-8C31-E6A4-C41E-CE8C9BB626A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1642"/>
              <a:stretch/>
            </p:blipFill>
            <p:spPr bwMode="auto">
              <a:xfrm>
                <a:off x="4056519" y="1957332"/>
                <a:ext cx="3848119" cy="25492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A23D56BA-4331-C525-2883-1F1C57E0BC41}"/>
                  </a:ext>
                </a:extLst>
              </p:cNvPr>
              <p:cNvCxnSpPr/>
              <p:nvPr/>
            </p:nvCxnSpPr>
            <p:spPr>
              <a:xfrm>
                <a:off x="2674620" y="2130815"/>
                <a:ext cx="4184641" cy="0"/>
              </a:xfrm>
              <a:prstGeom prst="line">
                <a:avLst/>
              </a:prstGeom>
              <a:ln w="38100">
                <a:solidFill>
                  <a:srgbClr val="FF0000">
                    <a:alpha val="40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6338E8C-B0DE-4CBC-9214-FDCA4E49FA06}"/>
              </a:ext>
            </a:extLst>
          </p:cNvPr>
          <p:cNvGrpSpPr>
            <a:grpSpLocks noChangeAspect="1"/>
          </p:cNvGrpSpPr>
          <p:nvPr/>
        </p:nvGrpSpPr>
        <p:grpSpPr>
          <a:xfrm>
            <a:off x="8652510" y="4731936"/>
            <a:ext cx="2607927" cy="1799248"/>
            <a:chOff x="371474" y="1402078"/>
            <a:chExt cx="6400801" cy="426053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C6F4F74-DEAE-C9FC-2590-89A321F7017F}"/>
                </a:ext>
              </a:extLst>
            </p:cNvPr>
            <p:cNvGrpSpPr/>
            <p:nvPr/>
          </p:nvGrpSpPr>
          <p:grpSpPr>
            <a:xfrm>
              <a:off x="371474" y="1402078"/>
              <a:ext cx="6400801" cy="4260533"/>
              <a:chOff x="2771774" y="2230753"/>
              <a:chExt cx="6400801" cy="4260533"/>
            </a:xfrm>
          </p:grpSpPr>
          <p:pic>
            <p:nvPicPr>
              <p:cNvPr id="24" name="Picture 2">
                <a:extLst>
                  <a:ext uri="{FF2B5EF4-FFF2-40B4-BE49-F238E27FC236}">
                    <a16:creationId xmlns:a16="http://schemas.microsoft.com/office/drawing/2014/main" id="{956F954B-6976-8835-0DA0-14C1FC962D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71774" y="2230753"/>
                <a:ext cx="6400801" cy="426053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6" name="Up Arrow 25">
                <a:extLst>
                  <a:ext uri="{FF2B5EF4-FFF2-40B4-BE49-F238E27FC236}">
                    <a16:creationId xmlns:a16="http://schemas.microsoft.com/office/drawing/2014/main" id="{2691E337-D419-F5F3-B346-5BA4CB63F613}"/>
                  </a:ext>
                </a:extLst>
              </p:cNvPr>
              <p:cNvSpPr/>
              <p:nvPr/>
            </p:nvSpPr>
            <p:spPr>
              <a:xfrm>
                <a:off x="6443663" y="2386013"/>
                <a:ext cx="528637" cy="2043113"/>
              </a:xfrm>
              <a:prstGeom prst="upArrow">
                <a:avLst/>
              </a:prstGeom>
              <a:solidFill>
                <a:schemeClr val="accent2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Up Arrow 27">
                <a:extLst>
                  <a:ext uri="{FF2B5EF4-FFF2-40B4-BE49-F238E27FC236}">
                    <a16:creationId xmlns:a16="http://schemas.microsoft.com/office/drawing/2014/main" id="{A6B46E8F-783C-1E0D-BFE2-12C27ED99062}"/>
                  </a:ext>
                </a:extLst>
              </p:cNvPr>
              <p:cNvSpPr/>
              <p:nvPr/>
            </p:nvSpPr>
            <p:spPr>
              <a:xfrm>
                <a:off x="4343400" y="3095625"/>
                <a:ext cx="528637" cy="1081088"/>
              </a:xfrm>
              <a:prstGeom prst="upArrow">
                <a:avLst/>
              </a:prstGeom>
              <a:solidFill>
                <a:schemeClr val="accent2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AE755D3-07CB-45CC-3DCC-7930E7478E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46097" t="56698" r="35555" b="33092"/>
            <a:stretch/>
          </p:blipFill>
          <p:spPr>
            <a:xfrm>
              <a:off x="2085971" y="1510572"/>
              <a:ext cx="1762124" cy="560768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ED085E2-F4FE-788E-3BA6-7BADF2DB9C6B}"/>
                </a:ext>
              </a:extLst>
            </p:cNvPr>
            <p:cNvSpPr txBox="1"/>
            <p:nvPr/>
          </p:nvSpPr>
          <p:spPr>
            <a:xfrm>
              <a:off x="1204909" y="3929063"/>
              <a:ext cx="2304411" cy="154359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Cold ocean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903554D-70ED-517C-B943-159C03E84B44}"/>
                </a:ext>
              </a:extLst>
            </p:cNvPr>
            <p:cNvSpPr txBox="1"/>
            <p:nvPr/>
          </p:nvSpPr>
          <p:spPr>
            <a:xfrm>
              <a:off x="3509322" y="4085465"/>
              <a:ext cx="2125351" cy="154359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Warm ocean</a:t>
              </a:r>
            </a:p>
          </p:txBody>
        </p:sp>
      </p:grpSp>
      <p:pic>
        <p:nvPicPr>
          <p:cNvPr id="1026" name="Picture 2" descr="Smiley Face Emoji Symbol Icon Isolated Vector Stock Vector - Illustration of cheerful, friendly ...">
            <a:extLst>
              <a:ext uri="{FF2B5EF4-FFF2-40B4-BE49-F238E27FC236}">
                <a16:creationId xmlns:a16="http://schemas.microsoft.com/office/drawing/2014/main" id="{28110C85-E8E3-3D4D-BC59-43043E66A7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868"/>
          <a:stretch/>
        </p:blipFill>
        <p:spPr bwMode="auto">
          <a:xfrm>
            <a:off x="10796935" y="732254"/>
            <a:ext cx="1153430" cy="1098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9918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C7C58A5-C6DF-5140-B42C-771BB4BF5F67}"/>
              </a:ext>
            </a:extLst>
          </p:cNvPr>
          <p:cNvSpPr txBox="1"/>
          <p:nvPr/>
        </p:nvSpPr>
        <p:spPr>
          <a:xfrm>
            <a:off x="0" y="-3338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… but it’s also true that our negative feedbacks helped compensate for one another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392B2B-D2A3-490F-54D2-7F252D74B2E7}"/>
              </a:ext>
            </a:extLst>
          </p:cNvPr>
          <p:cNvSpPr txBox="1"/>
          <p:nvPr/>
        </p:nvSpPr>
        <p:spPr>
          <a:xfrm>
            <a:off x="828993" y="4990752"/>
            <a:ext cx="7325461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Discuss in small groups:</a:t>
            </a:r>
          </a:p>
          <a:p>
            <a:r>
              <a:rPr lang="en-US" sz="2400" dirty="0"/>
              <a:t>We know why Cambio 2.0 has less sequestration by oceans. But why is there </a:t>
            </a:r>
            <a:r>
              <a:rPr lang="en-US" sz="2400" i="1" dirty="0"/>
              <a:t>more</a:t>
            </a:r>
            <a:r>
              <a:rPr lang="en-US" sz="2400" dirty="0"/>
              <a:t> terrestrial sequestration?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37DDDF2-C8FD-4731-76A5-BEF79DDAE4DD}"/>
              </a:ext>
            </a:extLst>
          </p:cNvPr>
          <p:cNvGrpSpPr/>
          <p:nvPr/>
        </p:nvGrpSpPr>
        <p:grpSpPr>
          <a:xfrm>
            <a:off x="413307" y="531990"/>
            <a:ext cx="10655030" cy="4218369"/>
            <a:chOff x="413307" y="932040"/>
            <a:chExt cx="10655030" cy="4218369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0B2E3F6-EE1E-6D58-3F50-26516CA4A6D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13307" y="1419560"/>
              <a:ext cx="10655030" cy="3730849"/>
              <a:chOff x="413307" y="1430990"/>
              <a:chExt cx="7084208" cy="2480529"/>
            </a:xfrm>
          </p:grpSpPr>
          <p:pic>
            <p:nvPicPr>
              <p:cNvPr id="9" name="Picture 2">
                <a:extLst>
                  <a:ext uri="{FF2B5EF4-FFF2-40B4-BE49-F238E27FC236}">
                    <a16:creationId xmlns:a16="http://schemas.microsoft.com/office/drawing/2014/main" id="{5FC99025-DCAF-DD9B-EEAB-737159B8E3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0961"/>
              <a:stretch/>
            </p:blipFill>
            <p:spPr bwMode="auto">
              <a:xfrm>
                <a:off x="3781700" y="1430990"/>
                <a:ext cx="3715815" cy="24805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3" name="Picture 28">
                <a:extLst>
                  <a:ext uri="{FF2B5EF4-FFF2-40B4-BE49-F238E27FC236}">
                    <a16:creationId xmlns:a16="http://schemas.microsoft.com/office/drawing/2014/main" id="{239781EA-5996-E882-5DFB-C7DF32DBC5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1279"/>
              <a:stretch/>
            </p:blipFill>
            <p:spPr bwMode="auto">
              <a:xfrm>
                <a:off x="413307" y="1443214"/>
                <a:ext cx="3656848" cy="24324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207E073-5AA9-B43E-8E08-C6BD1D8FC5F1}"/>
                </a:ext>
              </a:extLst>
            </p:cNvPr>
            <p:cNvSpPr txBox="1"/>
            <p:nvPr/>
          </p:nvSpPr>
          <p:spPr>
            <a:xfrm>
              <a:off x="7153804" y="932040"/>
              <a:ext cx="26289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Cambio 2.0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A1F81B8-86B5-9BD9-F00B-787040837680}"/>
                </a:ext>
              </a:extLst>
            </p:cNvPr>
            <p:cNvSpPr txBox="1"/>
            <p:nvPr/>
          </p:nvSpPr>
          <p:spPr>
            <a:xfrm>
              <a:off x="2135838" y="967088"/>
              <a:ext cx="26289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Cambio 1.0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183CF48-25AB-93AF-A38E-1772A7656412}"/>
              </a:ext>
            </a:extLst>
          </p:cNvPr>
          <p:cNvGrpSpPr>
            <a:grpSpLocks noChangeAspect="1"/>
          </p:cNvGrpSpPr>
          <p:nvPr/>
        </p:nvGrpSpPr>
        <p:grpSpPr>
          <a:xfrm>
            <a:off x="8652510" y="4731936"/>
            <a:ext cx="2607927" cy="1799248"/>
            <a:chOff x="371474" y="1402078"/>
            <a:chExt cx="6400801" cy="426053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4C6AC2B-E678-6592-1C4E-2532AA4E5987}"/>
                </a:ext>
              </a:extLst>
            </p:cNvPr>
            <p:cNvGrpSpPr/>
            <p:nvPr/>
          </p:nvGrpSpPr>
          <p:grpSpPr>
            <a:xfrm>
              <a:off x="371474" y="1402078"/>
              <a:ext cx="6400801" cy="4260533"/>
              <a:chOff x="2771774" y="2230753"/>
              <a:chExt cx="6400801" cy="4260533"/>
            </a:xfrm>
          </p:grpSpPr>
          <p:pic>
            <p:nvPicPr>
              <p:cNvPr id="11" name="Picture 2">
                <a:extLst>
                  <a:ext uri="{FF2B5EF4-FFF2-40B4-BE49-F238E27FC236}">
                    <a16:creationId xmlns:a16="http://schemas.microsoft.com/office/drawing/2014/main" id="{E70097EA-7C0B-03C0-4F46-690640D299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71774" y="2230753"/>
                <a:ext cx="6400801" cy="426053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2" name="Up Arrow 21">
                <a:extLst>
                  <a:ext uri="{FF2B5EF4-FFF2-40B4-BE49-F238E27FC236}">
                    <a16:creationId xmlns:a16="http://schemas.microsoft.com/office/drawing/2014/main" id="{701EB18E-C9BE-DBA0-7ED5-4CAA63E3934E}"/>
                  </a:ext>
                </a:extLst>
              </p:cNvPr>
              <p:cNvSpPr/>
              <p:nvPr/>
            </p:nvSpPr>
            <p:spPr>
              <a:xfrm>
                <a:off x="6443663" y="2386013"/>
                <a:ext cx="528637" cy="2043113"/>
              </a:xfrm>
              <a:prstGeom prst="upArrow">
                <a:avLst/>
              </a:prstGeom>
              <a:solidFill>
                <a:schemeClr val="accent2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Up Arrow 23">
                <a:extLst>
                  <a:ext uri="{FF2B5EF4-FFF2-40B4-BE49-F238E27FC236}">
                    <a16:creationId xmlns:a16="http://schemas.microsoft.com/office/drawing/2014/main" id="{CBC3E251-C825-04E3-3688-A6DAA8CCB385}"/>
                  </a:ext>
                </a:extLst>
              </p:cNvPr>
              <p:cNvSpPr/>
              <p:nvPr/>
            </p:nvSpPr>
            <p:spPr>
              <a:xfrm>
                <a:off x="4343400" y="3095625"/>
                <a:ext cx="528637" cy="1081088"/>
              </a:xfrm>
              <a:prstGeom prst="upArrow">
                <a:avLst/>
              </a:prstGeom>
              <a:solidFill>
                <a:schemeClr val="accent2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4FC3025-C189-9FD5-6BFE-394717B22A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6097" t="56698" r="35555" b="33092"/>
            <a:stretch/>
          </p:blipFill>
          <p:spPr>
            <a:xfrm>
              <a:off x="2085971" y="1510572"/>
              <a:ext cx="1762124" cy="560768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A76740C-257A-8AD0-6418-186ECFFB5F9E}"/>
                </a:ext>
              </a:extLst>
            </p:cNvPr>
            <p:cNvSpPr txBox="1"/>
            <p:nvPr/>
          </p:nvSpPr>
          <p:spPr>
            <a:xfrm>
              <a:off x="1204909" y="3929063"/>
              <a:ext cx="2304411" cy="154359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Cold ocean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70D6C45-74AE-D18C-A1A6-A7B6DC96E911}"/>
                </a:ext>
              </a:extLst>
            </p:cNvPr>
            <p:cNvSpPr txBox="1"/>
            <p:nvPr/>
          </p:nvSpPr>
          <p:spPr>
            <a:xfrm>
              <a:off x="3509322" y="4085465"/>
              <a:ext cx="2125351" cy="154359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Warm ocean</a:t>
              </a:r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AE5A449-85A2-8512-70EA-734B1713794A}"/>
              </a:ext>
            </a:extLst>
          </p:cNvPr>
          <p:cNvCxnSpPr/>
          <p:nvPr/>
        </p:nvCxnSpPr>
        <p:spPr>
          <a:xfrm>
            <a:off x="3614313" y="3715314"/>
            <a:ext cx="6113937" cy="0"/>
          </a:xfrm>
          <a:prstGeom prst="line">
            <a:avLst/>
          </a:prstGeom>
          <a:ln w="38100">
            <a:solidFill>
              <a:schemeClr val="accent1">
                <a:alpha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E3C98C2-5129-0FB1-0FC8-CA74FFC71069}"/>
              </a:ext>
            </a:extLst>
          </p:cNvPr>
          <p:cNvCxnSpPr/>
          <p:nvPr/>
        </p:nvCxnSpPr>
        <p:spPr>
          <a:xfrm>
            <a:off x="3720993" y="4096314"/>
            <a:ext cx="6113937" cy="0"/>
          </a:xfrm>
          <a:prstGeom prst="line">
            <a:avLst/>
          </a:prstGeom>
          <a:ln w="38100">
            <a:solidFill>
              <a:srgbClr val="C00000">
                <a:alpha val="4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Emojis De Whatsapp Babeando">
            <a:extLst>
              <a:ext uri="{FF2B5EF4-FFF2-40B4-BE49-F238E27FC236}">
                <a16:creationId xmlns:a16="http://schemas.microsoft.com/office/drawing/2014/main" id="{ACBB11C2-66E8-7517-3E38-A54BF86D9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806" y="797870"/>
            <a:ext cx="977887" cy="1024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72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3B4F300-CE60-A74D-A60A-3371E304E42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Next week, we’ll be diving into another feedback loop (ice/albedo)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B8FB22-97A7-2629-1022-01CAC302C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1" y="1608955"/>
            <a:ext cx="9407498" cy="483911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571403-8425-9473-3293-92C448520AB6}"/>
              </a:ext>
            </a:extLst>
          </p:cNvPr>
          <p:cNvSpPr txBox="1"/>
          <p:nvPr/>
        </p:nvSpPr>
        <p:spPr>
          <a:xfrm>
            <a:off x="6911806" y="911450"/>
            <a:ext cx="5011970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hlinkClick r:id="rId3"/>
              </a:rPr>
              <a:t>Climate Emergency: Feedback Loops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Director/Co-Writer: Susan Gray</a:t>
            </a:r>
          </a:p>
          <a:p>
            <a:r>
              <a:rPr lang="en-US" sz="2400" dirty="0"/>
              <a:t>Narrated by Richard Gere</a:t>
            </a:r>
          </a:p>
          <a:p>
            <a:endParaRPr lang="en-US" sz="2400" dirty="0"/>
          </a:p>
          <a:p>
            <a:r>
              <a:rPr lang="en-US" sz="2400" dirty="0"/>
              <a:t>~2021</a:t>
            </a:r>
          </a:p>
        </p:txBody>
      </p:sp>
    </p:spTree>
    <p:extLst>
      <p:ext uri="{BB962C8B-B14F-4D97-AF65-F5344CB8AC3E}">
        <p14:creationId xmlns:p14="http://schemas.microsoft.com/office/powerpoint/2010/main" val="4272154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3B4F300-CE60-A74D-A60A-3371E304E42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Mentioned in the Albedo video – “wet areas get wetter, dry areas get drier”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2B8200-D64C-7F58-1C50-DEA522A6F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99" y="559166"/>
            <a:ext cx="4899805" cy="252040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2" descr="Image result for hadley cells">
            <a:extLst>
              <a:ext uri="{FF2B5EF4-FFF2-40B4-BE49-F238E27FC236}">
                <a16:creationId xmlns:a16="http://schemas.microsoft.com/office/drawing/2014/main" id="{25E3922A-028A-D1BC-0CDC-FE4227B2A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875" y="1160954"/>
            <a:ext cx="8501101" cy="5454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8136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3B4F300-CE60-A74D-A60A-3371E304E42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Not mentioned in the Albedo video – indigenous voices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79CC242-8936-ACD5-B79C-106678828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09" y="714256"/>
            <a:ext cx="10764839" cy="585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964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370659-7373-8186-8633-EEAFB8369FB3}"/>
              </a:ext>
            </a:extLst>
          </p:cNvPr>
          <p:cNvSpPr txBox="1"/>
          <p:nvPr/>
        </p:nvSpPr>
        <p:spPr>
          <a:xfrm>
            <a:off x="0" y="267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Meanwhile, let’s finish these 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1EFF49-B189-605C-5C0B-0555B6708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649" y="543915"/>
            <a:ext cx="7264400" cy="20955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9B1B5C-1EC8-018A-376A-81D9699E16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674" y="2878564"/>
            <a:ext cx="8358518" cy="377871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830625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3990</TotalTime>
  <Words>280</Words>
  <Application>Microsoft Macintosh PowerPoint</Application>
  <PresentationFormat>Widescreen</PresentationFormat>
  <Paragraphs>37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57</cp:revision>
  <dcterms:created xsi:type="dcterms:W3CDTF">2023-10-27T13:32:49Z</dcterms:created>
  <dcterms:modified xsi:type="dcterms:W3CDTF">2025-11-02T05:13:06Z</dcterms:modified>
</cp:coreProperties>
</file>