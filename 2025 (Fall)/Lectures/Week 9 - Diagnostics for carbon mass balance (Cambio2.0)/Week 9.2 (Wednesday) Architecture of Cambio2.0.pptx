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002" r:id="rId2"/>
    <p:sldId id="2013" r:id="rId3"/>
    <p:sldId id="290" r:id="rId4"/>
    <p:sldId id="2014" r:id="rId5"/>
    <p:sldId id="1889" r:id="rId6"/>
    <p:sldId id="2015" r:id="rId7"/>
    <p:sldId id="197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303"/>
    <p:restoredTop sz="96281"/>
  </p:normalViewPr>
  <p:slideViewPr>
    <p:cSldViewPr snapToGrid="0" snapToObjects="1">
      <p:cViewPr varScale="1">
        <p:scale>
          <a:sx n="112" d="100"/>
          <a:sy n="112" d="100"/>
        </p:scale>
        <p:origin x="2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060258-58D3-2B47-9566-90CDCAEFD4D9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7FEFC5-CC41-4947-B3FA-457AD0082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844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Predict the temperature if CO2 continues to rise. If we reduce CO2 emissions to zero.</a:t>
            </a:r>
          </a:p>
        </p:txBody>
      </p:sp>
    </p:spTree>
    <p:extLst>
      <p:ext uri="{BB962C8B-B14F-4D97-AF65-F5344CB8AC3E}">
        <p14:creationId xmlns:p14="http://schemas.microsoft.com/office/powerpoint/2010/main" val="29640335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F26D-EA01-0046-AA88-2C5D246EFB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3FBB33-B080-B940-9EA3-9F46AC7864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2821E-ECB7-064C-BA4F-F217C9706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AE48D-33A2-D448-9847-C6846CBA070F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E7D31A-9DD8-EA45-9F6F-36C8BACD0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4723A4-6D48-E442-94F9-1D4600514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83789-8AE7-FC47-A1F4-A67FFCC474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663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6A3FA-3BB8-5F41-8C99-E419974D4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2EB9A-3775-E24B-9A1E-3D33970D8D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59E7FD-B74A-4B48-9B0A-B7A146025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AE48D-33A2-D448-9847-C6846CBA070F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B3CEED-9551-B74A-AB33-BB9476C35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9B7FDD-0BBC-CA4B-B4AE-3ED2B8A16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83789-8AE7-FC47-A1F4-A67FFCC474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814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4168A-3439-8240-A595-90B69D4F9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D8EA7B-3DF4-E84E-AB17-FD49C15F58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B54FD1-E34A-C14D-B574-6815316F3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AE48D-33A2-D448-9847-C6846CBA070F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506A47-8B45-B544-98AB-E9600AD9D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E117-1109-E045-B8BB-7FB6AB322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83789-8AE7-FC47-A1F4-A67FFCC474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157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512DA-DC8D-ED4C-92C2-258D8C2DE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393FD-45FF-1C4A-891E-5AD48615A0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104FD3-5135-744A-98AE-4B03AC81D2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33555D-D021-C842-B8CC-D288786A3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AE48D-33A2-D448-9847-C6846CBA070F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470D55-D66B-9942-B5B0-69E0B5A96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5DEFEE-6B5A-AD40-A52E-A5463A3AA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83789-8AE7-FC47-A1F4-A67FFCC474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256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46807-9CBC-8146-AE2B-C7DAF4FEB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D1DCDD-C4B1-A143-8A1D-CEF943ABB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6D54A4-3896-8F4E-AA70-F7DE1A882C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0F29FC-C958-FF40-9CBF-10C51A69FC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8267BC-B558-154C-8B62-D3591C3857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0A8050-FF90-F946-8A96-6084E037E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AE48D-33A2-D448-9847-C6846CBA070F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8F645F-EE92-C24E-920C-5D34FDDAC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783C2A-1068-CE40-93B9-93E4E324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83789-8AE7-FC47-A1F4-A67FFCC474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804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28668-919E-9344-86FE-0FA137F8B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62266B-20B6-0C49-BB19-893986C73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AE48D-33A2-D448-9847-C6846CBA070F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660D91-6DFA-1A41-A8E8-F6181396F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085AAA-2155-3A41-A8C6-680B86EA9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83789-8AE7-FC47-A1F4-A67FFCC474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182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72FF50-4235-6646-97F3-F620DF79B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AE48D-33A2-D448-9847-C6846CBA070F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BF5200-A500-194A-B22C-71111409F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30395-92C7-424B-97E1-F15569126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83789-8AE7-FC47-A1F4-A67FFCC474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508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F0F79-0502-D34D-8318-2BAA85EAE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5C37B-5FAC-2F4B-85A9-675CD53AA8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A886DA-E17C-9949-A4B4-6C60963660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164C8D-CF24-7C41-86FD-DBB4C7019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AE48D-33A2-D448-9847-C6846CBA070F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118431-C18E-2E49-9886-BB0BFB03B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B11FAB-5514-1947-9AB2-DD6BE5177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83789-8AE7-FC47-A1F4-A67FFCC474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962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D8021-1119-A441-AA5A-C62C9A787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42B2FC-C4B8-6246-9B41-3B67126340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85E407-39D7-8645-B114-67BC9135E4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36946-2D5D-CA4C-9317-BAB235355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AE48D-33A2-D448-9847-C6846CBA070F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E6B442-1BAC-854B-ACB6-591F31EDF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0C706E-389B-C647-B90B-637CE44C5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83789-8AE7-FC47-A1F4-A67FFCC474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731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7FB11-87F0-034A-975C-ACB34BDAA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3EB5B5-D62B-854C-904B-28E0CB5036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A3020E-C83D-2B4F-9A2C-35B4A90E5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AE48D-33A2-D448-9847-C6846CBA070F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80A763-ADD9-3F4D-9044-A6FDCA846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B7E49-B4D2-6242-8839-7903311BB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83789-8AE7-FC47-A1F4-A67FFCC474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743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64418B-ED25-C24F-9F85-589DF09174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85A930-8F16-F848-BE88-55EDCF54A1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19F6C-1BB0-0C43-9344-DB026DDA5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AE48D-33A2-D448-9847-C6846CBA070F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9CA26-9E86-2F4C-9A18-1E879F83D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C7FF91-2172-124D-8E7F-B61C1140C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83789-8AE7-FC47-A1F4-A67FFCC474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5439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4"/>
          <p:cNvSpPr txBox="1">
            <a:spLocks noGrp="1"/>
          </p:cNvSpPr>
          <p:nvPr>
            <p:ph type="title"/>
          </p:nvPr>
        </p:nvSpPr>
        <p:spPr>
          <a:xfrm>
            <a:off x="415600" y="546667"/>
            <a:ext cx="11360800" cy="8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4"/>
          <p:cNvSpPr txBox="1">
            <a:spLocks noGrp="1"/>
          </p:cNvSpPr>
          <p:nvPr>
            <p:ph type="body" idx="1"/>
          </p:nvPr>
        </p:nvSpPr>
        <p:spPr>
          <a:xfrm>
            <a:off x="415600" y="1639833"/>
            <a:ext cx="11360800" cy="44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8" name="Google Shape;28;p44"/>
          <p:cNvSpPr txBox="1">
            <a:spLocks noGrp="1"/>
          </p:cNvSpPr>
          <p:nvPr>
            <p:ph type="sldNum" idx="12"/>
          </p:nvPr>
        </p:nvSpPr>
        <p:spPr>
          <a:xfrm>
            <a:off x="11280575" y="6201587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700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0B7AEF-CEFB-A844-B033-3713361BA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6A2DFB-5ED0-9D4C-A583-49F4A63195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1C6A5-ABCB-3043-A8D0-387DEB7C59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CAE48D-33A2-D448-9847-C6846CBA070F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289D09-CA65-1A45-B25B-C26D539BB3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736BA3-90D8-3341-A25E-43811B0841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C83789-8AE7-FC47-A1F4-A67FFCC474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911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jpe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AC7C58A5-C6DF-5140-B42C-771BB4BF5F67}"/>
              </a:ext>
            </a:extLst>
          </p:cNvPr>
          <p:cNvSpPr txBox="1"/>
          <p:nvPr/>
        </p:nvSpPr>
        <p:spPr>
          <a:xfrm>
            <a:off x="1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Last time: Why refactor (from Cambio1.0 to Cambio2.0)?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CD2565-25BF-E17E-5521-FAB1AD7DC7FA}"/>
              </a:ext>
            </a:extLst>
          </p:cNvPr>
          <p:cNvSpPr txBox="1"/>
          <p:nvPr/>
        </p:nvSpPr>
        <p:spPr>
          <a:xfrm>
            <a:off x="32986" y="804405"/>
            <a:ext cx="11838974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There’s a lot to keep track of (arrays, metadata)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We’re about to make it yet more complex by introducing feedbacks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9563767-4223-6D03-2B2A-78F4EC43AF16}"/>
              </a:ext>
            </a:extLst>
          </p:cNvPr>
          <p:cNvGrpSpPr>
            <a:grpSpLocks noChangeAspect="1"/>
          </p:cNvGrpSpPr>
          <p:nvPr/>
        </p:nvGrpSpPr>
        <p:grpSpPr>
          <a:xfrm>
            <a:off x="423948" y="2478962"/>
            <a:ext cx="3627959" cy="2502983"/>
            <a:chOff x="371474" y="1402078"/>
            <a:chExt cx="6400801" cy="426053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98D6E9F-9C62-9415-47FE-88B929D52540}"/>
                </a:ext>
              </a:extLst>
            </p:cNvPr>
            <p:cNvGrpSpPr/>
            <p:nvPr/>
          </p:nvGrpSpPr>
          <p:grpSpPr>
            <a:xfrm>
              <a:off x="371474" y="1402078"/>
              <a:ext cx="6400801" cy="4260533"/>
              <a:chOff x="2771774" y="2230753"/>
              <a:chExt cx="6400801" cy="4260533"/>
            </a:xfrm>
          </p:grpSpPr>
          <p:pic>
            <p:nvPicPr>
              <p:cNvPr id="11" name="Picture 2">
                <a:extLst>
                  <a:ext uri="{FF2B5EF4-FFF2-40B4-BE49-F238E27FC236}">
                    <a16:creationId xmlns:a16="http://schemas.microsoft.com/office/drawing/2014/main" id="{53FF27AA-EC53-F615-768B-338452B0660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71774" y="2230753"/>
                <a:ext cx="6400801" cy="4260533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2" name="Up Arrow 11">
                <a:extLst>
                  <a:ext uri="{FF2B5EF4-FFF2-40B4-BE49-F238E27FC236}">
                    <a16:creationId xmlns:a16="http://schemas.microsoft.com/office/drawing/2014/main" id="{11C227B2-9115-7EE9-2E46-CCFFC4B9B9D8}"/>
                  </a:ext>
                </a:extLst>
              </p:cNvPr>
              <p:cNvSpPr/>
              <p:nvPr/>
            </p:nvSpPr>
            <p:spPr>
              <a:xfrm>
                <a:off x="6443663" y="2386013"/>
                <a:ext cx="528637" cy="2043113"/>
              </a:xfrm>
              <a:prstGeom prst="upArrow">
                <a:avLst/>
              </a:prstGeom>
              <a:solidFill>
                <a:schemeClr val="accent2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Up Arrow 13">
                <a:extLst>
                  <a:ext uri="{FF2B5EF4-FFF2-40B4-BE49-F238E27FC236}">
                    <a16:creationId xmlns:a16="http://schemas.microsoft.com/office/drawing/2014/main" id="{11F40388-A564-8F44-6752-968227949D0E}"/>
                  </a:ext>
                </a:extLst>
              </p:cNvPr>
              <p:cNvSpPr/>
              <p:nvPr/>
            </p:nvSpPr>
            <p:spPr>
              <a:xfrm>
                <a:off x="4343400" y="3095625"/>
                <a:ext cx="528637" cy="1081088"/>
              </a:xfrm>
              <a:prstGeom prst="upArrow">
                <a:avLst/>
              </a:prstGeom>
              <a:solidFill>
                <a:schemeClr val="accent2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8E11FA4-EDF8-EDB9-8FC5-04C0EB5C3CD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46097" t="56698" r="35555" b="33092"/>
            <a:stretch/>
          </p:blipFill>
          <p:spPr>
            <a:xfrm>
              <a:off x="2085971" y="1510572"/>
              <a:ext cx="1762124" cy="560768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AC9929E-9911-CF84-431C-D6103221A6B4}"/>
                </a:ext>
              </a:extLst>
            </p:cNvPr>
            <p:cNvSpPr txBox="1"/>
            <p:nvPr/>
          </p:nvSpPr>
          <p:spPr>
            <a:xfrm>
              <a:off x="1204911" y="3929063"/>
              <a:ext cx="1762123" cy="1267022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Cold ocean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9EB8567-0F42-C435-1EEB-3818C80EAFE5}"/>
                </a:ext>
              </a:extLst>
            </p:cNvPr>
            <p:cNvSpPr txBox="1"/>
            <p:nvPr/>
          </p:nvSpPr>
          <p:spPr>
            <a:xfrm>
              <a:off x="3509323" y="4085465"/>
              <a:ext cx="2125350" cy="1267022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Warm ocean</a:t>
              </a:r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E3E97888-1A30-CE72-A6DB-CD2A8D60E5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910" y="2198218"/>
            <a:ext cx="7658100" cy="35306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1F98B99-8F24-14BD-53DD-7F3DBBDD6D8A}"/>
              </a:ext>
            </a:extLst>
          </p:cNvPr>
          <p:cNvSpPr txBox="1"/>
          <p:nvPr/>
        </p:nvSpPr>
        <p:spPr>
          <a:xfrm>
            <a:off x="423948" y="6006081"/>
            <a:ext cx="11500236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lvl="1"/>
            <a:r>
              <a:rPr lang="en-US" sz="2400" dirty="0"/>
              <a:t>=&gt; it’s a good time to overhaul (“refactor”) how we manage data and algorithms. </a:t>
            </a:r>
          </a:p>
        </p:txBody>
      </p:sp>
    </p:spTree>
    <p:extLst>
      <p:ext uri="{BB962C8B-B14F-4D97-AF65-F5344CB8AC3E}">
        <p14:creationId xmlns:p14="http://schemas.microsoft.com/office/powerpoint/2010/main" val="1213914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B3E9F1FD-54D2-420F-B386-C2ED43F53BCF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We have a new function that creates an initial climate state (as a dictionary)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8981CD-5206-FD35-ED72-3D448C2499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5970" y="1450076"/>
            <a:ext cx="7581900" cy="3957847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653499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D13CFFA-EAA2-B736-DD6C-60554BB6FD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05" y="878544"/>
            <a:ext cx="9247967" cy="501584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5F7BB53-63CC-83FD-12D7-B83E45BA8279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1999" cy="830997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And another function that propagates (nudges) a climate state to a new one a fraction of a year later (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𝒅𝒕</m:t>
                    </m:r>
                  </m:oMath>
                </a14:m>
                <a:r>
                  <a:rPr lang="en-US" sz="2400" b="1" dirty="0"/>
                  <a:t>)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5F7BB53-63CC-83FD-12D7-B83E45BA8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1999" cy="830997"/>
              </a:xfrm>
              <a:prstGeom prst="rect">
                <a:avLst/>
              </a:prstGeom>
              <a:blipFill>
                <a:blip r:embed="rId3"/>
                <a:stretch>
                  <a:fillRect l="-832" t="-6061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2EE11D3B-E5E3-342C-7259-2FDB4D203BB8}"/>
              </a:ext>
            </a:extLst>
          </p:cNvPr>
          <p:cNvSpPr txBox="1"/>
          <p:nvPr/>
        </p:nvSpPr>
        <p:spPr>
          <a:xfrm>
            <a:off x="646527" y="5634094"/>
            <a:ext cx="21880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…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56B8D19-1449-B28E-C21C-BA4274027CE3}"/>
              </a:ext>
            </a:extLst>
          </p:cNvPr>
          <p:cNvGrpSpPr>
            <a:grpSpLocks noChangeAspect="1"/>
          </p:cNvGrpSpPr>
          <p:nvPr/>
        </p:nvGrpSpPr>
        <p:grpSpPr>
          <a:xfrm>
            <a:off x="8556158" y="2614848"/>
            <a:ext cx="2622760" cy="3480018"/>
            <a:chOff x="7185378" y="2074568"/>
            <a:chExt cx="3317387" cy="440168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FCC640AE-41FD-1B06-06AF-7CCABF6AA4A1}"/>
                </a:ext>
              </a:extLst>
            </p:cNvPr>
            <p:cNvGrpSpPr/>
            <p:nvPr/>
          </p:nvGrpSpPr>
          <p:grpSpPr>
            <a:xfrm>
              <a:off x="7185378" y="2767750"/>
              <a:ext cx="3079044" cy="3708503"/>
              <a:chOff x="8465538" y="2720623"/>
              <a:chExt cx="3079044" cy="3708503"/>
            </a:xfrm>
          </p:grpSpPr>
          <p:pic>
            <p:nvPicPr>
              <p:cNvPr id="6" name="Picture 2" descr="MuliMIX Electric Apple Grinder (0.8 Ton)">
                <a:extLst>
                  <a:ext uri="{FF2B5EF4-FFF2-40B4-BE49-F238E27FC236}">
                    <a16:creationId xmlns:a16="http://schemas.microsoft.com/office/drawing/2014/main" id="{7DF1B4CC-1B25-391D-C573-EF749161001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465538" y="2720623"/>
                <a:ext cx="3079044" cy="3079044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9BCA6E60-2FB3-E215-8EB2-196DA4A155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179231" y="6058442"/>
                <a:ext cx="2116491" cy="370684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E6B7B02-ACBD-ACA2-D568-D55F364EE61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38041" r="39847" b="76982"/>
            <a:stretch/>
          </p:blipFill>
          <p:spPr>
            <a:xfrm>
              <a:off x="7185378" y="2074568"/>
              <a:ext cx="3317387" cy="416178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</p:grpSp>
      <p:sp>
        <p:nvSpPr>
          <p:cNvPr id="19" name="Arc 18">
            <a:extLst>
              <a:ext uri="{FF2B5EF4-FFF2-40B4-BE49-F238E27FC236}">
                <a16:creationId xmlns:a16="http://schemas.microsoft.com/office/drawing/2014/main" id="{F36729A9-EFA1-C695-F5CB-34AF3D03A18E}"/>
              </a:ext>
            </a:extLst>
          </p:cNvPr>
          <p:cNvSpPr/>
          <p:nvPr/>
        </p:nvSpPr>
        <p:spPr>
          <a:xfrm rot="236296">
            <a:off x="8866138" y="2941765"/>
            <a:ext cx="2072790" cy="2792149"/>
          </a:xfrm>
          <a:prstGeom prst="arc">
            <a:avLst>
              <a:gd name="adj1" fmla="val 17053223"/>
              <a:gd name="adj2" fmla="val 4570562"/>
            </a:avLst>
          </a:prstGeom>
          <a:ln w="127000">
            <a:solidFill>
              <a:schemeClr val="accent1">
                <a:alpha val="53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01F7455-69B6-F701-3B0C-57EC71FBC4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56158" y="2239001"/>
            <a:ext cx="1699997" cy="31369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5D76A15-FC7C-7156-E9EF-21257DAFF213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46455"/>
          <a:stretch/>
        </p:blipFill>
        <p:spPr>
          <a:xfrm>
            <a:off x="10731688" y="2239339"/>
            <a:ext cx="622353" cy="31824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BE1E52-1172-F82C-FE3A-3F8624595F36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r="70401" b="1570"/>
          <a:stretch/>
        </p:blipFill>
        <p:spPr>
          <a:xfrm>
            <a:off x="10331922" y="2234954"/>
            <a:ext cx="344026" cy="31325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15E47E3-49B9-3F69-8AB5-767FFA4042C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9199" y="6094866"/>
            <a:ext cx="4199370" cy="637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228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B3E9F1FD-54D2-420F-B386-C2ED43F53BCF}"/>
              </a:ext>
            </a:extLst>
          </p:cNvPr>
          <p:cNvSpPr txBox="1"/>
          <p:nvPr/>
        </p:nvSpPr>
        <p:spPr>
          <a:xfrm>
            <a:off x="0" y="0"/>
            <a:ext cx="12191999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idea is that we’ll make lists of these climate states, get information out of them later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6EDAF35-B95F-881C-5A71-F9C29A933C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827" y="910309"/>
            <a:ext cx="6727456" cy="548916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682D2AA-2D4C-EF1F-B055-A5BB6F55113A}"/>
              </a:ext>
            </a:extLst>
          </p:cNvPr>
          <p:cNvSpPr txBox="1"/>
          <p:nvPr/>
        </p:nvSpPr>
        <p:spPr>
          <a:xfrm>
            <a:off x="8080744" y="1229463"/>
            <a:ext cx="3852176" cy="34163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/>
              <a:t>In this case, the list is just two states long – and very boring because they’re the same climate state.</a:t>
            </a:r>
          </a:p>
          <a:p>
            <a:endParaRPr lang="en-US" sz="2400" dirty="0"/>
          </a:p>
          <a:p>
            <a:r>
              <a:rPr lang="en-US" sz="2400" dirty="0"/>
              <a:t>But in just a bit, you’ll see how Cambio2.0 assembles lists of climate states within an Euler loop!</a:t>
            </a:r>
          </a:p>
        </p:txBody>
      </p:sp>
    </p:spTree>
    <p:extLst>
      <p:ext uri="{BB962C8B-B14F-4D97-AF65-F5344CB8AC3E}">
        <p14:creationId xmlns:p14="http://schemas.microsoft.com/office/powerpoint/2010/main" val="1453091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5F7BB53-63CC-83FD-12D7-B83E45BA8279}"/>
              </a:ext>
            </a:extLst>
          </p:cNvPr>
          <p:cNvSpPr txBox="1"/>
          <p:nvPr/>
        </p:nvSpPr>
        <p:spPr>
          <a:xfrm>
            <a:off x="0" y="0"/>
            <a:ext cx="12191999" cy="83099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Another new function, </a:t>
            </a:r>
            <a:r>
              <a:rPr lang="en-US" sz="2400" b="1" dirty="0" err="1"/>
              <a:t>cl.run_Cambio</a:t>
            </a:r>
            <a:r>
              <a:rPr lang="en-US" sz="2400" b="1" dirty="0"/>
              <a:t>, creates a starting climate state (as a dictionary),</a:t>
            </a:r>
          </a:p>
          <a:p>
            <a:r>
              <a:rPr lang="en-US" sz="2400" b="1" dirty="0"/>
              <a:t>then uses the propagator in an Euler loop over all time steps in your emissions scenario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94EAF5-BCA9-68D7-4D72-09D609F99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110" y="873600"/>
            <a:ext cx="11293945" cy="20867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A32D883-E5F9-E35A-80F2-3AB371A614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079152"/>
            <a:ext cx="4305300" cy="33660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5A7BA0C-0B3A-D877-EE64-0A4ACFADBA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3460" y="3067946"/>
            <a:ext cx="4160520" cy="336158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9853D92-C46C-B5A4-08F6-0583057C6BD7}"/>
              </a:ext>
            </a:extLst>
          </p:cNvPr>
          <p:cNvSpPr txBox="1"/>
          <p:nvPr/>
        </p:nvSpPr>
        <p:spPr>
          <a:xfrm>
            <a:off x="9090660" y="4379404"/>
            <a:ext cx="31013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… and the other items</a:t>
            </a:r>
          </a:p>
        </p:txBody>
      </p:sp>
    </p:spTree>
    <p:extLst>
      <p:ext uri="{BB962C8B-B14F-4D97-AF65-F5344CB8AC3E}">
        <p14:creationId xmlns:p14="http://schemas.microsoft.com/office/powerpoint/2010/main" val="1644211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3928459B-F9B5-7683-BA06-985D9F0E6E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87" y="3412816"/>
            <a:ext cx="11508631" cy="18306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5F7BB53-63CC-83FD-12D7-B83E45BA8279}"/>
              </a:ext>
            </a:extLst>
          </p:cNvPr>
          <p:cNvSpPr txBox="1"/>
          <p:nvPr/>
        </p:nvSpPr>
        <p:spPr>
          <a:xfrm>
            <a:off x="0" y="0"/>
            <a:ext cx="12191999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Your job will be to create a propagator for Cambio 2.0, and plot those results too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C81949C-8726-59D0-9416-4A528CBE34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657" y="722504"/>
            <a:ext cx="10869709" cy="78653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06BBD5C-96FF-4812-9AA5-4EB9313B42E4}"/>
              </a:ext>
            </a:extLst>
          </p:cNvPr>
          <p:cNvSpPr txBox="1"/>
          <p:nvPr/>
        </p:nvSpPr>
        <p:spPr>
          <a:xfrm>
            <a:off x="798927" y="1614544"/>
            <a:ext cx="21880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…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9C43E7E-D82C-C54A-EA02-0F3D197C25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599" y="2189616"/>
            <a:ext cx="4199370" cy="637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358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370659-7373-8186-8633-EEAFB8369FB3}"/>
              </a:ext>
            </a:extLst>
          </p:cNvPr>
          <p:cNvSpPr txBox="1"/>
          <p:nvPr/>
        </p:nvSpPr>
        <p:spPr>
          <a:xfrm>
            <a:off x="0" y="2677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OK, let’s get started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809B71-080C-71B2-628C-812779322C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735" y="1068636"/>
            <a:ext cx="8135191" cy="205954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558BD51D-93CA-289A-416A-9DBA9DB8A9D6}"/>
              </a:ext>
            </a:extLst>
          </p:cNvPr>
          <p:cNvGrpSpPr>
            <a:grpSpLocks noChangeAspect="1"/>
          </p:cNvGrpSpPr>
          <p:nvPr/>
        </p:nvGrpSpPr>
        <p:grpSpPr>
          <a:xfrm>
            <a:off x="8703324" y="3004073"/>
            <a:ext cx="2909737" cy="2095351"/>
            <a:chOff x="371474" y="1402078"/>
            <a:chExt cx="6400801" cy="4447044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FC1455E-3026-E403-6877-452A309FC3EB}"/>
                </a:ext>
              </a:extLst>
            </p:cNvPr>
            <p:cNvGrpSpPr/>
            <p:nvPr/>
          </p:nvGrpSpPr>
          <p:grpSpPr>
            <a:xfrm>
              <a:off x="371474" y="1402078"/>
              <a:ext cx="6400801" cy="4260533"/>
              <a:chOff x="2771774" y="2230753"/>
              <a:chExt cx="6400801" cy="4260533"/>
            </a:xfrm>
          </p:grpSpPr>
          <p:pic>
            <p:nvPicPr>
              <p:cNvPr id="11" name="Picture 2">
                <a:extLst>
                  <a:ext uri="{FF2B5EF4-FFF2-40B4-BE49-F238E27FC236}">
                    <a16:creationId xmlns:a16="http://schemas.microsoft.com/office/drawing/2014/main" id="{32FB7395-EDCE-FA83-F466-992389989E7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71774" y="2230753"/>
                <a:ext cx="6400801" cy="4260533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2" name="Up Arrow 11">
                <a:extLst>
                  <a:ext uri="{FF2B5EF4-FFF2-40B4-BE49-F238E27FC236}">
                    <a16:creationId xmlns:a16="http://schemas.microsoft.com/office/drawing/2014/main" id="{6C612E65-8444-02E2-2348-63238A327CAF}"/>
                  </a:ext>
                </a:extLst>
              </p:cNvPr>
              <p:cNvSpPr/>
              <p:nvPr/>
            </p:nvSpPr>
            <p:spPr>
              <a:xfrm>
                <a:off x="6443663" y="2386013"/>
                <a:ext cx="528637" cy="2043113"/>
              </a:xfrm>
              <a:prstGeom prst="upArrow">
                <a:avLst/>
              </a:prstGeom>
              <a:solidFill>
                <a:schemeClr val="accent2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Up Arrow 12">
                <a:extLst>
                  <a:ext uri="{FF2B5EF4-FFF2-40B4-BE49-F238E27FC236}">
                    <a16:creationId xmlns:a16="http://schemas.microsoft.com/office/drawing/2014/main" id="{AD88E333-3850-9090-279B-829023D61C44}"/>
                  </a:ext>
                </a:extLst>
              </p:cNvPr>
              <p:cNvSpPr/>
              <p:nvPr/>
            </p:nvSpPr>
            <p:spPr>
              <a:xfrm>
                <a:off x="4343400" y="3095625"/>
                <a:ext cx="528637" cy="1081088"/>
              </a:xfrm>
              <a:prstGeom prst="upArrow">
                <a:avLst/>
              </a:prstGeom>
              <a:solidFill>
                <a:schemeClr val="accent2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731B6BB-28DC-1C36-5680-437651E7791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46097" t="56698" r="35555" b="33092"/>
            <a:stretch/>
          </p:blipFill>
          <p:spPr>
            <a:xfrm>
              <a:off x="2085971" y="1510572"/>
              <a:ext cx="1762124" cy="560768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0C3EE6E-6399-2671-9E94-666ED08E61CE}"/>
                </a:ext>
              </a:extLst>
            </p:cNvPr>
            <p:cNvSpPr txBox="1"/>
            <p:nvPr/>
          </p:nvSpPr>
          <p:spPr>
            <a:xfrm>
              <a:off x="371474" y="3929064"/>
              <a:ext cx="2595561" cy="176365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Cold ocean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7EAEFBB-A653-6BBF-0428-97B3434A12A4}"/>
                </a:ext>
              </a:extLst>
            </p:cNvPr>
            <p:cNvSpPr txBox="1"/>
            <p:nvPr/>
          </p:nvSpPr>
          <p:spPr>
            <a:xfrm>
              <a:off x="3509322" y="4085465"/>
              <a:ext cx="2595559" cy="176365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Warm ocean</a:t>
              </a:r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65BFE845-BE5D-03AB-02CC-97BFCEDE56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618" y="3710381"/>
            <a:ext cx="7607316" cy="137533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8306252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2798</TotalTime>
  <Words>241</Words>
  <Application>Microsoft Macintosh PowerPoint</Application>
  <PresentationFormat>Widescreen</PresentationFormat>
  <Paragraphs>22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71</cp:revision>
  <dcterms:created xsi:type="dcterms:W3CDTF">2021-10-25T17:45:21Z</dcterms:created>
  <dcterms:modified xsi:type="dcterms:W3CDTF">2025-10-29T17:32:33Z</dcterms:modified>
</cp:coreProperties>
</file>