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9" r:id="rId2"/>
    <p:sldId id="1881" r:id="rId3"/>
    <p:sldId id="1868" r:id="rId4"/>
    <p:sldId id="1889" r:id="rId5"/>
    <p:sldId id="1869" r:id="rId6"/>
    <p:sldId id="1871" r:id="rId7"/>
    <p:sldId id="1887" r:id="rId8"/>
    <p:sldId id="1882" r:id="rId9"/>
    <p:sldId id="2003" r:id="rId10"/>
    <p:sldId id="1892" r:id="rId11"/>
    <p:sldId id="2004" r:id="rId12"/>
    <p:sldId id="189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28"/>
    <p:restoredTop sz="96405"/>
  </p:normalViewPr>
  <p:slideViewPr>
    <p:cSldViewPr snapToGrid="0" snapToObjects="1">
      <p:cViewPr>
        <p:scale>
          <a:sx n="124" d="100"/>
          <a:sy n="124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2361DD-F447-BB40-83F4-8E3B6B117168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43E63-9F34-2A43-BCB8-75BDE9F71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415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C5603-2BF0-664E-90C3-872E305908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D015B7-F640-684F-821D-022C5CC72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BD9DB-574C-C149-A3A0-654F7E86F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D15-F0D5-1A49-8E9F-2BF7F93502DA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4E6B4-90CF-4343-BD18-D255CDBE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46DBD-631F-F546-8DD2-09F97CD36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ABD1-3C3B-094E-A19E-8483F8A38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76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50519-A222-4044-81C6-D19B2F71B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56459-0C8F-9041-B07C-1B76F251B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EB9C5-DF6E-2A43-A72E-CD21B690A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D15-F0D5-1A49-8E9F-2BF7F93502DA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7DAB6-9282-D247-8650-E37E07E69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E6E1B-15BF-8D48-91D3-2D8362497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ABD1-3C3B-094E-A19E-8483F8A38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765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CF424-EC4D-4C4F-888D-5902387B3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0A402-9B79-0447-8181-383874E2C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3F14E-67B7-5046-9C43-2A750812E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D15-F0D5-1A49-8E9F-2BF7F93502DA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48157-F785-0449-B477-50BDF462C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5C96D-6020-7342-8771-9C61D7577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ABD1-3C3B-094E-A19E-8483F8A38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30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904EC-E98D-C047-BF5A-82EA75774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3510A-AED9-5443-AB72-BF3BD075FD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204DC-318B-9749-9051-2A3BCD909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8479C-C68E-8C46-81B7-FDB655207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D15-F0D5-1A49-8E9F-2BF7F93502DA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EF4B5-D0CE-1041-B4DF-5A53EF479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6EC07-9917-D74B-AEC2-117C51304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ABD1-3C3B-094E-A19E-8483F8A38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739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2963E-4EE2-2941-B243-57089D342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157728-8EFF-2840-9C5E-CEE65DC50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E41D8-3FE6-664F-A0FD-B9211E4C6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1F039F-9183-5E4A-90AC-D16A369F66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EF87BD-8AA5-9B4D-8CD1-97906B45BC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2B7C4E-73B3-254F-9A41-F902E3D99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D15-F0D5-1A49-8E9F-2BF7F93502DA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9B599-557D-CD43-AB48-549EED7BC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9A9746-2D58-564E-B307-3BFA4DF33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ABD1-3C3B-094E-A19E-8483F8A38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0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39A1A-A676-8F40-A055-B1D75925F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6865FB-35C6-674E-92F7-549C05297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D15-F0D5-1A49-8E9F-2BF7F93502DA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EB894B-AB43-A848-82F8-7A4F7723E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F87099-CA80-1542-A104-A182DCE69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ABD1-3C3B-094E-A19E-8483F8A38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149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4CC16E-F4B5-9648-BCDD-7C7D68125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D15-F0D5-1A49-8E9F-2BF7F93502DA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F7D7E-8C53-2946-A9EE-CAACACD0D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09846-08B4-1346-9930-9D97B30C9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ABD1-3C3B-094E-A19E-8483F8A38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334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64ECC-42C1-B249-82CB-19BBBB4F0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7CF52-51B3-764F-94B5-434AAB61F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7139A8-6AD4-0F4E-A916-7F72ADF99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B8DBF-25AD-9D4F-826B-C0AB33CB4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D15-F0D5-1A49-8E9F-2BF7F93502DA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119917-DB10-6D40-A331-C06AA2729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D2E11-9AC8-4D44-8136-430DBB88C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ABD1-3C3B-094E-A19E-8483F8A38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496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0BF82-F9A9-C941-BD31-D5EF05E80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53D4A2-D2AA-7940-9FFF-38E8DB76D6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30193-455C-8B43-BCFD-60287EBB54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9BEED-6A77-6F4B-AD5C-33152BC0C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D15-F0D5-1A49-8E9F-2BF7F93502DA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7BA229-709C-884B-910E-6F8D5FDF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A77E7-158E-994A-9756-EF4D323DB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ABD1-3C3B-094E-A19E-8483F8A38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450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69E68-2958-8D42-9C31-DB22264C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E0248D-D563-E143-A0C4-3AA0B07BE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49559-8EAC-C347-AB1A-D794CED17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D15-F0D5-1A49-8E9F-2BF7F93502DA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41DDB-B676-4E46-A490-B809BD59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22715-4724-8746-924B-A09DD4DAD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ABD1-3C3B-094E-A19E-8483F8A38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32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6B03F4-C22F-9442-8FD8-C3576508A8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F9ABFB-F52F-114F-A4BD-586A4EA3A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B06DF-B74F-C946-9F3B-16396143B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D15-F0D5-1A49-8E9F-2BF7F93502DA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790E0-B79B-9347-BCAA-D275366F1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46F0B-A895-B141-810E-D5A5C445E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ABD1-3C3B-094E-A19E-8483F8A38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548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15505A-4EC0-5B45-B70F-2E8F2E14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F265F2-09E7-5E4C-A220-157CC59C9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D27D1-B4D4-764F-A699-E04E3560FB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A3D15-F0D5-1A49-8E9F-2BF7F93502DA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F8EAC-2DA9-2F47-B314-CDADDC2AA8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56F3F-F266-784C-A4AE-EB6145613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3ABD1-3C3B-094E-A19E-8483F8A38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09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02B3F3-4C48-BF40-B23D-890FC4F818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679" t="25751"/>
          <a:stretch/>
        </p:blipFill>
        <p:spPr>
          <a:xfrm>
            <a:off x="787078" y="1142431"/>
            <a:ext cx="4051460" cy="280529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Cambio1.0</a:t>
            </a:r>
          </a:p>
        </p:txBody>
      </p:sp>
      <p:pic>
        <p:nvPicPr>
          <p:cNvPr id="7" name="Picture 2" descr="Draft diagram of the carbon cycle.">
            <a:extLst>
              <a:ext uri="{FF2B5EF4-FFF2-40B4-BE49-F238E27FC236}">
                <a16:creationId xmlns:a16="http://schemas.microsoft.com/office/drawing/2014/main" id="{61C4C961-6507-334B-9224-D58B8D615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070" y="1621920"/>
            <a:ext cx="4961106" cy="330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8F1B39-3868-321C-B123-288B6B330C3B}"/>
              </a:ext>
            </a:extLst>
          </p:cNvPr>
          <p:cNvSpPr txBox="1"/>
          <p:nvPr/>
        </p:nvSpPr>
        <p:spPr>
          <a:xfrm>
            <a:off x="379014" y="626294"/>
            <a:ext cx="6536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an </a:t>
            </a:r>
            <a:r>
              <a:rPr lang="en-US" sz="2400" b="1" dirty="0"/>
              <a:t>Euler loop</a:t>
            </a:r>
            <a:r>
              <a:rPr lang="en-US" sz="2400" dirty="0"/>
              <a:t>, we calculated </a:t>
            </a:r>
            <a:r>
              <a:rPr lang="en-US" sz="2400" b="1" dirty="0"/>
              <a:t>fluxes</a:t>
            </a:r>
            <a:r>
              <a:rPr lang="en-US" sz="24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F5E268-288F-2746-7466-13CBD05D4B5F}"/>
              </a:ext>
            </a:extLst>
          </p:cNvPr>
          <p:cNvSpPr txBox="1"/>
          <p:nvPr/>
        </p:nvSpPr>
        <p:spPr>
          <a:xfrm>
            <a:off x="424486" y="3968670"/>
            <a:ext cx="65365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From the fluxes we found changes in the amount of carbon in the atmosphere and oceans: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A24ECC-A6EF-9D83-832D-C3009FFF0C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399" y="4757553"/>
            <a:ext cx="6958376" cy="197744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430210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That led to a timeline of amounts in the atmosphere and the upper ocean</a:t>
            </a:r>
          </a:p>
        </p:txBody>
      </p:sp>
      <p:pic>
        <p:nvPicPr>
          <p:cNvPr id="6" name="Picture 2" descr="Draft diagram of the carbon cycle.">
            <a:extLst>
              <a:ext uri="{FF2B5EF4-FFF2-40B4-BE49-F238E27FC236}">
                <a16:creationId xmlns:a16="http://schemas.microsoft.com/office/drawing/2014/main" id="{F8DA6C62-5280-CAF8-7D00-E3035ACC7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070" y="1621920"/>
            <a:ext cx="4961106" cy="330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1AFDD3F-47DC-1E5A-773B-57EAFDA2DA63}"/>
              </a:ext>
            </a:extLst>
          </p:cNvPr>
          <p:cNvGrpSpPr>
            <a:grpSpLocks noChangeAspect="1"/>
          </p:cNvGrpSpPr>
          <p:nvPr/>
        </p:nvGrpSpPr>
        <p:grpSpPr>
          <a:xfrm>
            <a:off x="265391" y="1063196"/>
            <a:ext cx="6096000" cy="4554175"/>
            <a:chOff x="0" y="1711379"/>
            <a:chExt cx="4560570" cy="340709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DC1FF23-874F-B664-EDA8-6A0A434F4DF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1711379"/>
              <a:ext cx="4560570" cy="3407092"/>
              <a:chOff x="0" y="1711379"/>
              <a:chExt cx="5154930" cy="3851124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DE61F03E-10F9-C83F-FF38-3381115893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1711379"/>
                <a:ext cx="5154930" cy="3851124"/>
              </a:xfrm>
              <a:prstGeom prst="rect">
                <a:avLst/>
              </a:prstGeom>
            </p:spPr>
          </p:pic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D9AB8BE-A3B0-6FE7-94BC-91564DF128B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8670" y="3806190"/>
                <a:ext cx="148590" cy="16002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37705DB-2968-C3FD-0084-6244523A94EC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9852" y="4091798"/>
                <a:ext cx="2183348" cy="730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Pre-industrial carbon amounts </a:t>
                </a:r>
              </a:p>
            </p:txBody>
          </p: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F18EF-C3A3-6DD8-4A99-D4B8F22E94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1547" y="4608600"/>
              <a:ext cx="131458" cy="141570"/>
            </a:xfrm>
            <a:prstGeom prst="ellipse">
              <a:avLst/>
            </a:prstGeom>
            <a:solidFill>
              <a:srgbClr val="50ECE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31147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3B1D67-BB71-BA4B-B9CB-A1E025334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36" y="756187"/>
            <a:ext cx="7898005" cy="58023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EADF76-35F1-6448-A330-518B1FE649B0}"/>
              </a:ext>
            </a:extLst>
          </p:cNvPr>
          <p:cNvSpPr txBox="1"/>
          <p:nvPr/>
        </p:nvSpPr>
        <p:spPr>
          <a:xfrm>
            <a:off x="0" y="0"/>
            <a:ext cx="11922176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We’ve also looked at net atm/ocean flux (difference between </a:t>
            </a:r>
            <a:r>
              <a:rPr lang="en-US" sz="2400" b="1" dirty="0" err="1"/>
              <a:t>F_oa</a:t>
            </a:r>
            <a:r>
              <a:rPr lang="en-US" sz="2400" b="1" dirty="0"/>
              <a:t> and </a:t>
            </a:r>
            <a:r>
              <a:rPr lang="en-US" sz="2400" b="1" dirty="0" err="1"/>
              <a:t>F_ao</a:t>
            </a:r>
            <a:r>
              <a:rPr lang="en-US" sz="2400" b="1" dirty="0"/>
              <a:t>)</a:t>
            </a:r>
            <a:endParaRPr lang="en-US" sz="2400" b="1" i="1" dirty="0"/>
          </a:p>
        </p:txBody>
      </p:sp>
      <p:pic>
        <p:nvPicPr>
          <p:cNvPr id="6" name="Picture 2" descr="Draft diagram of the carbon cycle.">
            <a:extLst>
              <a:ext uri="{FF2B5EF4-FFF2-40B4-BE49-F238E27FC236}">
                <a16:creationId xmlns:a16="http://schemas.microsoft.com/office/drawing/2014/main" id="{238A0BE0-EBB9-1546-9D3A-03744E9C0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9020" y="2108911"/>
            <a:ext cx="3960268" cy="264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rc 6">
            <a:extLst>
              <a:ext uri="{FF2B5EF4-FFF2-40B4-BE49-F238E27FC236}">
                <a16:creationId xmlns:a16="http://schemas.microsoft.com/office/drawing/2014/main" id="{6CD55DB8-EBF9-CC43-8563-E96182B5F122}"/>
              </a:ext>
            </a:extLst>
          </p:cNvPr>
          <p:cNvSpPr/>
          <p:nvPr/>
        </p:nvSpPr>
        <p:spPr>
          <a:xfrm>
            <a:off x="4001956" y="1984925"/>
            <a:ext cx="6661220" cy="1855555"/>
          </a:xfrm>
          <a:prstGeom prst="arc">
            <a:avLst>
              <a:gd name="adj1" fmla="val 11566503"/>
              <a:gd name="adj2" fmla="val 21519853"/>
            </a:avLst>
          </a:prstGeom>
          <a:ln w="63500">
            <a:solidFill>
              <a:schemeClr val="accent1">
                <a:alpha val="79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Arc 1">
            <a:extLst>
              <a:ext uri="{FF2B5EF4-FFF2-40B4-BE49-F238E27FC236}">
                <a16:creationId xmlns:a16="http://schemas.microsoft.com/office/drawing/2014/main" id="{9D7ECFC7-E0D4-B5CB-E3AC-2DDCCA2C0313}"/>
              </a:ext>
            </a:extLst>
          </p:cNvPr>
          <p:cNvSpPr/>
          <p:nvPr/>
        </p:nvSpPr>
        <p:spPr>
          <a:xfrm>
            <a:off x="4502552" y="1200303"/>
            <a:ext cx="6961738" cy="3548786"/>
          </a:xfrm>
          <a:prstGeom prst="arc">
            <a:avLst>
              <a:gd name="adj1" fmla="val 11740487"/>
              <a:gd name="adj2" fmla="val 21519853"/>
            </a:avLst>
          </a:prstGeom>
          <a:ln w="63500">
            <a:solidFill>
              <a:schemeClr val="accent1">
                <a:alpha val="79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435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3B1D67-BB71-BA4B-B9CB-A1E025334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36" y="756187"/>
            <a:ext cx="7898005" cy="58023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EADF76-35F1-6448-A330-518B1FE649B0}"/>
              </a:ext>
            </a:extLst>
          </p:cNvPr>
          <p:cNvSpPr txBox="1"/>
          <p:nvPr/>
        </p:nvSpPr>
        <p:spPr>
          <a:xfrm>
            <a:off x="0" y="0"/>
            <a:ext cx="11922176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And at net atm/land flux (difference between </a:t>
            </a:r>
            <a:r>
              <a:rPr lang="en-US" sz="2400" b="1" dirty="0" err="1"/>
              <a:t>F_la</a:t>
            </a:r>
            <a:r>
              <a:rPr lang="en-US" sz="2400" b="1" dirty="0"/>
              <a:t> and </a:t>
            </a:r>
            <a:r>
              <a:rPr lang="en-US" sz="2400" b="1" dirty="0" err="1"/>
              <a:t>F_al</a:t>
            </a:r>
            <a:r>
              <a:rPr lang="en-US" sz="2400" b="1" dirty="0"/>
              <a:t>)</a:t>
            </a:r>
            <a:endParaRPr lang="en-US" sz="2400" b="1" i="1" dirty="0"/>
          </a:p>
        </p:txBody>
      </p:sp>
      <p:pic>
        <p:nvPicPr>
          <p:cNvPr id="6" name="Picture 2" descr="Draft diagram of the carbon cycle.">
            <a:extLst>
              <a:ext uri="{FF2B5EF4-FFF2-40B4-BE49-F238E27FC236}">
                <a16:creationId xmlns:a16="http://schemas.microsoft.com/office/drawing/2014/main" id="{238A0BE0-EBB9-1546-9D3A-03744E9C0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9020" y="2108911"/>
            <a:ext cx="3960268" cy="264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rc 6">
            <a:extLst>
              <a:ext uri="{FF2B5EF4-FFF2-40B4-BE49-F238E27FC236}">
                <a16:creationId xmlns:a16="http://schemas.microsoft.com/office/drawing/2014/main" id="{6CD55DB8-EBF9-CC43-8563-E96182B5F122}"/>
              </a:ext>
            </a:extLst>
          </p:cNvPr>
          <p:cNvSpPr/>
          <p:nvPr/>
        </p:nvSpPr>
        <p:spPr>
          <a:xfrm>
            <a:off x="5135301" y="934825"/>
            <a:ext cx="3557285" cy="3057021"/>
          </a:xfrm>
          <a:prstGeom prst="arc">
            <a:avLst>
              <a:gd name="adj1" fmla="val 13348762"/>
              <a:gd name="adj2" fmla="val 21521920"/>
            </a:avLst>
          </a:prstGeom>
          <a:ln w="63500">
            <a:solidFill>
              <a:schemeClr val="accent2">
                <a:lumMod val="50000"/>
                <a:alpha val="79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Arc 1">
            <a:extLst>
              <a:ext uri="{FF2B5EF4-FFF2-40B4-BE49-F238E27FC236}">
                <a16:creationId xmlns:a16="http://schemas.microsoft.com/office/drawing/2014/main" id="{9D7ECFC7-E0D4-B5CB-E3AC-2DDCCA2C0313}"/>
              </a:ext>
            </a:extLst>
          </p:cNvPr>
          <p:cNvSpPr/>
          <p:nvPr/>
        </p:nvSpPr>
        <p:spPr>
          <a:xfrm>
            <a:off x="5052784" y="601883"/>
            <a:ext cx="4236359" cy="3723373"/>
          </a:xfrm>
          <a:prstGeom prst="arc">
            <a:avLst>
              <a:gd name="adj1" fmla="val 12505408"/>
              <a:gd name="adj2" fmla="val 21519853"/>
            </a:avLst>
          </a:prstGeom>
          <a:ln w="63500">
            <a:solidFill>
              <a:schemeClr val="accent2">
                <a:lumMod val="50000"/>
                <a:alpha val="79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383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6EE8AB9-9217-3EB8-39B1-566B23F71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24" y="1065587"/>
            <a:ext cx="6901179" cy="51843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EADF76-35F1-6448-A330-518B1FE649B0}"/>
              </a:ext>
            </a:extLst>
          </p:cNvPr>
          <p:cNvSpPr txBox="1"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For decades, observations have shown (and Cambio agrees) that the combined net flux (land and oceans) has been about ½ of the annual anthropogenic flux to atmosphere</a:t>
            </a:r>
          </a:p>
        </p:txBody>
      </p:sp>
      <p:pic>
        <p:nvPicPr>
          <p:cNvPr id="6" name="Picture 2" descr="Draft diagram of the carbon cycle.">
            <a:extLst>
              <a:ext uri="{FF2B5EF4-FFF2-40B4-BE49-F238E27FC236}">
                <a16:creationId xmlns:a16="http://schemas.microsoft.com/office/drawing/2014/main" id="{238A0BE0-EBB9-1546-9D3A-03744E9C0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1003" y="1173687"/>
            <a:ext cx="4360278" cy="290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C0FD6CB-B25F-204A-9A30-3D15F9878A03}"/>
              </a:ext>
            </a:extLst>
          </p:cNvPr>
          <p:cNvGrpSpPr/>
          <p:nvPr/>
        </p:nvGrpSpPr>
        <p:grpSpPr>
          <a:xfrm>
            <a:off x="4696787" y="2179229"/>
            <a:ext cx="36898" cy="2908210"/>
            <a:chOff x="3994260" y="2216370"/>
            <a:chExt cx="36898" cy="290821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EFF6BA8-3A94-CB1C-0BC1-90B0AB4162B7}"/>
                </a:ext>
              </a:extLst>
            </p:cNvPr>
            <p:cNvCxnSpPr>
              <a:cxnSpLocks/>
            </p:cNvCxnSpPr>
            <p:nvPr/>
          </p:nvCxnSpPr>
          <p:spPr>
            <a:xfrm>
              <a:off x="4031158" y="2216370"/>
              <a:ext cx="0" cy="2120098"/>
            </a:xfrm>
            <a:prstGeom prst="line">
              <a:avLst/>
            </a:prstGeom>
            <a:ln w="127000">
              <a:solidFill>
                <a:schemeClr val="tx2">
                  <a:alpha val="4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7DBEDD9-A328-2B5C-9F73-D49FF1EF9A2D}"/>
                </a:ext>
              </a:extLst>
            </p:cNvPr>
            <p:cNvCxnSpPr>
              <a:cxnSpLocks/>
            </p:cNvCxnSpPr>
            <p:nvPr/>
          </p:nvCxnSpPr>
          <p:spPr>
            <a:xfrm>
              <a:off x="3994260" y="4336468"/>
              <a:ext cx="0" cy="788112"/>
            </a:xfrm>
            <a:prstGeom prst="line">
              <a:avLst/>
            </a:prstGeom>
            <a:ln w="63500">
              <a:solidFill>
                <a:schemeClr val="accent2">
                  <a:lumMod val="50000"/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7BCBA36-EC8D-899C-A8AC-2A8D19C6FD89}"/>
              </a:ext>
            </a:extLst>
          </p:cNvPr>
          <p:cNvSpPr txBox="1"/>
          <p:nvPr/>
        </p:nvSpPr>
        <p:spPr>
          <a:xfrm>
            <a:off x="7029450" y="4180344"/>
            <a:ext cx="50575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can say that these sinks are Earth’s ”free” ecosystem service, although we’ll see limits to that: in Cambio 2., for example, oceans with higher temperature tend to be less able to hold on to CO2, shifting equilibrium toward the atmosphere.  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0105633-2F3A-D6E0-185B-54FB1499D907}"/>
              </a:ext>
            </a:extLst>
          </p:cNvPr>
          <p:cNvCxnSpPr>
            <a:cxnSpLocks/>
          </p:cNvCxnSpPr>
          <p:nvPr/>
        </p:nvCxnSpPr>
        <p:spPr>
          <a:xfrm>
            <a:off x="4764241" y="4302240"/>
            <a:ext cx="0" cy="553264"/>
          </a:xfrm>
          <a:prstGeom prst="line">
            <a:avLst/>
          </a:prstGeom>
          <a:ln w="63500">
            <a:solidFill>
              <a:schemeClr val="accent1">
                <a:alpha val="6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595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EADF76-35F1-6448-A330-518B1FE649B0}"/>
              </a:ext>
            </a:extLst>
          </p:cNvPr>
          <p:cNvSpPr txBox="1"/>
          <p:nvPr/>
        </p:nvSpPr>
        <p:spPr>
          <a:xfrm>
            <a:off x="0" y="0"/>
            <a:ext cx="3537936" cy="6001643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Cambio also predicts that oceans are not a permanent sink, but rather temporary storage. </a:t>
            </a:r>
          </a:p>
          <a:p>
            <a:endParaRPr lang="en-US" sz="2400" b="1" dirty="0"/>
          </a:p>
          <a:p>
            <a:r>
              <a:rPr lang="en-US" sz="2400" b="1" dirty="0"/>
              <a:t>This reversal is because the climate seems to be on a path back to something like pre-industrial: As carbon amounts in the atmosphere return to normal, the supersaturated oceans begin to give up some of their excess carbon.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1845EB7-62F7-B3CA-A09F-148F668C9B96}"/>
              </a:ext>
            </a:extLst>
          </p:cNvPr>
          <p:cNvGrpSpPr>
            <a:grpSpLocks noChangeAspect="1"/>
          </p:cNvGrpSpPr>
          <p:nvPr/>
        </p:nvGrpSpPr>
        <p:grpSpPr>
          <a:xfrm>
            <a:off x="3685435" y="3338811"/>
            <a:ext cx="4636763" cy="3464015"/>
            <a:chOff x="24527" y="1729702"/>
            <a:chExt cx="4536042" cy="338876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568AD73-3F05-FB14-A334-DD0645E2D0C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527" y="1729702"/>
              <a:ext cx="4536042" cy="3388768"/>
              <a:chOff x="27724" y="1732090"/>
              <a:chExt cx="5127205" cy="3830412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B725EFE-427D-7DD8-97A3-7C9BB4610B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7724" y="1732090"/>
                <a:ext cx="5127205" cy="3830412"/>
              </a:xfrm>
              <a:prstGeom prst="rect">
                <a:avLst/>
              </a:prstGeom>
            </p:spPr>
          </p:pic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06BFF9F-9765-E246-A3A6-72F15900A9A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8670" y="3806190"/>
                <a:ext cx="148590" cy="16002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F7EA7C6-983B-981A-D999-D234D4255979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59852" y="4091798"/>
                <a:ext cx="2183348" cy="730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Pre-industrial carbon amounts </a:t>
                </a:r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7D89737-BD52-15E9-B32A-60973C9AE5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1547" y="4608600"/>
              <a:ext cx="131458" cy="141570"/>
            </a:xfrm>
            <a:prstGeom prst="ellipse">
              <a:avLst/>
            </a:prstGeom>
            <a:solidFill>
              <a:srgbClr val="50ECE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4E8E7F7-9AA4-D856-DCC6-9278461B6F45}"/>
              </a:ext>
            </a:extLst>
          </p:cNvPr>
          <p:cNvGrpSpPr>
            <a:grpSpLocks noChangeAspect="1"/>
          </p:cNvGrpSpPr>
          <p:nvPr/>
        </p:nvGrpSpPr>
        <p:grpSpPr>
          <a:xfrm>
            <a:off x="3685437" y="104996"/>
            <a:ext cx="8198624" cy="3374675"/>
            <a:chOff x="3677003" y="186234"/>
            <a:chExt cx="9133476" cy="3759475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7CA775F-1D40-E45D-4FCF-C9B099B9A4F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677003" y="506681"/>
              <a:ext cx="9133476" cy="3439028"/>
              <a:chOff x="-770173" y="1457192"/>
              <a:chExt cx="11397942" cy="4291667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78D3D37B-D3C2-A2CA-B103-3AB31270706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7553" b="9670"/>
              <a:stretch/>
            </p:blipFill>
            <p:spPr>
              <a:xfrm>
                <a:off x="-770173" y="1457192"/>
                <a:ext cx="6901570" cy="4291667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56736C2-1052-645C-6007-D9AB19E98240}"/>
                  </a:ext>
                </a:extLst>
              </p:cNvPr>
              <p:cNvSpPr txBox="1"/>
              <p:nvPr/>
            </p:nvSpPr>
            <p:spPr>
              <a:xfrm>
                <a:off x="5974313" y="1766241"/>
                <a:ext cx="4653456" cy="89854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Peak backlash (net ocean-to-atmosphere flux is a maximum)</a:t>
                </a: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9779B83-FE3D-D7D6-6FE5-080379D791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5509" y="1504708"/>
              <a:ext cx="1150241" cy="949125"/>
            </a:xfrm>
            <a:prstGeom prst="straightConnector1">
              <a:avLst/>
            </a:prstGeom>
            <a:ln w="63500">
              <a:solidFill>
                <a:schemeClr val="tx1">
                  <a:alpha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52DB829-26E9-3B1F-D1F8-93BEB4269E9F}"/>
                </a:ext>
              </a:extLst>
            </p:cNvPr>
            <p:cNvSpPr txBox="1"/>
            <p:nvPr/>
          </p:nvSpPr>
          <p:spPr>
            <a:xfrm>
              <a:off x="3802050" y="186234"/>
              <a:ext cx="2826323" cy="102861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Oceans become a net source of carbon around mid-century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D20DCE1-2A75-0BBD-9889-857E0A52010C}"/>
                </a:ext>
              </a:extLst>
            </p:cNvPr>
            <p:cNvCxnSpPr>
              <a:cxnSpLocks/>
            </p:cNvCxnSpPr>
            <p:nvPr/>
          </p:nvCxnSpPr>
          <p:spPr>
            <a:xfrm>
              <a:off x="6628373" y="1214847"/>
              <a:ext cx="987770" cy="1525635"/>
            </a:xfrm>
            <a:prstGeom prst="straightConnector1">
              <a:avLst/>
            </a:prstGeom>
            <a:ln w="63500">
              <a:solidFill>
                <a:schemeClr val="tx1">
                  <a:alpha val="34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93564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EADF76-35F1-6448-A330-518B1FE649B0}"/>
              </a:ext>
            </a:extLst>
          </p:cNvPr>
          <p:cNvSpPr txBox="1"/>
          <p:nvPr/>
        </p:nvSpPr>
        <p:spPr>
          <a:xfrm>
            <a:off x="0" y="0"/>
            <a:ext cx="11922176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Plan for the day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069EE8-83E3-03B8-22B7-CDD70F4D75CB}"/>
              </a:ext>
            </a:extLst>
          </p:cNvPr>
          <p:cNvSpPr txBox="1"/>
          <p:nvPr/>
        </p:nvSpPr>
        <p:spPr>
          <a:xfrm>
            <a:off x="433247" y="1905506"/>
            <a:ext cx="1132550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Talk about the difference between kinds of variables in Cambio 1.0: </a:t>
            </a:r>
            <a:r>
              <a:rPr lang="en-US" sz="2400" b="1" dirty="0"/>
              <a:t>parametric</a:t>
            </a:r>
            <a:r>
              <a:rPr lang="en-US" sz="2400" dirty="0"/>
              <a:t>, </a:t>
            </a:r>
            <a:r>
              <a:rPr lang="en-US" sz="2400" b="1" dirty="0"/>
              <a:t>prognostic</a:t>
            </a:r>
            <a:r>
              <a:rPr lang="en-US" sz="2400" dirty="0"/>
              <a:t>, and </a:t>
            </a:r>
            <a:r>
              <a:rPr lang="en-US" sz="2400" b="1" dirty="0"/>
              <a:t>diagnostic</a:t>
            </a:r>
          </a:p>
          <a:p>
            <a:pPr marL="457200" indent="-457200">
              <a:buFont typeface="+mj-lt"/>
              <a:buAutoNum type="arabicPeriod"/>
            </a:pPr>
            <a:endParaRPr lang="en-US" sz="2400" b="1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Introduce the function </a:t>
            </a:r>
            <a:r>
              <a:rPr lang="en-US" sz="2400" dirty="0" err="1"/>
              <a:t>cl.CreateClimateParams</a:t>
            </a:r>
            <a:r>
              <a:rPr lang="en-US" sz="2400" dirty="0"/>
              <a:t> that creates a Python dictionary that specifies a bunch climate parameters (so you don’t have to do it)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Set up functions to calculate (“diagnose”) variables.</a:t>
            </a:r>
          </a:p>
        </p:txBody>
      </p:sp>
    </p:spTree>
    <p:extLst>
      <p:ext uri="{BB962C8B-B14F-4D97-AF65-F5344CB8AC3E}">
        <p14:creationId xmlns:p14="http://schemas.microsoft.com/office/powerpoint/2010/main" val="293108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EADF76-35F1-6448-A330-518B1FE649B0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Different kinds of quantities in Cambio 1.0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12B22B-778F-F8A7-ADC4-69DF21598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7164" y="3428999"/>
            <a:ext cx="4017557" cy="30180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5EF125-D2C7-022E-FC2B-C3A44C50EB99}"/>
                  </a:ext>
                </a:extLst>
              </p:cNvPr>
              <p:cNvSpPr txBox="1"/>
              <p:nvPr/>
            </p:nvSpPr>
            <p:spPr>
              <a:xfrm>
                <a:off x="42502" y="499218"/>
                <a:ext cx="6647665" cy="6247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Parametric variables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Constants specified prior to the Euler loop, found on the </a:t>
                </a:r>
                <a:r>
                  <a:rPr lang="en-US" sz="2000" b="1" dirty="0"/>
                  <a:t>right-hand-side</a:t>
                </a:r>
                <a:r>
                  <a:rPr lang="en-US" sz="2000" dirty="0"/>
                  <a:t> of assignments within the Euler loop.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Example: the anthropogenic emissions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000" dirty="0"/>
                  <a:t> -- which is an entire array of parametric values, actually.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2000" b="1" dirty="0"/>
              </a:p>
              <a:p>
                <a:r>
                  <a:rPr lang="en-US" sz="2000" b="1" dirty="0"/>
                  <a:t>Prognostic variables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Appear on the </a:t>
                </a:r>
                <a:r>
                  <a:rPr lang="en-US" sz="2000" b="1" dirty="0"/>
                  <a:t>left-hand-side and the right-hand-side </a:t>
                </a:r>
                <a:r>
                  <a:rPr lang="en-US" sz="2000" dirty="0"/>
                  <a:t>of assignments in the Euler loop.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Examples: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𝑎𝑡𝑚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𝑜𝑐𝑒𝑎𝑛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are used to calculate fluxes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𝑎𝑜</m:t>
                        </m:r>
                      </m:sub>
                    </m:sSub>
                  </m:oMath>
                </a14:m>
                <a:r>
                  <a:rPr lang="en-US" sz="2000" dirty="0"/>
                  <a:t>, etc.), and those fluxes  are used to update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𝑎𝑡𝑚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𝑜𝑐𝑒𝑎𝑛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endParaRPr lang="en-US" sz="2000" b="1" dirty="0"/>
              </a:p>
              <a:p>
                <a:r>
                  <a:rPr lang="en-US" sz="2000" b="1" dirty="0"/>
                  <a:t>Diagnostic variables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Appear strictly on the </a:t>
                </a:r>
                <a:r>
                  <a:rPr lang="en-US" sz="2000" b="1" dirty="0"/>
                  <a:t>left-hand-side</a:t>
                </a:r>
                <a:r>
                  <a:rPr lang="en-US" sz="2000" dirty="0"/>
                  <a:t> of assignments in the loop (i.e., they’re calculated, even graphed), but don’t affect the prognostic variables.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Examples: temperature anomaly, ocean pH (which we’ll get to).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5EF125-D2C7-022E-FC2B-C3A44C50E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02" y="499218"/>
                <a:ext cx="6647665" cy="6247864"/>
              </a:xfrm>
              <a:prstGeom prst="rect">
                <a:avLst/>
              </a:prstGeom>
              <a:blipFill>
                <a:blip r:embed="rId3"/>
                <a:stretch>
                  <a:fillRect l="-954" t="-609" r="-1145" b="-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0364665D-26CA-5661-D482-4DA09E48C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7164" y="657631"/>
            <a:ext cx="3912243" cy="249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720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C7C58A5-C6DF-5140-B42C-771BB4BF5F67}"/>
              </a:ext>
            </a:extLst>
          </p:cNvPr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CreateClimateParams</a:t>
            </a:r>
            <a:r>
              <a:rPr lang="en-US" sz="2400" b="1" dirty="0"/>
              <a:t>: a function that creates a “dictionary” to help keep things organized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E1047E-22DE-A9DB-D66F-DF65C0A66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1954529"/>
            <a:ext cx="4881880" cy="46039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664257-68DA-96DF-8C2E-57ACE3D019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650" b="79922"/>
          <a:stretch/>
        </p:blipFill>
        <p:spPr>
          <a:xfrm>
            <a:off x="457116" y="686655"/>
            <a:ext cx="7258732" cy="105995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7809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524052-8B54-490C-BB4F-35F9C75EF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6" y="3362617"/>
            <a:ext cx="10299083" cy="32703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C7C58A5-C6DF-5140-B42C-771BB4BF5F67}"/>
              </a:ext>
            </a:extLst>
          </p:cNvPr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Setting up diagnostic functions: Temperature conversion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097186-D635-0F70-E446-A14825CA8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26" y="879820"/>
            <a:ext cx="6824271" cy="215356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128095DD-7FBB-3DE4-693F-31003A07A07C}"/>
              </a:ext>
            </a:extLst>
          </p:cNvPr>
          <p:cNvGrpSpPr/>
          <p:nvPr/>
        </p:nvGrpSpPr>
        <p:grpSpPr>
          <a:xfrm>
            <a:off x="8705480" y="1366260"/>
            <a:ext cx="3486520" cy="3894854"/>
            <a:chOff x="8705480" y="1366260"/>
            <a:chExt cx="3486520" cy="389485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37B4942-434A-DB35-CE02-A150EC79E3A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705480" y="1406016"/>
              <a:ext cx="3486520" cy="3646460"/>
              <a:chOff x="8148669" y="911467"/>
              <a:chExt cx="4580403" cy="4790525"/>
            </a:xfrm>
          </p:grpSpPr>
          <p:pic>
            <p:nvPicPr>
              <p:cNvPr id="11" name="Picture 10" descr="MuliMIX Electric Apple Grinder (0.8 Ton)">
                <a:extLst>
                  <a:ext uri="{FF2B5EF4-FFF2-40B4-BE49-F238E27FC236}">
                    <a16:creationId xmlns:a16="http://schemas.microsoft.com/office/drawing/2014/main" id="{4FDCF1B7-9119-5036-79A5-904FD67416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48669" y="1634796"/>
                <a:ext cx="3588407" cy="35884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7D838A-A45A-4D0F-3D87-D736A39037E2}"/>
                  </a:ext>
                </a:extLst>
              </p:cNvPr>
              <p:cNvSpPr txBox="1"/>
              <p:nvPr/>
            </p:nvSpPr>
            <p:spPr>
              <a:xfrm>
                <a:off x="8396725" y="911467"/>
                <a:ext cx="4332347" cy="606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T_C goes in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847BAA8-5424-842E-EBB6-359126E4F4AA}"/>
                  </a:ext>
                </a:extLst>
              </p:cNvPr>
              <p:cNvSpPr txBox="1"/>
              <p:nvPr/>
            </p:nvSpPr>
            <p:spPr>
              <a:xfrm>
                <a:off x="8597756" y="5095481"/>
                <a:ext cx="3139319" cy="606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T_F comes out</a:t>
                </a:r>
              </a:p>
            </p:txBody>
          </p:sp>
        </p:grp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377988C7-CEA4-0F2B-02D8-ED0A67658B06}"/>
                </a:ext>
              </a:extLst>
            </p:cNvPr>
            <p:cNvSpPr/>
            <p:nvPr/>
          </p:nvSpPr>
          <p:spPr>
            <a:xfrm>
              <a:off x="8854540" y="1366260"/>
              <a:ext cx="3098921" cy="3894854"/>
            </a:xfrm>
            <a:prstGeom prst="frame">
              <a:avLst>
                <a:gd name="adj1" fmla="val 95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8135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C7C58A5-C6DF-5140-B42C-771BB4BF5F67}"/>
              </a:ext>
            </a:extLst>
          </p:cNvPr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Setting up diagnostic functions: Temperature conversion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28095DD-7FBB-3DE4-693F-31003A07A07C}"/>
              </a:ext>
            </a:extLst>
          </p:cNvPr>
          <p:cNvGrpSpPr/>
          <p:nvPr/>
        </p:nvGrpSpPr>
        <p:grpSpPr>
          <a:xfrm>
            <a:off x="8705479" y="914400"/>
            <a:ext cx="3486521" cy="4507408"/>
            <a:chOff x="8705479" y="914400"/>
            <a:chExt cx="3486521" cy="450740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37B4942-434A-DB35-CE02-A150EC79E3A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705479" y="968018"/>
              <a:ext cx="3486521" cy="4453790"/>
              <a:chOff x="8148669" y="336048"/>
              <a:chExt cx="4580405" cy="5851153"/>
            </a:xfrm>
          </p:grpSpPr>
          <p:pic>
            <p:nvPicPr>
              <p:cNvPr id="11" name="Picture 10" descr="MuliMIX Electric Apple Grinder (0.8 Ton)">
                <a:extLst>
                  <a:ext uri="{FF2B5EF4-FFF2-40B4-BE49-F238E27FC236}">
                    <a16:creationId xmlns:a16="http://schemas.microsoft.com/office/drawing/2014/main" id="{4FDCF1B7-9119-5036-79A5-904FD67416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48669" y="1634796"/>
                <a:ext cx="3588407" cy="35884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7D838A-A45A-4D0F-3D87-D736A39037E2}"/>
                  </a:ext>
                </a:extLst>
              </p:cNvPr>
              <p:cNvSpPr txBox="1"/>
              <p:nvPr/>
            </p:nvSpPr>
            <p:spPr>
              <a:xfrm>
                <a:off x="8396727" y="336048"/>
                <a:ext cx="4332347" cy="1091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err="1"/>
                  <a:t>C_atm</a:t>
                </a:r>
                <a:r>
                  <a:rPr lang="en-US" sz="2400" dirty="0"/>
                  <a:t>, alpha, and </a:t>
                </a:r>
                <a:r>
                  <a:rPr lang="en-US" sz="2400" dirty="0" err="1"/>
                  <a:t>ClimateParams</a:t>
                </a:r>
                <a:r>
                  <a:rPr lang="en-US" sz="2400" dirty="0"/>
                  <a:t> go in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847BAA8-5424-842E-EBB6-359126E4F4AA}"/>
                  </a:ext>
                </a:extLst>
              </p:cNvPr>
              <p:cNvSpPr txBox="1"/>
              <p:nvPr/>
            </p:nvSpPr>
            <p:spPr>
              <a:xfrm>
                <a:off x="8597756" y="5095481"/>
                <a:ext cx="3139320" cy="1091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err="1"/>
                  <a:t>T_anomaly</a:t>
                </a:r>
                <a:r>
                  <a:rPr lang="en-US" sz="2400" dirty="0"/>
                  <a:t> comes out</a:t>
                </a:r>
              </a:p>
            </p:txBody>
          </p:sp>
        </p:grp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377988C7-CEA4-0F2B-02D8-ED0A67658B06}"/>
                </a:ext>
              </a:extLst>
            </p:cNvPr>
            <p:cNvSpPr/>
            <p:nvPr/>
          </p:nvSpPr>
          <p:spPr>
            <a:xfrm>
              <a:off x="8854540" y="914400"/>
              <a:ext cx="3098921" cy="4507408"/>
            </a:xfrm>
            <a:prstGeom prst="frame">
              <a:avLst>
                <a:gd name="adj1" fmla="val 95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6491CCE-011A-1594-8894-1AB62B490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54" y="593938"/>
            <a:ext cx="8497555" cy="399687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830235-B0BC-A98F-3888-EF9E52F75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091" y="4688030"/>
            <a:ext cx="7772400" cy="204667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47604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C7C58A5-C6DF-5140-B42C-771BB4BF5F67}"/>
              </a:ext>
            </a:extLst>
          </p:cNvPr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 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2DE844-84BD-1E96-696D-83283E48A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96" y="1139304"/>
            <a:ext cx="7264400" cy="20955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360E1C1-0B78-938E-C8D8-44CEC19A8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709" y="3912443"/>
            <a:ext cx="7061200" cy="17653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22098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1427</TotalTime>
  <Words>497</Words>
  <Application>Microsoft Macintosh PowerPoint</Application>
  <PresentationFormat>Widescreen</PresentationFormat>
  <Paragraphs>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87</cp:revision>
  <dcterms:created xsi:type="dcterms:W3CDTF">2021-10-22T17:10:02Z</dcterms:created>
  <dcterms:modified xsi:type="dcterms:W3CDTF">2025-10-27T21:42:53Z</dcterms:modified>
</cp:coreProperties>
</file>