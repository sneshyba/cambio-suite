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95" r:id="rId2"/>
    <p:sldId id="1980" r:id="rId3"/>
    <p:sldId id="1981" r:id="rId4"/>
    <p:sldId id="1982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0"/>
    <p:restoredTop sz="95970"/>
  </p:normalViewPr>
  <p:slideViewPr>
    <p:cSldViewPr snapToGrid="0">
      <p:cViewPr varScale="1">
        <p:scale>
          <a:sx n="112" d="100"/>
          <a:sy n="112" d="100"/>
        </p:scale>
        <p:origin x="48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6BCE26-7E7C-9482-F847-246FB951C40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2F79227-7091-EB5F-E77A-309381FBAD4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3FEED1-59D7-DD53-7956-A99D1DAD1C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87C89B-3EAF-AF40-BC84-1CDCDE4E8491}" type="datetimeFigureOut">
              <a:rPr lang="en-US" smtClean="0"/>
              <a:t>9/18/25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74AB2A-2023-9E80-CCAE-68F4D8349F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115A9E-5599-FA4B-0EE3-19A75CF871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0D0615-5AFA-C34A-9724-B50418A1B1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36572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C0C968-72F1-B214-14E0-04DEBCDA36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948B42-E3B4-CA59-16CC-21F8065AD1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D6D560-126F-E235-8DF5-3C8B641216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87C89B-3EAF-AF40-BC84-1CDCDE4E8491}" type="datetimeFigureOut">
              <a:rPr lang="en-US" smtClean="0"/>
              <a:t>9/18/25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1346FC-C5C7-B753-0E86-04B230E1EB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8EE24F-A133-603C-3CF1-3DA4012CCA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0D0615-5AFA-C34A-9724-B50418A1B1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12432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05501E-8F9A-908F-0004-C358E97C39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FC0DA75-94A4-05EB-8451-5A75405946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7B5DE0-448A-7AF9-184D-69E2CA47AE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87C89B-3EAF-AF40-BC84-1CDCDE4E8491}" type="datetimeFigureOut">
              <a:rPr lang="en-US" smtClean="0"/>
              <a:t>9/18/25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A0227B-6881-A449-86A0-E51F0C574F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EADC77-D5F2-A2CC-3799-BB6B0A1E8F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0D0615-5AFA-C34A-9724-B50418A1B1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04119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B48787-95C8-D97B-3876-F5A3D06A96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DAE7DB-4A52-A9D7-0E7C-08E002687B5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DA77852-E86A-7B39-0E43-E2339FA58E0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559840F-A178-5CA9-F604-08F8922DDC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87C89B-3EAF-AF40-BC84-1CDCDE4E8491}" type="datetimeFigureOut">
              <a:rPr lang="en-US" smtClean="0"/>
              <a:t>9/18/25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D11E99A-2AED-183B-8B86-09F071DC94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D499344-239E-3DE9-C996-9BA22AC925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0D0615-5AFA-C34A-9724-B50418A1B1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88264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27F016-6D66-EE1C-7C62-4F84E33C1C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819D12C-B2DA-6128-3E6E-3997EDC56A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57CA72E-DF03-BE4F-AB7F-A5745041832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F983D98-97A4-1F97-A390-89F2CF15E99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BCEDEB4-9C5B-E9B5-62FB-0E66CE602FD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A7DB4B2-AA8E-770B-B4AF-8ABCD018D2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87C89B-3EAF-AF40-BC84-1CDCDE4E8491}" type="datetimeFigureOut">
              <a:rPr lang="en-US" smtClean="0"/>
              <a:t>9/18/25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1E6A267-C6BF-8D7E-2912-696EBFD293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38802B3-A1DA-F4AA-5CAA-0D47EE6FAD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0D0615-5AFA-C34A-9724-B50418A1B1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12234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358D9A-79B2-78C7-C895-53415EC49C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22872F3-E530-B0D5-3E9D-993EE41D78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87C89B-3EAF-AF40-BC84-1CDCDE4E8491}" type="datetimeFigureOut">
              <a:rPr lang="en-US" smtClean="0"/>
              <a:t>9/18/25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E1E5ED9-EC15-E598-0EC2-E7E7D67C04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CDB7BE2-4AA1-EE11-8432-C58F73F807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0D0615-5AFA-C34A-9724-B50418A1B1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77819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F905E14-6510-BF15-A992-88CFC66807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87C89B-3EAF-AF40-BC84-1CDCDE4E8491}" type="datetimeFigureOut">
              <a:rPr lang="en-US" smtClean="0"/>
              <a:t>9/18/25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43CFEED-1CB3-4F72-3E65-1D8DC8149F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DC04935-AA93-2145-1B6C-5AF0DC1759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0D0615-5AFA-C34A-9724-B50418A1B1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42879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2FFD40-FCE8-281A-E4DC-928F4E8155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1C0163-2F7C-489E-DC0E-B7196F38E3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AA69DC5-7B22-8629-9D90-0AFFDB134DA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6FAE6DC-326A-C166-2DA9-9D8F62D44A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87C89B-3EAF-AF40-BC84-1CDCDE4E8491}" type="datetimeFigureOut">
              <a:rPr lang="en-US" smtClean="0"/>
              <a:t>9/18/25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383867C-0FF6-F903-E870-0AE4192320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72CB6BE-0CF7-F84C-BB24-2CB6CF7B38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0D0615-5AFA-C34A-9724-B50418A1B1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29355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0DC830-0120-2957-33E3-BE2BD37348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2AE0A12-5482-4E1C-1DCD-665A32D864A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6E6F529-68C7-72B9-A121-0909D3ECDA1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7141A2C-FEA4-B168-B0AD-F114D11ED5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87C89B-3EAF-AF40-BC84-1CDCDE4E8491}" type="datetimeFigureOut">
              <a:rPr lang="en-US" smtClean="0"/>
              <a:t>9/18/25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178CB6E-B8F8-8FF4-E54E-AB3DFC9E16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144090F-0159-AEE8-6337-AD53FF79C2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0D0615-5AFA-C34A-9724-B50418A1B1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80323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3E13A4-151A-5509-3F54-4985588F54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D745258-2AC1-086F-A748-95C7274CF41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1A75A3-908A-D719-A8FF-4E40990D59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87C89B-3EAF-AF40-BC84-1CDCDE4E8491}" type="datetimeFigureOut">
              <a:rPr lang="en-US" smtClean="0"/>
              <a:t>9/18/25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14949B-9092-770D-9629-6135B6DE6C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267B6B-CB45-2166-5840-2B7CAE1883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0D0615-5AFA-C34A-9724-B50418A1B1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70309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98A8B7F-6405-66DF-3364-746CD452AD6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F0945E4-0CCE-AE5A-07EA-37A7BA65B1C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33D4E0-C27D-FC98-3362-555C4DCDFD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87C89B-3EAF-AF40-BC84-1CDCDE4E8491}" type="datetimeFigureOut">
              <a:rPr lang="en-US" smtClean="0"/>
              <a:t>9/18/25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D1C039-6552-B546-E756-97A09F677C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F89E95-69CF-E8A4-2810-B708A0BCA0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0D0615-5AFA-C34A-9724-B50418A1B1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92426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E008106-92ED-5676-DD56-8FB5968F24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40C6A16-D5CB-E701-FC9C-1CAA1F063F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CEBE32-D034-9BC8-0EB4-66916EDC61A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F87C89B-3EAF-AF40-BC84-1CDCDE4E8491}" type="datetimeFigureOut">
              <a:rPr lang="en-US" smtClean="0"/>
              <a:t>9/18/25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7CEA98-06C1-E470-6030-3D0D1CEDF71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E0204D-7970-7AC4-2648-5B4DFF4829B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A0D0615-5AFA-C34A-9724-B50418A1B1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16544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tandfonline.com/doi/full/10.1080/23311983.2024.2339577#abstract" TargetMode="Externa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1349E1BE-9A23-5AAF-1960-36372C265F2D}"/>
              </a:ext>
            </a:extLst>
          </p:cNvPr>
          <p:cNvSpPr txBox="1"/>
          <p:nvPr/>
        </p:nvSpPr>
        <p:spPr>
          <a:xfrm>
            <a:off x="0" y="0"/>
            <a:ext cx="12191999" cy="461665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sz="2400" b="1" dirty="0" err="1"/>
              <a:t>Schrepfer’s</a:t>
            </a:r>
            <a:r>
              <a:rPr lang="en-US" sz="2400" b="1" dirty="0"/>
              <a:t> power analysis method of analyzing of claims</a:t>
            </a:r>
            <a:endParaRPr lang="en-US" sz="2400" b="1" i="1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189757E-329D-0CFA-C76E-088FF87F24BC}"/>
              </a:ext>
            </a:extLst>
          </p:cNvPr>
          <p:cNvSpPr txBox="1"/>
          <p:nvPr/>
        </p:nvSpPr>
        <p:spPr>
          <a:xfrm>
            <a:off x="1111170" y="995423"/>
            <a:ext cx="9919503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Ask three questions:</a:t>
            </a:r>
          </a:p>
          <a:p>
            <a:endParaRPr lang="en-US" sz="2400" dirty="0"/>
          </a:p>
          <a:p>
            <a:pPr marL="457200" indent="-457200">
              <a:buFont typeface="+mj-lt"/>
              <a:buAutoNum type="arabicPeriod"/>
            </a:pPr>
            <a:r>
              <a:rPr lang="en-US" sz="2400" dirty="0"/>
              <a:t>How does it function? (Or: What is its goal?)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/>
              <a:t>Who does it benefit?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/>
              <a:t>Where is the power?</a:t>
            </a:r>
          </a:p>
          <a:p>
            <a:pPr marL="457200" indent="-457200">
              <a:buFont typeface="+mj-lt"/>
              <a:buAutoNum type="arabicPeriod"/>
            </a:pPr>
            <a:endParaRPr lang="en-US" sz="2400" dirty="0"/>
          </a:p>
          <a:p>
            <a:r>
              <a:rPr lang="en-US" sz="2400" dirty="0"/>
              <a:t>Example … in this course … </a:t>
            </a:r>
          </a:p>
        </p:txBody>
      </p:sp>
    </p:spTree>
    <p:extLst>
      <p:ext uri="{BB962C8B-B14F-4D97-AF65-F5344CB8AC3E}">
        <p14:creationId xmlns:p14="http://schemas.microsoft.com/office/powerpoint/2010/main" val="308099817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1349E1BE-9A23-5AAF-1960-36372C265F2D}"/>
              </a:ext>
            </a:extLst>
          </p:cNvPr>
          <p:cNvSpPr txBox="1"/>
          <p:nvPr/>
        </p:nvSpPr>
        <p:spPr>
          <a:xfrm>
            <a:off x="0" y="0"/>
            <a:ext cx="12191999" cy="461665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sz="2400" b="1" dirty="0"/>
              <a:t>Rowe’s replacement method for analyzing claims</a:t>
            </a:r>
            <a:endParaRPr lang="en-US" sz="2400" b="1" i="1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189757E-329D-0CFA-C76E-088FF87F24BC}"/>
              </a:ext>
            </a:extLst>
          </p:cNvPr>
          <p:cNvSpPr txBox="1"/>
          <p:nvPr/>
        </p:nvSpPr>
        <p:spPr>
          <a:xfrm>
            <a:off x="401782" y="995423"/>
            <a:ext cx="11374582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Explore an idea by replacing one word or concept with another, to see how it sits. </a:t>
            </a:r>
          </a:p>
          <a:p>
            <a:endParaRPr lang="en-US" sz="2400" dirty="0"/>
          </a:p>
          <a:p>
            <a:r>
              <a:rPr lang="en-US" sz="2400" b="1" dirty="0"/>
              <a:t>Statement #1:</a:t>
            </a:r>
          </a:p>
          <a:p>
            <a:r>
              <a:rPr lang="en-US" sz="2400" dirty="0"/>
              <a:t>"It's a waste of time to take individual action to oppose climate change, because it's embedded in the way our economy and culture work; only collective action has any chance of working."</a:t>
            </a:r>
          </a:p>
        </p:txBody>
      </p:sp>
    </p:spTree>
    <p:extLst>
      <p:ext uri="{BB962C8B-B14F-4D97-AF65-F5344CB8AC3E}">
        <p14:creationId xmlns:p14="http://schemas.microsoft.com/office/powerpoint/2010/main" val="34093967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1349E1BE-9A23-5AAF-1960-36372C265F2D}"/>
              </a:ext>
            </a:extLst>
          </p:cNvPr>
          <p:cNvSpPr txBox="1"/>
          <p:nvPr/>
        </p:nvSpPr>
        <p:spPr>
          <a:xfrm>
            <a:off x="0" y="0"/>
            <a:ext cx="12191999" cy="461665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sz="2400" b="1" dirty="0"/>
              <a:t>Rowe’s replacement method for analyzing claims</a:t>
            </a:r>
            <a:endParaRPr lang="en-US" sz="2400" b="1" i="1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189757E-329D-0CFA-C76E-088FF87F24BC}"/>
              </a:ext>
            </a:extLst>
          </p:cNvPr>
          <p:cNvSpPr txBox="1"/>
          <p:nvPr/>
        </p:nvSpPr>
        <p:spPr>
          <a:xfrm>
            <a:off x="401782" y="995423"/>
            <a:ext cx="11374582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Explore an idea by replacing one word or concept with another, to see how it sits. </a:t>
            </a:r>
          </a:p>
          <a:p>
            <a:endParaRPr lang="en-US" sz="2400" dirty="0"/>
          </a:p>
          <a:p>
            <a:r>
              <a:rPr lang="en-US" sz="2400" b="1" dirty="0"/>
              <a:t>Statement #1:</a:t>
            </a:r>
          </a:p>
          <a:p>
            <a:r>
              <a:rPr lang="en-US" sz="2400" dirty="0"/>
              <a:t>"It's a waste of time to take individual action to oppose climate change, because it's embedded in the way our economy and culture work; only collective action has any chance of working."</a:t>
            </a:r>
          </a:p>
          <a:p>
            <a:endParaRPr lang="en-US" sz="2400" dirty="0"/>
          </a:p>
          <a:p>
            <a:r>
              <a:rPr lang="en-US" sz="2400" b="1" dirty="0"/>
              <a:t>Statement #2:</a:t>
            </a:r>
          </a:p>
          <a:p>
            <a:r>
              <a:rPr lang="en-US" sz="2400" dirty="0"/>
              <a:t>"It's a waste of time to take individual action to oppose white supremacy, because it's embedded in the way our economy and culture work; only collective action has any chance of working."</a:t>
            </a:r>
          </a:p>
        </p:txBody>
      </p:sp>
    </p:spTree>
    <p:extLst>
      <p:ext uri="{BB962C8B-B14F-4D97-AF65-F5344CB8AC3E}">
        <p14:creationId xmlns:p14="http://schemas.microsoft.com/office/powerpoint/2010/main" val="24111957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1349E1BE-9A23-5AAF-1960-36372C265F2D}"/>
              </a:ext>
            </a:extLst>
          </p:cNvPr>
          <p:cNvSpPr txBox="1"/>
          <p:nvPr/>
        </p:nvSpPr>
        <p:spPr>
          <a:xfrm>
            <a:off x="0" y="0"/>
            <a:ext cx="12191999" cy="461665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sz="2400" b="1" dirty="0"/>
              <a:t>Positive Discourse Analysis (PDA) and Critical Discourse Analysis (CDA)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189757E-329D-0CFA-C76E-088FF87F24BC}"/>
              </a:ext>
            </a:extLst>
          </p:cNvPr>
          <p:cNvSpPr txBox="1"/>
          <p:nvPr/>
        </p:nvSpPr>
        <p:spPr>
          <a:xfrm>
            <a:off x="401782" y="995423"/>
            <a:ext cx="1137458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See the paper by </a:t>
            </a:r>
            <a:r>
              <a:rPr lang="en-US" sz="2400" dirty="0">
                <a:hlinkClick r:id="rId2"/>
              </a:rPr>
              <a:t>Ponton &amp; </a:t>
            </a:r>
            <a:r>
              <a:rPr lang="en-US" sz="2400" dirty="0" err="1">
                <a:hlinkClick r:id="rId2"/>
              </a:rPr>
              <a:t>Raima</a:t>
            </a:r>
            <a:r>
              <a:rPr lang="en-US" sz="2400" dirty="0">
                <a:hlinkClick r:id="rId2"/>
              </a:rPr>
              <a:t>, 2024</a:t>
            </a:r>
            <a:endParaRPr lang="en-US" sz="24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5ABA4A5-00F2-3392-F4AD-772B65151E6D}"/>
              </a:ext>
            </a:extLst>
          </p:cNvPr>
          <p:cNvSpPr txBox="1"/>
          <p:nvPr/>
        </p:nvSpPr>
        <p:spPr>
          <a:xfrm>
            <a:off x="788670" y="2667476"/>
            <a:ext cx="10481310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/>
              <a:t>A mirror image? Positive Discourse Analysis</a:t>
            </a:r>
          </a:p>
          <a:p>
            <a:endParaRPr lang="en-US" sz="2400" dirty="0"/>
          </a:p>
          <a:p>
            <a:r>
              <a:rPr lang="en-US" sz="2400" dirty="0"/>
              <a:t>From a certain point of view Positive Discourse Analysis and Critical Discourse Analysis have much in common; indeed, they could be seen as simply the two sides of the same coin. Both spring from the contemplation of a social issue, directed by the analyst’s sense that the world is out of joint in some respect. </a:t>
            </a:r>
          </a:p>
        </p:txBody>
      </p:sp>
    </p:spTree>
    <p:extLst>
      <p:ext uri="{BB962C8B-B14F-4D97-AF65-F5344CB8AC3E}">
        <p14:creationId xmlns:p14="http://schemas.microsoft.com/office/powerpoint/2010/main" val="223669169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298</Words>
  <Application>Microsoft Macintosh PowerPoint</Application>
  <PresentationFormat>Widescreen</PresentationFormat>
  <Paragraphs>26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Steven</dc:creator>
  <cp:lastModifiedBy>Steven</cp:lastModifiedBy>
  <cp:revision>3</cp:revision>
  <dcterms:created xsi:type="dcterms:W3CDTF">2025-09-18T18:10:47Z</dcterms:created>
  <dcterms:modified xsi:type="dcterms:W3CDTF">2025-09-18T18:45:15Z</dcterms:modified>
</cp:coreProperties>
</file>