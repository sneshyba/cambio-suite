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306" r:id="rId3"/>
    <p:sldId id="303" r:id="rId4"/>
    <p:sldId id="305" r:id="rId5"/>
    <p:sldId id="30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1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B771-57FB-5DE9-5BA6-A8C75FC9D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D23D5-284F-C136-1DBD-5116EE5A2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BB16E-DBB7-27EB-9999-3AF21B85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E96D-5437-8868-6C8D-9A98CE00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05B7-335B-CEE0-9F5B-A0D5E63F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1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6479-2401-EC3D-75AE-8B1B8296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23F4-AA55-AADD-B96E-A1FAFCB4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5CDA9-1E3C-CACB-92BF-BC59CDA5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084F-4422-A273-61E2-05C54124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AEE53-D6C8-596E-3A95-135E7303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2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3B13-A014-1E71-6C40-398408BD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15C05-AA7A-261F-1AE1-A280432E5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3E636-4E7B-4FA5-0DEE-54A4D1D1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DA047-6622-553B-9BDA-5B37B89A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19F5-27B3-9EB8-EDDE-E0235B53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9C1B-4C8A-3A3B-06EE-C58B84D6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3803-D952-D69A-56C2-5AB9223F0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57CD-1A9A-26D5-5A49-C70FB3BDF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208B0-5BDB-B9B7-DA75-98755D31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6DC5-8D87-2CA4-77C3-5A23E4E9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7652C-071F-FB3A-A95E-367EC84B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9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DE05-A6D7-EE53-0F29-5FEF88E9C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C0BE2-2EAC-7D89-4F9A-7F0BDA6F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91417-E408-6DD5-61A5-4C3EB7B53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27EDC-C719-4CB5-369B-768388734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4F6A1-CF80-0654-61E9-E31066E5A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5E6A3-AFD5-1DDE-1B71-63E46478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B60B0-86C0-4131-C268-F347CDFE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706E2-C8E8-0D0E-C446-406AFB44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C96A-1430-20FA-D349-2DBF706E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7573B-A6A3-1D27-2798-13539408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969EC-3D27-A909-E0EE-63C60B96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3AFF2-77C7-076B-E5EE-256A315A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9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FE68A-C43D-356C-C370-9A6A8FB9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E945E-67EA-EB37-4D3A-98EAA02D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756C2-D8E0-FEAD-4815-0BBF1A3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6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A5CC-FE27-C66F-CFAE-40BE9D5D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EA980-97FE-CF51-4D20-E4AEA47D5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D2CE4-448A-253E-B13B-2E6C16122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EF41A-3634-A99C-356F-6E1A9ECC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3CBB6-6CEF-B191-556C-EB3D5756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BD021-5EAC-D516-B58A-77EACCB0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9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DF96-196E-03E9-AE99-92DC6DDE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1933E-153D-B65A-0D64-EC88323F1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C59C3-D9AF-E9D2-DFEB-78A90E39B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D554B-92ED-D48D-F772-419F7871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D3D21-69A0-0192-06D8-A1021792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0E402-ED7F-9AF6-EA40-4E2D598E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1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4D81-8E68-FCF6-24A5-7CD3FF7D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1C7C3-E315-145A-84C4-C81757960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FE4A-2909-FC32-1909-C747C822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59BD9-0631-C03E-7895-044446D6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15BF-60EB-E0FD-0F4C-C079A100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3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03E40-6E93-EB0E-AAA2-6CEB221A8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04613-4117-2A88-063D-6EDFE98EC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725A2-8AB7-646B-2FFA-40AAE7E4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72DB-FB92-5484-29AD-B60C032F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42CA7-C54A-1AC6-F068-6DEBC919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D67FE-9504-7DD5-924A-0A9231B9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0025F-C9BB-6CD8-5BE7-84218E9A5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D7FD-BF63-EDB7-221C-8CCD4765A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1C620-0B22-CE43-B9E9-1D402E85539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8509-DAF3-F6FB-8F61-099812A3B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791AB-3EF6-393C-03D2-6AC3CCC60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37D66-0BB4-554D-A2B3-E26FD8C0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9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communication.yale.edu/about/projects/global-warmings-six-america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B4F33F-417C-372E-2B20-DD3B7185BD6D}"/>
              </a:ext>
            </a:extLst>
          </p:cNvPr>
          <p:cNvSpPr txBox="1"/>
          <p:nvPr/>
        </p:nvSpPr>
        <p:spPr>
          <a:xfrm>
            <a:off x="12028" y="0"/>
            <a:ext cx="1217997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IPCC Panel Discussion on mitigating climate change through demand side reductions</a:t>
            </a:r>
            <a:endParaRPr lang="en-US" sz="2400" b="1" i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B6952C-2EB3-8133-0257-BF16F70F710E}"/>
              </a:ext>
            </a:extLst>
          </p:cNvPr>
          <p:cNvGrpSpPr/>
          <p:nvPr/>
        </p:nvGrpSpPr>
        <p:grpSpPr>
          <a:xfrm>
            <a:off x="500350" y="1008410"/>
            <a:ext cx="11518928" cy="3037092"/>
            <a:chOff x="525016" y="3834181"/>
            <a:chExt cx="11518928" cy="303709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B90C589-7984-6395-F200-F951F3882455}"/>
                </a:ext>
              </a:extLst>
            </p:cNvPr>
            <p:cNvGrpSpPr/>
            <p:nvPr/>
          </p:nvGrpSpPr>
          <p:grpSpPr>
            <a:xfrm>
              <a:off x="6243336" y="3842541"/>
              <a:ext cx="3325599" cy="2972908"/>
              <a:chOff x="3506187" y="3691888"/>
              <a:chExt cx="3325599" cy="297290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6B4D0C9-3E41-48AA-0C0F-2FDE3618EC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624" t="32920" r="38528" b="12331"/>
              <a:stretch/>
            </p:blipFill>
            <p:spPr>
              <a:xfrm>
                <a:off x="3506187" y="3691888"/>
                <a:ext cx="3325599" cy="2001749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F8D5BD-2A75-D636-3FD5-B28971DEB631}"/>
                  </a:ext>
                </a:extLst>
              </p:cNvPr>
              <p:cNvSpPr txBox="1"/>
              <p:nvPr/>
            </p:nvSpPr>
            <p:spPr>
              <a:xfrm>
                <a:off x="3745431" y="5833799"/>
                <a:ext cx="308635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Shreya Some, Asia Institute of Technology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30974B4-A936-3731-C652-18DA127998FB}"/>
                </a:ext>
              </a:extLst>
            </p:cNvPr>
            <p:cNvGrpSpPr/>
            <p:nvPr/>
          </p:nvGrpSpPr>
          <p:grpSpPr>
            <a:xfrm>
              <a:off x="3247693" y="3885092"/>
              <a:ext cx="2727297" cy="2986181"/>
              <a:chOff x="507957" y="3691888"/>
              <a:chExt cx="2727297" cy="298618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9BCEE8-F289-745C-569E-B7A95F903BC7}"/>
                  </a:ext>
                </a:extLst>
              </p:cNvPr>
              <p:cNvSpPr txBox="1"/>
              <p:nvPr/>
            </p:nvSpPr>
            <p:spPr>
              <a:xfrm>
                <a:off x="507957" y="5847072"/>
                <a:ext cx="272729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David McCollum, Oak Ridge </a:t>
                </a:r>
                <a:r>
                  <a:rPr lang="en-US" sz="2400" dirty="0" err="1"/>
                  <a:t>Nat’l</a:t>
                </a:r>
                <a:r>
                  <a:rPr lang="en-US" sz="2400" dirty="0"/>
                  <a:t> Lab  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66D2882-7737-65B2-46DC-5D082D85A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957" y="3691888"/>
                <a:ext cx="2432076" cy="2001749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20EC98A-5F6B-A2F8-0A51-AF69936E4557}"/>
                </a:ext>
              </a:extLst>
            </p:cNvPr>
            <p:cNvGrpSpPr/>
            <p:nvPr/>
          </p:nvGrpSpPr>
          <p:grpSpPr>
            <a:xfrm>
              <a:off x="525016" y="3907545"/>
              <a:ext cx="2727296" cy="2907904"/>
              <a:chOff x="7235794" y="3616730"/>
              <a:chExt cx="2727296" cy="2907904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40F25E6-4969-98C1-FD17-E2E2D20CF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6035" y="3616730"/>
                <a:ext cx="1910773" cy="2007632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9676F5-F577-88A7-12EC-EF77C3AC641E}"/>
                  </a:ext>
                </a:extLst>
              </p:cNvPr>
              <p:cNvSpPr txBox="1"/>
              <p:nvPr/>
            </p:nvSpPr>
            <p:spPr>
              <a:xfrm>
                <a:off x="7235794" y="5693637"/>
                <a:ext cx="272729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/>
                  <a:t>Joyashree</a:t>
                </a:r>
                <a:r>
                  <a:rPr lang="en-US" sz="2400" dirty="0"/>
                  <a:t> Roy, Jadavpur University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37616B-7176-B43A-877D-3236EAF48C9D}"/>
                </a:ext>
              </a:extLst>
            </p:cNvPr>
            <p:cNvSpPr txBox="1"/>
            <p:nvPr/>
          </p:nvSpPr>
          <p:spPr>
            <a:xfrm>
              <a:off x="10135480" y="5984451"/>
              <a:ext cx="19084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Nick Eyre, Oxford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E9AF480-4DEF-1F41-B671-B31FC4FDC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28756" y="3834181"/>
              <a:ext cx="2215188" cy="21035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011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B4F33F-417C-372E-2B20-DD3B7185BD6D}"/>
              </a:ext>
            </a:extLst>
          </p:cNvPr>
          <p:cNvSpPr txBox="1"/>
          <p:nvPr/>
        </p:nvSpPr>
        <p:spPr>
          <a:xfrm>
            <a:off x="12028" y="0"/>
            <a:ext cx="1217997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Some of your comments … and noting that the word “model” is used in multiple ways </a:t>
            </a:r>
            <a:endParaRPr lang="en-US" sz="24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491B1-3D60-A547-CB39-320D8B982CA5}"/>
              </a:ext>
            </a:extLst>
          </p:cNvPr>
          <p:cNvSpPr txBox="1"/>
          <p:nvPr/>
        </p:nvSpPr>
        <p:spPr>
          <a:xfrm>
            <a:off x="128016" y="461665"/>
            <a:ext cx="1193596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dirty="0"/>
              <a:t>the actions of a few can have an exponential impact on the emissions of many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challenges to demand-side mitigation may look like ineffective campaigning/promotion or partiality from leaders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supply-side change feels more like a behind-the-scenes action, while demand-side change requires everyday lifestyle shifts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Understanding the trends of consumption and the social norms of consumption might help understand realistic mitigation … “could I provide this service in a different way, without using that energy?”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Demand-side mitigation was also framed as a systemic issue, not just an individual 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how to create a society that uses public transportation as the norm, compared to methods of personal transportation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framing the situation as an opportunity for people with high incomes to be role models … creating new social norms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 carbon tax may be of sufficient magnitude to dissuade lower-income consumers from flying, driving too much, etc., but have no effect on the behavior of the wealthy, who contribute the most to climate change in the first place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Mixing this societal and cultural change with improvements in architecture and technology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S</a:t>
            </a:r>
            <a:r>
              <a:rPr lang="en-US" sz="1700" dirty="0">
                <a:effectLst/>
                <a:latin typeface="inherit"/>
              </a:rPr>
              <a:t>ocio-cultural effects, such as altering consumer preference or implementing policies that produce a new standard of carbon acceptance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some communities have limitations that restrict them from having access to making greener choices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Shifting norms is politically and personally difficult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Models are important because they create platforms to discuss what kinds of changes are needed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There would have to be a revolution in the way we do just about everything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the question often arises about whether or not what the individual does really matters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 lack of research in demand based mitigation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climate change is perhaps the ultimate tragedy of the commons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models are not used to predict the future, but to show different options and to show what is missing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we want to ensure that the models we are using are representative, factual, and more importantly necessary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 cascade effect, where every unit of energy not consumed on the demand side leads to several units of energy not extracted on the supply/resource side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6394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Adding to our rhetorical toolbox: the six Americas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5CD952-317C-A4C0-F88E-DA6B02EA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622" y="1897332"/>
            <a:ext cx="5286632" cy="4172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307426-89C9-74C0-402C-4873DDE5A066}"/>
              </a:ext>
            </a:extLst>
          </p:cNvPr>
          <p:cNvSpPr txBox="1"/>
          <p:nvPr/>
        </p:nvSpPr>
        <p:spPr>
          <a:xfrm>
            <a:off x="6482458" y="856333"/>
            <a:ext cx="465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climatecommunication.yale.edu</a:t>
            </a:r>
            <a:r>
              <a:rPr lang="en-US" dirty="0">
                <a:hlinkClick r:id="rId3"/>
              </a:rPr>
              <a:t>/about/projects/global-warmings-six-</a:t>
            </a:r>
            <a:r>
              <a:rPr lang="en-US" dirty="0" err="1">
                <a:hlinkClick r:id="rId3"/>
              </a:rPr>
              <a:t>americas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93F04B-CD1E-032E-DBDB-3879AD7AB8F9}"/>
              </a:ext>
            </a:extLst>
          </p:cNvPr>
          <p:cNvGrpSpPr/>
          <p:nvPr/>
        </p:nvGrpSpPr>
        <p:grpSpPr>
          <a:xfrm>
            <a:off x="351354" y="2377964"/>
            <a:ext cx="6253024" cy="3525428"/>
            <a:chOff x="263484" y="-1675029"/>
            <a:chExt cx="6253024" cy="35254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D9C2A7E-A8E1-4587-7425-D587E805CD6E}"/>
                </a:ext>
              </a:extLst>
            </p:cNvPr>
            <p:cNvSpPr txBox="1"/>
            <p:nvPr/>
          </p:nvSpPr>
          <p:spPr>
            <a:xfrm>
              <a:off x="263484" y="280739"/>
              <a:ext cx="6253024" cy="15696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err="1"/>
                <a:t>Schrepfer’s</a:t>
              </a:r>
              <a:r>
                <a:rPr lang="en-US" sz="2400" b="1" dirty="0"/>
                <a:t> power analysis</a:t>
              </a:r>
              <a:endParaRPr lang="en-US" sz="2400" dirty="0"/>
            </a:p>
            <a:p>
              <a:pPr marL="457200" indent="-457200">
                <a:buFont typeface="+mj-lt"/>
                <a:buAutoNum type="arabicPeriod"/>
              </a:pPr>
              <a:r>
                <a:rPr lang="en-US" sz="2400" dirty="0"/>
                <a:t>How does it function? (Or: What is its goal?)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400" dirty="0"/>
                <a:t>Who does it benefit?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400" dirty="0"/>
                <a:t>Where is the power?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99F035-339D-B1D6-1D30-4B66162A8BB9}"/>
                </a:ext>
              </a:extLst>
            </p:cNvPr>
            <p:cNvSpPr txBox="1"/>
            <p:nvPr/>
          </p:nvSpPr>
          <p:spPr>
            <a:xfrm>
              <a:off x="263484" y="-1675029"/>
              <a:ext cx="4610772" cy="120032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Rowe’s replacement technique:</a:t>
              </a:r>
            </a:p>
            <a:p>
              <a:r>
                <a:rPr lang="en-US" sz="2400" dirty="0"/>
                <a:t>Replace one word or concept with another, to see how it sits.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04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 is about data collection</a:t>
            </a:r>
            <a:endParaRPr lang="en-US" sz="24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AA753-FDB1-8DF3-0D3A-F6116AEFBF23}"/>
              </a:ext>
            </a:extLst>
          </p:cNvPr>
          <p:cNvSpPr txBox="1"/>
          <p:nvPr/>
        </p:nvSpPr>
        <p:spPr>
          <a:xfrm>
            <a:off x="155160" y="1278932"/>
            <a:ext cx="11658887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In groups of 2-3, choose somebody to start their narrative, and a scribe. It might be helpful to agree on rules, like safe space.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As narrator, describe a conversation involving climate change that left you uncertain as to how to proceed. Flesh it out with some context – which of the “Six Americas” would you say your conversation partner belongs to? Was there something left unsaid?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The scribe should record (anonymously) in our shared google doc (see the link in Canvas).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Rotate until everybody has had a chance to share a few conversations.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838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By Saturday night: A letter from the future me in your research notebook</a:t>
            </a:r>
            <a:endParaRPr lang="en-US" sz="24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A5F3A5-5657-E23F-B01C-BBE165389EE6}"/>
              </a:ext>
            </a:extLst>
          </p:cNvPr>
          <p:cNvSpPr txBox="1"/>
          <p:nvPr/>
        </p:nvSpPr>
        <p:spPr>
          <a:xfrm>
            <a:off x="451104" y="792480"/>
            <a:ext cx="1115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(See the prompt in Canvas) </a:t>
            </a:r>
          </a:p>
        </p:txBody>
      </p:sp>
    </p:spTree>
    <p:extLst>
      <p:ext uri="{BB962C8B-B14F-4D97-AF65-F5344CB8AC3E}">
        <p14:creationId xmlns:p14="http://schemas.microsoft.com/office/powerpoint/2010/main" val="3826513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614</Words>
  <Application>Microsoft Macintosh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42</cp:revision>
  <cp:lastPrinted>2024-09-27T16:59:42Z</cp:lastPrinted>
  <dcterms:created xsi:type="dcterms:W3CDTF">2024-09-15T17:38:41Z</dcterms:created>
  <dcterms:modified xsi:type="dcterms:W3CDTF">2025-09-26T18:05:17Z</dcterms:modified>
</cp:coreProperties>
</file>