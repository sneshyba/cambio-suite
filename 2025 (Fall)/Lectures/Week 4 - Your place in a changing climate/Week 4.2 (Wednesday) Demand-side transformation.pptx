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013" r:id="rId2"/>
    <p:sldId id="2014" r:id="rId3"/>
    <p:sldId id="299" r:id="rId4"/>
    <p:sldId id="2015" r:id="rId5"/>
    <p:sldId id="2008" r:id="rId6"/>
    <p:sldId id="406" r:id="rId7"/>
    <p:sldId id="2004" r:id="rId8"/>
    <p:sldId id="2009" r:id="rId9"/>
    <p:sldId id="2010" r:id="rId10"/>
    <p:sldId id="2011" r:id="rId11"/>
    <p:sldId id="2005" r:id="rId12"/>
    <p:sldId id="2000" r:id="rId13"/>
    <p:sldId id="2002" r:id="rId14"/>
    <p:sldId id="2003" r:id="rId15"/>
    <p:sldId id="30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27"/>
  </p:normalViewPr>
  <p:slideViewPr>
    <p:cSldViewPr snapToGrid="0">
      <p:cViewPr>
        <p:scale>
          <a:sx n="82" d="100"/>
          <a:sy n="82" d="100"/>
        </p:scale>
        <p:origin x="1600" y="6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6B771-57FB-5DE9-5BA6-A8C75FC9D60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66D23D5-284F-C136-1DBD-5116EE5A2E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F4BB16E-DBB7-27EB-9999-3AF21B85B7D1}"/>
              </a:ext>
            </a:extLst>
          </p:cNvPr>
          <p:cNvSpPr>
            <a:spLocks noGrp="1"/>
          </p:cNvSpPr>
          <p:nvPr>
            <p:ph type="dt" sz="half" idx="10"/>
          </p:nvPr>
        </p:nvSpPr>
        <p:spPr/>
        <p:txBody>
          <a:bodyPr/>
          <a:lstStyle/>
          <a:p>
            <a:fld id="{7E31C620-0B22-CE43-B9E9-1D402E85539A}" type="datetimeFigureOut">
              <a:rPr lang="en-US" smtClean="0"/>
              <a:t>9/23/25</a:t>
            </a:fld>
            <a:endParaRPr lang="en-US"/>
          </a:p>
        </p:txBody>
      </p:sp>
      <p:sp>
        <p:nvSpPr>
          <p:cNvPr id="5" name="Footer Placeholder 4">
            <a:extLst>
              <a:ext uri="{FF2B5EF4-FFF2-40B4-BE49-F238E27FC236}">
                <a16:creationId xmlns:a16="http://schemas.microsoft.com/office/drawing/2014/main" id="{2890E96D-5437-8868-6C8D-9A98CE0039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8005B7-335B-CEE0-9F5B-A0D5E63FA6DC}"/>
              </a:ext>
            </a:extLst>
          </p:cNvPr>
          <p:cNvSpPr>
            <a:spLocks noGrp="1"/>
          </p:cNvSpPr>
          <p:nvPr>
            <p:ph type="sldNum" sz="quarter" idx="12"/>
          </p:nvPr>
        </p:nvSpPr>
        <p:spPr/>
        <p:txBody>
          <a:bodyPr/>
          <a:lstStyle/>
          <a:p>
            <a:fld id="{B5737D66-0BB4-554D-A2B3-E26FD8C0CDF6}" type="slidenum">
              <a:rPr lang="en-US" smtClean="0"/>
              <a:t>‹#›</a:t>
            </a:fld>
            <a:endParaRPr lang="en-US"/>
          </a:p>
        </p:txBody>
      </p:sp>
    </p:spTree>
    <p:extLst>
      <p:ext uri="{BB962C8B-B14F-4D97-AF65-F5344CB8AC3E}">
        <p14:creationId xmlns:p14="http://schemas.microsoft.com/office/powerpoint/2010/main" val="31185127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26479-2401-EC3D-75AE-8B1B82962E8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7223F4-AA55-AADD-B96E-A1FAFCB403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55CDA9-1E3C-CACB-92BF-BC59CDA55856}"/>
              </a:ext>
            </a:extLst>
          </p:cNvPr>
          <p:cNvSpPr>
            <a:spLocks noGrp="1"/>
          </p:cNvSpPr>
          <p:nvPr>
            <p:ph type="dt" sz="half" idx="10"/>
          </p:nvPr>
        </p:nvSpPr>
        <p:spPr/>
        <p:txBody>
          <a:bodyPr/>
          <a:lstStyle/>
          <a:p>
            <a:fld id="{7E31C620-0B22-CE43-B9E9-1D402E85539A}" type="datetimeFigureOut">
              <a:rPr lang="en-US" smtClean="0"/>
              <a:t>9/23/25</a:t>
            </a:fld>
            <a:endParaRPr lang="en-US"/>
          </a:p>
        </p:txBody>
      </p:sp>
      <p:sp>
        <p:nvSpPr>
          <p:cNvPr id="5" name="Footer Placeholder 4">
            <a:extLst>
              <a:ext uri="{FF2B5EF4-FFF2-40B4-BE49-F238E27FC236}">
                <a16:creationId xmlns:a16="http://schemas.microsoft.com/office/drawing/2014/main" id="{B963084F-4422-A273-61E2-05C54124ED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2AEE53-D6C8-596E-3A95-135E7303F7E7}"/>
              </a:ext>
            </a:extLst>
          </p:cNvPr>
          <p:cNvSpPr>
            <a:spLocks noGrp="1"/>
          </p:cNvSpPr>
          <p:nvPr>
            <p:ph type="sldNum" sz="quarter" idx="12"/>
          </p:nvPr>
        </p:nvSpPr>
        <p:spPr/>
        <p:txBody>
          <a:bodyPr/>
          <a:lstStyle/>
          <a:p>
            <a:fld id="{B5737D66-0BB4-554D-A2B3-E26FD8C0CDF6}" type="slidenum">
              <a:rPr lang="en-US" smtClean="0"/>
              <a:t>‹#›</a:t>
            </a:fld>
            <a:endParaRPr lang="en-US"/>
          </a:p>
        </p:txBody>
      </p:sp>
    </p:spTree>
    <p:extLst>
      <p:ext uri="{BB962C8B-B14F-4D97-AF65-F5344CB8AC3E}">
        <p14:creationId xmlns:p14="http://schemas.microsoft.com/office/powerpoint/2010/main" val="6803241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D3B13-A014-1E71-6C40-398408BD58C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A015C05-AA7A-261F-1AE1-A280432E53D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53E636-4E7B-4FA5-0DEE-54A4D1D13BA3}"/>
              </a:ext>
            </a:extLst>
          </p:cNvPr>
          <p:cNvSpPr>
            <a:spLocks noGrp="1"/>
          </p:cNvSpPr>
          <p:nvPr>
            <p:ph type="dt" sz="half" idx="10"/>
          </p:nvPr>
        </p:nvSpPr>
        <p:spPr/>
        <p:txBody>
          <a:bodyPr/>
          <a:lstStyle/>
          <a:p>
            <a:fld id="{7E31C620-0B22-CE43-B9E9-1D402E85539A}" type="datetimeFigureOut">
              <a:rPr lang="en-US" smtClean="0"/>
              <a:t>9/23/25</a:t>
            </a:fld>
            <a:endParaRPr lang="en-US"/>
          </a:p>
        </p:txBody>
      </p:sp>
      <p:sp>
        <p:nvSpPr>
          <p:cNvPr id="5" name="Footer Placeholder 4">
            <a:extLst>
              <a:ext uri="{FF2B5EF4-FFF2-40B4-BE49-F238E27FC236}">
                <a16:creationId xmlns:a16="http://schemas.microsoft.com/office/drawing/2014/main" id="{8F4DA047-6622-553B-9BDA-5B37B89AEB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F219F5-27B3-9EB8-EDDE-E0235B534552}"/>
              </a:ext>
            </a:extLst>
          </p:cNvPr>
          <p:cNvSpPr>
            <a:spLocks noGrp="1"/>
          </p:cNvSpPr>
          <p:nvPr>
            <p:ph type="sldNum" sz="quarter" idx="12"/>
          </p:nvPr>
        </p:nvSpPr>
        <p:spPr/>
        <p:txBody>
          <a:bodyPr/>
          <a:lstStyle/>
          <a:p>
            <a:fld id="{B5737D66-0BB4-554D-A2B3-E26FD8C0CDF6}" type="slidenum">
              <a:rPr lang="en-US" smtClean="0"/>
              <a:t>‹#›</a:t>
            </a:fld>
            <a:endParaRPr lang="en-US"/>
          </a:p>
        </p:txBody>
      </p:sp>
    </p:spTree>
    <p:extLst>
      <p:ext uri="{BB962C8B-B14F-4D97-AF65-F5344CB8AC3E}">
        <p14:creationId xmlns:p14="http://schemas.microsoft.com/office/powerpoint/2010/main" val="2880603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89C1B-4C8A-3A3B-06EE-C58B84D636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313803-D952-D69A-56C2-5AB9223F09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FD957CD-1A9A-26D5-5A49-C70FB3BDFC3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0C208B0-5BDB-B9B7-DA75-98755D310BEC}"/>
              </a:ext>
            </a:extLst>
          </p:cNvPr>
          <p:cNvSpPr>
            <a:spLocks noGrp="1"/>
          </p:cNvSpPr>
          <p:nvPr>
            <p:ph type="dt" sz="half" idx="10"/>
          </p:nvPr>
        </p:nvSpPr>
        <p:spPr/>
        <p:txBody>
          <a:bodyPr/>
          <a:lstStyle/>
          <a:p>
            <a:fld id="{7E31C620-0B22-CE43-B9E9-1D402E85539A}" type="datetimeFigureOut">
              <a:rPr lang="en-US" smtClean="0"/>
              <a:t>9/23/25</a:t>
            </a:fld>
            <a:endParaRPr lang="en-US"/>
          </a:p>
        </p:txBody>
      </p:sp>
      <p:sp>
        <p:nvSpPr>
          <p:cNvPr id="6" name="Footer Placeholder 5">
            <a:extLst>
              <a:ext uri="{FF2B5EF4-FFF2-40B4-BE49-F238E27FC236}">
                <a16:creationId xmlns:a16="http://schemas.microsoft.com/office/drawing/2014/main" id="{44C06DC5-8D87-2CA4-77C3-5A23E4E987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37652C-071F-FB3A-A95E-367EC84B3A35}"/>
              </a:ext>
            </a:extLst>
          </p:cNvPr>
          <p:cNvSpPr>
            <a:spLocks noGrp="1"/>
          </p:cNvSpPr>
          <p:nvPr>
            <p:ph type="sldNum" sz="quarter" idx="12"/>
          </p:nvPr>
        </p:nvSpPr>
        <p:spPr/>
        <p:txBody>
          <a:bodyPr/>
          <a:lstStyle/>
          <a:p>
            <a:fld id="{B5737D66-0BB4-554D-A2B3-E26FD8C0CDF6}" type="slidenum">
              <a:rPr lang="en-US" smtClean="0"/>
              <a:t>‹#›</a:t>
            </a:fld>
            <a:endParaRPr lang="en-US"/>
          </a:p>
        </p:txBody>
      </p:sp>
    </p:spTree>
    <p:extLst>
      <p:ext uri="{BB962C8B-B14F-4D97-AF65-F5344CB8AC3E}">
        <p14:creationId xmlns:p14="http://schemas.microsoft.com/office/powerpoint/2010/main" val="3132297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5DE05-A6D7-EE53-0F29-5FEF88E9C6E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49C0BE2-2EAC-7D89-4F9A-7F0BDA6F71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0891417-E408-6DD5-61A5-4C3EB7B53A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3D27EDC-C719-4CB5-369B-768388734D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14F6A1-CF80-0654-61E9-E31066E5A0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4C5E6A3-AFD5-1DDE-1B71-63E464785D39}"/>
              </a:ext>
            </a:extLst>
          </p:cNvPr>
          <p:cNvSpPr>
            <a:spLocks noGrp="1"/>
          </p:cNvSpPr>
          <p:nvPr>
            <p:ph type="dt" sz="half" idx="10"/>
          </p:nvPr>
        </p:nvSpPr>
        <p:spPr/>
        <p:txBody>
          <a:bodyPr/>
          <a:lstStyle/>
          <a:p>
            <a:fld id="{7E31C620-0B22-CE43-B9E9-1D402E85539A}" type="datetimeFigureOut">
              <a:rPr lang="en-US" smtClean="0"/>
              <a:t>9/23/25</a:t>
            </a:fld>
            <a:endParaRPr lang="en-US"/>
          </a:p>
        </p:txBody>
      </p:sp>
      <p:sp>
        <p:nvSpPr>
          <p:cNvPr id="8" name="Footer Placeholder 7">
            <a:extLst>
              <a:ext uri="{FF2B5EF4-FFF2-40B4-BE49-F238E27FC236}">
                <a16:creationId xmlns:a16="http://schemas.microsoft.com/office/drawing/2014/main" id="{C55B60B0-86C0-4131-C268-F347CDFE47E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0706E2-C8E8-0D0E-C446-406AFB4442B6}"/>
              </a:ext>
            </a:extLst>
          </p:cNvPr>
          <p:cNvSpPr>
            <a:spLocks noGrp="1"/>
          </p:cNvSpPr>
          <p:nvPr>
            <p:ph type="sldNum" sz="quarter" idx="12"/>
          </p:nvPr>
        </p:nvSpPr>
        <p:spPr/>
        <p:txBody>
          <a:bodyPr/>
          <a:lstStyle/>
          <a:p>
            <a:fld id="{B5737D66-0BB4-554D-A2B3-E26FD8C0CDF6}" type="slidenum">
              <a:rPr lang="en-US" smtClean="0"/>
              <a:t>‹#›</a:t>
            </a:fld>
            <a:endParaRPr lang="en-US"/>
          </a:p>
        </p:txBody>
      </p:sp>
    </p:spTree>
    <p:extLst>
      <p:ext uri="{BB962C8B-B14F-4D97-AF65-F5344CB8AC3E}">
        <p14:creationId xmlns:p14="http://schemas.microsoft.com/office/powerpoint/2010/main" val="232680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BC96A-1430-20FA-D349-2DBF706E9C9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A87573B-A6A3-1D27-2798-13539408BA58}"/>
              </a:ext>
            </a:extLst>
          </p:cNvPr>
          <p:cNvSpPr>
            <a:spLocks noGrp="1"/>
          </p:cNvSpPr>
          <p:nvPr>
            <p:ph type="dt" sz="half" idx="10"/>
          </p:nvPr>
        </p:nvSpPr>
        <p:spPr/>
        <p:txBody>
          <a:bodyPr/>
          <a:lstStyle/>
          <a:p>
            <a:fld id="{7E31C620-0B22-CE43-B9E9-1D402E85539A}" type="datetimeFigureOut">
              <a:rPr lang="en-US" smtClean="0"/>
              <a:t>9/23/25</a:t>
            </a:fld>
            <a:endParaRPr lang="en-US"/>
          </a:p>
        </p:txBody>
      </p:sp>
      <p:sp>
        <p:nvSpPr>
          <p:cNvPr id="4" name="Footer Placeholder 3">
            <a:extLst>
              <a:ext uri="{FF2B5EF4-FFF2-40B4-BE49-F238E27FC236}">
                <a16:creationId xmlns:a16="http://schemas.microsoft.com/office/drawing/2014/main" id="{88E969EC-3D27-A909-E0EE-63C60B96527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7A3AFF2-77C7-076B-E5EE-256A315A138D}"/>
              </a:ext>
            </a:extLst>
          </p:cNvPr>
          <p:cNvSpPr>
            <a:spLocks noGrp="1"/>
          </p:cNvSpPr>
          <p:nvPr>
            <p:ph type="sldNum" sz="quarter" idx="12"/>
          </p:nvPr>
        </p:nvSpPr>
        <p:spPr/>
        <p:txBody>
          <a:bodyPr/>
          <a:lstStyle/>
          <a:p>
            <a:fld id="{B5737D66-0BB4-554D-A2B3-E26FD8C0CDF6}" type="slidenum">
              <a:rPr lang="en-US" smtClean="0"/>
              <a:t>‹#›</a:t>
            </a:fld>
            <a:endParaRPr lang="en-US"/>
          </a:p>
        </p:txBody>
      </p:sp>
    </p:spTree>
    <p:extLst>
      <p:ext uri="{BB962C8B-B14F-4D97-AF65-F5344CB8AC3E}">
        <p14:creationId xmlns:p14="http://schemas.microsoft.com/office/powerpoint/2010/main" val="4140495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AFE68A-C43D-356C-C370-9A6A8FB93ECE}"/>
              </a:ext>
            </a:extLst>
          </p:cNvPr>
          <p:cNvSpPr>
            <a:spLocks noGrp="1"/>
          </p:cNvSpPr>
          <p:nvPr>
            <p:ph type="dt" sz="half" idx="10"/>
          </p:nvPr>
        </p:nvSpPr>
        <p:spPr/>
        <p:txBody>
          <a:bodyPr/>
          <a:lstStyle/>
          <a:p>
            <a:fld id="{7E31C620-0B22-CE43-B9E9-1D402E85539A}" type="datetimeFigureOut">
              <a:rPr lang="en-US" smtClean="0"/>
              <a:t>9/23/25</a:t>
            </a:fld>
            <a:endParaRPr lang="en-US"/>
          </a:p>
        </p:txBody>
      </p:sp>
      <p:sp>
        <p:nvSpPr>
          <p:cNvPr id="3" name="Footer Placeholder 2">
            <a:extLst>
              <a:ext uri="{FF2B5EF4-FFF2-40B4-BE49-F238E27FC236}">
                <a16:creationId xmlns:a16="http://schemas.microsoft.com/office/drawing/2014/main" id="{955E945E-67EA-EB37-4D3A-98EAA02D474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93756C2-D8E0-FEAD-4815-0BBF1A3F38A8}"/>
              </a:ext>
            </a:extLst>
          </p:cNvPr>
          <p:cNvSpPr>
            <a:spLocks noGrp="1"/>
          </p:cNvSpPr>
          <p:nvPr>
            <p:ph type="sldNum" sz="quarter" idx="12"/>
          </p:nvPr>
        </p:nvSpPr>
        <p:spPr/>
        <p:txBody>
          <a:bodyPr/>
          <a:lstStyle/>
          <a:p>
            <a:fld id="{B5737D66-0BB4-554D-A2B3-E26FD8C0CDF6}" type="slidenum">
              <a:rPr lang="en-US" smtClean="0"/>
              <a:t>‹#›</a:t>
            </a:fld>
            <a:endParaRPr lang="en-US"/>
          </a:p>
        </p:txBody>
      </p:sp>
    </p:spTree>
    <p:extLst>
      <p:ext uri="{BB962C8B-B14F-4D97-AF65-F5344CB8AC3E}">
        <p14:creationId xmlns:p14="http://schemas.microsoft.com/office/powerpoint/2010/main" val="41682686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9A5CC-FE27-C66F-CFAE-40BE9D5D32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5DEA980-97FE-CF51-4D20-E4AEA47D5B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DED2CE4-448A-253E-B13B-2E6C161220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4EF41A-3634-A99C-356F-6E1A9ECC8B4D}"/>
              </a:ext>
            </a:extLst>
          </p:cNvPr>
          <p:cNvSpPr>
            <a:spLocks noGrp="1"/>
          </p:cNvSpPr>
          <p:nvPr>
            <p:ph type="dt" sz="half" idx="10"/>
          </p:nvPr>
        </p:nvSpPr>
        <p:spPr/>
        <p:txBody>
          <a:bodyPr/>
          <a:lstStyle/>
          <a:p>
            <a:fld id="{7E31C620-0B22-CE43-B9E9-1D402E85539A}" type="datetimeFigureOut">
              <a:rPr lang="en-US" smtClean="0"/>
              <a:t>9/23/25</a:t>
            </a:fld>
            <a:endParaRPr lang="en-US"/>
          </a:p>
        </p:txBody>
      </p:sp>
      <p:sp>
        <p:nvSpPr>
          <p:cNvPr id="6" name="Footer Placeholder 5">
            <a:extLst>
              <a:ext uri="{FF2B5EF4-FFF2-40B4-BE49-F238E27FC236}">
                <a16:creationId xmlns:a16="http://schemas.microsoft.com/office/drawing/2014/main" id="{7763CBB6-6CEF-B191-556C-EB3D575657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FBD021-5EAC-D516-B58A-77EACCB0043E}"/>
              </a:ext>
            </a:extLst>
          </p:cNvPr>
          <p:cNvSpPr>
            <a:spLocks noGrp="1"/>
          </p:cNvSpPr>
          <p:nvPr>
            <p:ph type="sldNum" sz="quarter" idx="12"/>
          </p:nvPr>
        </p:nvSpPr>
        <p:spPr/>
        <p:txBody>
          <a:bodyPr/>
          <a:lstStyle/>
          <a:p>
            <a:fld id="{B5737D66-0BB4-554D-A2B3-E26FD8C0CDF6}" type="slidenum">
              <a:rPr lang="en-US" smtClean="0"/>
              <a:t>‹#›</a:t>
            </a:fld>
            <a:endParaRPr lang="en-US"/>
          </a:p>
        </p:txBody>
      </p:sp>
    </p:spTree>
    <p:extLst>
      <p:ext uri="{BB962C8B-B14F-4D97-AF65-F5344CB8AC3E}">
        <p14:creationId xmlns:p14="http://schemas.microsoft.com/office/powerpoint/2010/main" val="4706942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5DF96-196E-03E9-AE99-92DC6DDEF7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9F1933E-153D-B65A-0D64-EC88323F1F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2FC59C3-D9AF-E9D2-DFEB-78A90E39BC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FD554B-92ED-D48D-F772-419F78718A26}"/>
              </a:ext>
            </a:extLst>
          </p:cNvPr>
          <p:cNvSpPr>
            <a:spLocks noGrp="1"/>
          </p:cNvSpPr>
          <p:nvPr>
            <p:ph type="dt" sz="half" idx="10"/>
          </p:nvPr>
        </p:nvSpPr>
        <p:spPr/>
        <p:txBody>
          <a:bodyPr/>
          <a:lstStyle/>
          <a:p>
            <a:fld id="{7E31C620-0B22-CE43-B9E9-1D402E85539A}" type="datetimeFigureOut">
              <a:rPr lang="en-US" smtClean="0"/>
              <a:t>9/23/25</a:t>
            </a:fld>
            <a:endParaRPr lang="en-US"/>
          </a:p>
        </p:txBody>
      </p:sp>
      <p:sp>
        <p:nvSpPr>
          <p:cNvPr id="6" name="Footer Placeholder 5">
            <a:extLst>
              <a:ext uri="{FF2B5EF4-FFF2-40B4-BE49-F238E27FC236}">
                <a16:creationId xmlns:a16="http://schemas.microsoft.com/office/drawing/2014/main" id="{B4CD3D21-69A0-0192-06D8-A10217929B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E0E402-ED7F-9AF6-EA40-4E2D598EFC5C}"/>
              </a:ext>
            </a:extLst>
          </p:cNvPr>
          <p:cNvSpPr>
            <a:spLocks noGrp="1"/>
          </p:cNvSpPr>
          <p:nvPr>
            <p:ph type="sldNum" sz="quarter" idx="12"/>
          </p:nvPr>
        </p:nvSpPr>
        <p:spPr/>
        <p:txBody>
          <a:bodyPr/>
          <a:lstStyle/>
          <a:p>
            <a:fld id="{B5737D66-0BB4-554D-A2B3-E26FD8C0CDF6}" type="slidenum">
              <a:rPr lang="en-US" smtClean="0"/>
              <a:t>‹#›</a:t>
            </a:fld>
            <a:endParaRPr lang="en-US"/>
          </a:p>
        </p:txBody>
      </p:sp>
    </p:spTree>
    <p:extLst>
      <p:ext uri="{BB962C8B-B14F-4D97-AF65-F5344CB8AC3E}">
        <p14:creationId xmlns:p14="http://schemas.microsoft.com/office/powerpoint/2010/main" val="17013178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D4D81-8E68-FCF6-24A5-7CD3FF7D297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4D1C7C3-E315-145A-84C4-C817579602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20FE4A-2909-FC32-1909-C747C8224FE3}"/>
              </a:ext>
            </a:extLst>
          </p:cNvPr>
          <p:cNvSpPr>
            <a:spLocks noGrp="1"/>
          </p:cNvSpPr>
          <p:nvPr>
            <p:ph type="dt" sz="half" idx="10"/>
          </p:nvPr>
        </p:nvSpPr>
        <p:spPr/>
        <p:txBody>
          <a:bodyPr/>
          <a:lstStyle/>
          <a:p>
            <a:fld id="{7E31C620-0B22-CE43-B9E9-1D402E85539A}" type="datetimeFigureOut">
              <a:rPr lang="en-US" smtClean="0"/>
              <a:t>9/23/25</a:t>
            </a:fld>
            <a:endParaRPr lang="en-US"/>
          </a:p>
        </p:txBody>
      </p:sp>
      <p:sp>
        <p:nvSpPr>
          <p:cNvPr id="5" name="Footer Placeholder 4">
            <a:extLst>
              <a:ext uri="{FF2B5EF4-FFF2-40B4-BE49-F238E27FC236}">
                <a16:creationId xmlns:a16="http://schemas.microsoft.com/office/drawing/2014/main" id="{18659BD9-0631-C03E-7895-044446D6C6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E915BF-60EB-E0FD-0F4C-C079A1009A54}"/>
              </a:ext>
            </a:extLst>
          </p:cNvPr>
          <p:cNvSpPr>
            <a:spLocks noGrp="1"/>
          </p:cNvSpPr>
          <p:nvPr>
            <p:ph type="sldNum" sz="quarter" idx="12"/>
          </p:nvPr>
        </p:nvSpPr>
        <p:spPr/>
        <p:txBody>
          <a:bodyPr/>
          <a:lstStyle/>
          <a:p>
            <a:fld id="{B5737D66-0BB4-554D-A2B3-E26FD8C0CDF6}" type="slidenum">
              <a:rPr lang="en-US" smtClean="0"/>
              <a:t>‹#›</a:t>
            </a:fld>
            <a:endParaRPr lang="en-US"/>
          </a:p>
        </p:txBody>
      </p:sp>
    </p:spTree>
    <p:extLst>
      <p:ext uri="{BB962C8B-B14F-4D97-AF65-F5344CB8AC3E}">
        <p14:creationId xmlns:p14="http://schemas.microsoft.com/office/powerpoint/2010/main" val="26961342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103E40-6E93-EB0E-AAA2-6CEB221A8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FF04613-4117-2A88-063D-6EDFE98ECF2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4725A2-8AB7-646B-2FFA-40AAE7E4EAA2}"/>
              </a:ext>
            </a:extLst>
          </p:cNvPr>
          <p:cNvSpPr>
            <a:spLocks noGrp="1"/>
          </p:cNvSpPr>
          <p:nvPr>
            <p:ph type="dt" sz="half" idx="10"/>
          </p:nvPr>
        </p:nvSpPr>
        <p:spPr/>
        <p:txBody>
          <a:bodyPr/>
          <a:lstStyle/>
          <a:p>
            <a:fld id="{7E31C620-0B22-CE43-B9E9-1D402E85539A}" type="datetimeFigureOut">
              <a:rPr lang="en-US" smtClean="0"/>
              <a:t>9/23/25</a:t>
            </a:fld>
            <a:endParaRPr lang="en-US"/>
          </a:p>
        </p:txBody>
      </p:sp>
      <p:sp>
        <p:nvSpPr>
          <p:cNvPr id="5" name="Footer Placeholder 4">
            <a:extLst>
              <a:ext uri="{FF2B5EF4-FFF2-40B4-BE49-F238E27FC236}">
                <a16:creationId xmlns:a16="http://schemas.microsoft.com/office/drawing/2014/main" id="{705272DB-FB92-5484-29AD-B60C032FA6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342CA7-C54A-1AC6-F068-6DEBC9197706}"/>
              </a:ext>
            </a:extLst>
          </p:cNvPr>
          <p:cNvSpPr>
            <a:spLocks noGrp="1"/>
          </p:cNvSpPr>
          <p:nvPr>
            <p:ph type="sldNum" sz="quarter" idx="12"/>
          </p:nvPr>
        </p:nvSpPr>
        <p:spPr/>
        <p:txBody>
          <a:bodyPr/>
          <a:lstStyle/>
          <a:p>
            <a:fld id="{B5737D66-0BB4-554D-A2B3-E26FD8C0CDF6}" type="slidenum">
              <a:rPr lang="en-US" smtClean="0"/>
              <a:t>‹#›</a:t>
            </a:fld>
            <a:endParaRPr lang="en-US"/>
          </a:p>
        </p:txBody>
      </p:sp>
    </p:spTree>
    <p:extLst>
      <p:ext uri="{BB962C8B-B14F-4D97-AF65-F5344CB8AC3E}">
        <p14:creationId xmlns:p14="http://schemas.microsoft.com/office/powerpoint/2010/main" val="24710168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8D67FE-9504-7DD5-924A-0A9231B9C4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BC0025F-C9BB-6CD8-5BE7-84218E9A5E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1AD7FD-BF63-EDB7-221C-8CCD4765AF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31C620-0B22-CE43-B9E9-1D402E85539A}" type="datetimeFigureOut">
              <a:rPr lang="en-US" smtClean="0"/>
              <a:t>9/23/25</a:t>
            </a:fld>
            <a:endParaRPr lang="en-US"/>
          </a:p>
        </p:txBody>
      </p:sp>
      <p:sp>
        <p:nvSpPr>
          <p:cNvPr id="5" name="Footer Placeholder 4">
            <a:extLst>
              <a:ext uri="{FF2B5EF4-FFF2-40B4-BE49-F238E27FC236}">
                <a16:creationId xmlns:a16="http://schemas.microsoft.com/office/drawing/2014/main" id="{DD488509-DAF3-F6FB-8F61-099812A3B9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7D791AB-3EF6-393C-03D2-6AC3CCC607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737D66-0BB4-554D-A2B3-E26FD8C0CDF6}" type="slidenum">
              <a:rPr lang="en-US" smtClean="0"/>
              <a:t>‹#›</a:t>
            </a:fld>
            <a:endParaRPr lang="en-US"/>
          </a:p>
        </p:txBody>
      </p:sp>
    </p:spTree>
    <p:extLst>
      <p:ext uri="{BB962C8B-B14F-4D97-AF65-F5344CB8AC3E}">
        <p14:creationId xmlns:p14="http://schemas.microsoft.com/office/powerpoint/2010/main" val="42100937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youtube.com/watch?v=VcCj_CiLZi4" TargetMode="Externa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hyperlink" Target="https://youtu.be/VyfoL2Nwbyg"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349E1BE-9A23-5AAF-1960-36372C265F2D}"/>
              </a:ext>
            </a:extLst>
          </p:cNvPr>
          <p:cNvSpPr txBox="1"/>
          <p:nvPr/>
        </p:nvSpPr>
        <p:spPr>
          <a:xfrm>
            <a:off x="0" y="0"/>
            <a:ext cx="12191999" cy="461665"/>
          </a:xfrm>
          <a:prstGeom prst="rect">
            <a:avLst/>
          </a:prstGeom>
          <a:solidFill>
            <a:schemeClr val="accent2"/>
          </a:solidFill>
        </p:spPr>
        <p:txBody>
          <a:bodyPr wrap="square" rtlCol="0">
            <a:spAutoFit/>
          </a:bodyPr>
          <a:lstStyle/>
          <a:p>
            <a:r>
              <a:rPr lang="en-US" sz="2400" b="1" dirty="0"/>
              <a:t>Recap: some rhetorical tools …</a:t>
            </a:r>
            <a:endParaRPr lang="en-US" sz="2400" b="1" i="1" dirty="0"/>
          </a:p>
        </p:txBody>
      </p:sp>
      <p:sp>
        <p:nvSpPr>
          <p:cNvPr id="7" name="TextBox 6">
            <a:extLst>
              <a:ext uri="{FF2B5EF4-FFF2-40B4-BE49-F238E27FC236}">
                <a16:creationId xmlns:a16="http://schemas.microsoft.com/office/drawing/2014/main" id="{2189757E-329D-0CFA-C76E-088FF87F24BC}"/>
              </a:ext>
            </a:extLst>
          </p:cNvPr>
          <p:cNvSpPr txBox="1"/>
          <p:nvPr/>
        </p:nvSpPr>
        <p:spPr>
          <a:xfrm>
            <a:off x="401782" y="995423"/>
            <a:ext cx="11374582" cy="830997"/>
          </a:xfrm>
          <a:prstGeom prst="rect">
            <a:avLst/>
          </a:prstGeom>
          <a:noFill/>
        </p:spPr>
        <p:txBody>
          <a:bodyPr wrap="square" rtlCol="0">
            <a:spAutoFit/>
          </a:bodyPr>
          <a:lstStyle/>
          <a:p>
            <a:r>
              <a:rPr lang="en-US" sz="2400" dirty="0"/>
              <a:t>Last time, we introduced Rowe’s method of exploring a claim by replacing one word or concept with another. We also discussed </a:t>
            </a:r>
            <a:r>
              <a:rPr lang="en-US" sz="2400" dirty="0" err="1"/>
              <a:t>Schrepfer’s</a:t>
            </a:r>
            <a:r>
              <a:rPr lang="en-US" sz="2400" dirty="0"/>
              <a:t> three questions:</a:t>
            </a:r>
          </a:p>
        </p:txBody>
      </p:sp>
      <p:sp>
        <p:nvSpPr>
          <p:cNvPr id="4" name="TextBox 3">
            <a:extLst>
              <a:ext uri="{FF2B5EF4-FFF2-40B4-BE49-F238E27FC236}">
                <a16:creationId xmlns:a16="http://schemas.microsoft.com/office/drawing/2014/main" id="{56B38281-2551-417E-A575-6FADC0EABDFD}"/>
              </a:ext>
            </a:extLst>
          </p:cNvPr>
          <p:cNvSpPr txBox="1"/>
          <p:nvPr/>
        </p:nvSpPr>
        <p:spPr>
          <a:xfrm>
            <a:off x="2218039" y="2108487"/>
            <a:ext cx="6141308" cy="1200329"/>
          </a:xfrm>
          <a:prstGeom prst="rect">
            <a:avLst/>
          </a:prstGeom>
          <a:solidFill>
            <a:schemeClr val="bg1"/>
          </a:solidFill>
          <a:ln w="63500">
            <a:solidFill>
              <a:schemeClr val="accent1"/>
            </a:solidFill>
          </a:ln>
        </p:spPr>
        <p:txBody>
          <a:bodyPr wrap="square">
            <a:spAutoFit/>
          </a:bodyPr>
          <a:lstStyle/>
          <a:p>
            <a:pPr marL="457200" indent="-457200">
              <a:buFont typeface="+mj-lt"/>
              <a:buAutoNum type="arabicPeriod"/>
            </a:pPr>
            <a:r>
              <a:rPr lang="en-US" sz="2400" dirty="0"/>
              <a:t>How does it function? (Or: What is its goal?)</a:t>
            </a:r>
          </a:p>
          <a:p>
            <a:pPr marL="457200" indent="-457200">
              <a:buFont typeface="+mj-lt"/>
              <a:buAutoNum type="arabicPeriod"/>
            </a:pPr>
            <a:r>
              <a:rPr lang="en-US" sz="2400" dirty="0"/>
              <a:t>Who does it benefit?</a:t>
            </a:r>
          </a:p>
          <a:p>
            <a:pPr marL="457200" indent="-457200">
              <a:buFont typeface="+mj-lt"/>
              <a:buAutoNum type="arabicPeriod"/>
            </a:pPr>
            <a:r>
              <a:rPr lang="en-US" sz="2400" dirty="0"/>
              <a:t>Where is the power?</a:t>
            </a:r>
          </a:p>
        </p:txBody>
      </p:sp>
      <p:sp>
        <p:nvSpPr>
          <p:cNvPr id="5" name="TextBox 4">
            <a:extLst>
              <a:ext uri="{FF2B5EF4-FFF2-40B4-BE49-F238E27FC236}">
                <a16:creationId xmlns:a16="http://schemas.microsoft.com/office/drawing/2014/main" id="{D0705632-3732-9A8D-430D-8B261DD3EB49}"/>
              </a:ext>
            </a:extLst>
          </p:cNvPr>
          <p:cNvSpPr txBox="1"/>
          <p:nvPr/>
        </p:nvSpPr>
        <p:spPr>
          <a:xfrm>
            <a:off x="408708" y="3844528"/>
            <a:ext cx="11374582" cy="1938992"/>
          </a:xfrm>
          <a:prstGeom prst="rect">
            <a:avLst/>
          </a:prstGeom>
          <a:noFill/>
        </p:spPr>
        <p:txBody>
          <a:bodyPr wrap="square" rtlCol="0">
            <a:spAutoFit/>
          </a:bodyPr>
          <a:lstStyle/>
          <a:p>
            <a:r>
              <a:rPr lang="en-US" sz="2400" dirty="0"/>
              <a:t>There was also Ponton &amp; </a:t>
            </a:r>
            <a:r>
              <a:rPr lang="en-US" sz="2400" dirty="0" err="1"/>
              <a:t>Raimo’s</a:t>
            </a:r>
            <a:r>
              <a:rPr lang="en-US" sz="2400" dirty="0"/>
              <a:t> </a:t>
            </a:r>
            <a:r>
              <a:rPr lang="en-US" sz="2400" i="1" dirty="0"/>
              <a:t>Framing environmental discourse. Greta Thunberg, metaphors, blah blah blah! </a:t>
            </a:r>
            <a:r>
              <a:rPr lang="en-US" sz="2400" dirty="0"/>
              <a:t>(2024) </a:t>
            </a:r>
            <a:endParaRPr lang="en-US" sz="2400" i="1" dirty="0"/>
          </a:p>
          <a:p>
            <a:endParaRPr lang="en-US" sz="2400" dirty="0"/>
          </a:p>
          <a:p>
            <a:r>
              <a:rPr lang="en-US" sz="2400" dirty="0"/>
              <a:t>You applied those rhetorical tools to Greta Thunberg’s 2019 presentation at the UN Climate Action Summit. So let’s talk about that a bit.</a:t>
            </a:r>
          </a:p>
        </p:txBody>
      </p:sp>
    </p:spTree>
    <p:extLst>
      <p:ext uri="{BB962C8B-B14F-4D97-AF65-F5344CB8AC3E}">
        <p14:creationId xmlns:p14="http://schemas.microsoft.com/office/powerpoint/2010/main" val="26207825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8D3213AF-2B0E-D822-7F55-D972753B6691}"/>
              </a:ext>
            </a:extLst>
          </p:cNvPr>
          <p:cNvSpPr>
            <a:spLocks noChangeArrowheads="1"/>
          </p:cNvSpPr>
          <p:nvPr/>
        </p:nvSpPr>
        <p:spPr bwMode="auto">
          <a:xfrm>
            <a:off x="0" y="0"/>
            <a:ext cx="12192000" cy="7017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chemeClr val="tx1"/>
                </a:solidFill>
                <a:effectLst/>
                <a:latin typeface="Arial" panose="020B0604020202020204" pitchFamily="34" charset="0"/>
              </a:rPr>
              <a:t>My message is that we'll be watching you.</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chemeClr val="accent1"/>
                </a:solidFill>
                <a:effectLst/>
                <a:latin typeface="Arial" panose="020B0604020202020204" pitchFamily="34" charset="0"/>
              </a:rPr>
              <a:t>This is all wrong. I shouldn't be up here. I should be back in school on the other side of the ocean. Yet you all come to us young people for hope. How dare you!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dirty="0">
              <a:ln>
                <a:noFill/>
              </a:ln>
              <a:solidFill>
                <a:schemeClr val="tx1">
                  <a:lumMod val="50000"/>
                  <a:lumOff val="50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chemeClr val="tx1"/>
                </a:solidFill>
                <a:effectLst/>
                <a:latin typeface="Arial" panose="020B0604020202020204" pitchFamily="34" charset="0"/>
              </a:rPr>
              <a:t>You have stolen my dreams and my childhood with your empty words. And yet I'm one of the lucky ones. People are suffering. People are dying. Entire ecosystems are collapsing. We are in the beginning of a mass extinction, and all you can talk about is money and fairy tales of eternal economic growth. How dare you!</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chemeClr val="accent1"/>
                </a:solidFill>
                <a:effectLst/>
                <a:latin typeface="Arial" panose="020B0604020202020204" pitchFamily="34" charset="0"/>
              </a:rPr>
              <a:t>You say you hear us and that you understand the urgency. But no matter how sad and angry I am, I do not want to believe that. Because if you really understood the situation and still kept on failing to act, then you would be evil. And that I refuse to believe.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dirty="0">
              <a:ln>
                <a:noFill/>
              </a:ln>
              <a:solidFill>
                <a:schemeClr val="accent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chemeClr val="tx1"/>
                </a:solidFill>
                <a:effectLst/>
                <a:latin typeface="Arial" panose="020B0604020202020204" pitchFamily="34" charset="0"/>
              </a:rPr>
              <a:t>The popular idea of cutting our emissions in half in 10 years only gives us a 50% chance of staying below 1.5 degrees, and the risk of setting off irreversible chain reactions beyond human control. Fifty percent may be acceptable to you. But those numbers do not include tipping points, most feedback loops, additional warming hidden by toxic air pollution or the aspects of equity and climate justice. They also rely on my generation sucking hundreds of billions of tons of your CO2 out of the air with technologies that barely exist. So a 50% risk is simply not acceptable to us — we who have to live with the consequences.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chemeClr val="accent1"/>
                </a:solidFill>
                <a:effectLst/>
                <a:latin typeface="Arial" panose="020B0604020202020204" pitchFamily="34" charset="0"/>
              </a:rPr>
              <a:t>To have a 67% chance of staying below a 1.5 degrees global temperature rise – the best odds given by the IPCC – the world had 420 gigatons of CO2 left to emit back on Jan. 1st, 2018. Today that figure is already down to less than 350 gigatons.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dirty="0">
              <a:ln>
                <a:noFill/>
              </a:ln>
              <a:solidFill>
                <a:schemeClr val="accent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chemeClr val="tx1"/>
                </a:solidFill>
                <a:effectLst/>
                <a:latin typeface="Arial" panose="020B0604020202020204" pitchFamily="34" charset="0"/>
              </a:rPr>
              <a:t>How dare you pretend that this can be solved with just 'business as usual' and some technical solutions? With today's emissions levels, that remaining CO2 budget will be entirely gone within less than 8 1/2 years. There will not be any solutions or plans presented in line with these figures here today, because these numbers are too uncomfortable. And you are still not mature enough to tell it like it is.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chemeClr val="accent1"/>
                </a:solidFill>
                <a:effectLst/>
                <a:latin typeface="Arial" panose="020B0604020202020204" pitchFamily="34" charset="0"/>
              </a:rPr>
              <a:t>You are failing us. But the young people are starting to understand your betrayal. The eyes of all future generations are upon you. And if you choose to fail us, I say: We will never forgive you. We will not let you get away with this.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dirty="0">
              <a:ln>
                <a:noFill/>
              </a:ln>
              <a:solidFill>
                <a:schemeClr val="accent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chemeClr val="tx1"/>
                </a:solidFill>
                <a:effectLst/>
                <a:latin typeface="Arial" panose="020B0604020202020204" pitchFamily="34" charset="0"/>
              </a:rPr>
              <a:t>Right here, right now is where we draw the line. The world is waking up. And change is coming, whether you like it or not. Thank you.</a:t>
            </a:r>
          </a:p>
        </p:txBody>
      </p:sp>
    </p:spTree>
    <p:extLst>
      <p:ext uri="{BB962C8B-B14F-4D97-AF65-F5344CB8AC3E}">
        <p14:creationId xmlns:p14="http://schemas.microsoft.com/office/powerpoint/2010/main" val="667694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8B4F33F-417C-372E-2B20-DD3B7185BD6D}"/>
              </a:ext>
            </a:extLst>
          </p:cNvPr>
          <p:cNvSpPr txBox="1"/>
          <p:nvPr/>
        </p:nvSpPr>
        <p:spPr>
          <a:xfrm>
            <a:off x="1" y="0"/>
            <a:ext cx="3053166" cy="1569660"/>
          </a:xfrm>
          <a:prstGeom prst="rect">
            <a:avLst/>
          </a:prstGeom>
          <a:solidFill>
            <a:schemeClr val="accent2"/>
          </a:solidFill>
        </p:spPr>
        <p:txBody>
          <a:bodyPr wrap="square" rtlCol="0">
            <a:spAutoFit/>
          </a:bodyPr>
          <a:lstStyle/>
          <a:p>
            <a:r>
              <a:rPr lang="en-US" sz="2400" b="1" dirty="0"/>
              <a:t>Back to mitigation … Mitigation on the </a:t>
            </a:r>
            <a:r>
              <a:rPr lang="en-US" sz="2400" b="1" i="1" dirty="0"/>
              <a:t>supply</a:t>
            </a:r>
            <a:r>
              <a:rPr lang="en-US" sz="2400" b="1" dirty="0"/>
              <a:t> side means </a:t>
            </a:r>
            <a:r>
              <a:rPr lang="en-US" sz="2400" b="1" i="1" dirty="0"/>
              <a:t>stranded assets</a:t>
            </a:r>
          </a:p>
        </p:txBody>
      </p:sp>
      <p:pic>
        <p:nvPicPr>
          <p:cNvPr id="3" name="Picture 2">
            <a:extLst>
              <a:ext uri="{FF2B5EF4-FFF2-40B4-BE49-F238E27FC236}">
                <a16:creationId xmlns:a16="http://schemas.microsoft.com/office/drawing/2014/main" id="{B01FD685-394D-9EF0-5FCF-A965E9FC7C40}"/>
              </a:ext>
            </a:extLst>
          </p:cNvPr>
          <p:cNvPicPr>
            <a:picLocks noChangeAspect="1"/>
          </p:cNvPicPr>
          <p:nvPr/>
        </p:nvPicPr>
        <p:blipFill>
          <a:blip r:embed="rId2"/>
          <a:stretch>
            <a:fillRect/>
          </a:stretch>
        </p:blipFill>
        <p:spPr>
          <a:xfrm>
            <a:off x="3456121" y="177000"/>
            <a:ext cx="7564465" cy="6439091"/>
          </a:xfrm>
          <a:prstGeom prst="rect">
            <a:avLst/>
          </a:prstGeom>
          <a:ln>
            <a:solidFill>
              <a:schemeClr val="accent1"/>
            </a:solidFill>
          </a:ln>
        </p:spPr>
      </p:pic>
    </p:spTree>
    <p:extLst>
      <p:ext uri="{BB962C8B-B14F-4D97-AF65-F5344CB8AC3E}">
        <p14:creationId xmlns:p14="http://schemas.microsoft.com/office/powerpoint/2010/main" val="631427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349E1BE-9A23-5AAF-1960-36372C265F2D}"/>
              </a:ext>
            </a:extLst>
          </p:cNvPr>
          <p:cNvSpPr txBox="1"/>
          <p:nvPr/>
        </p:nvSpPr>
        <p:spPr>
          <a:xfrm>
            <a:off x="0" y="0"/>
            <a:ext cx="12191999" cy="830997"/>
          </a:xfrm>
          <a:prstGeom prst="rect">
            <a:avLst/>
          </a:prstGeom>
          <a:solidFill>
            <a:schemeClr val="accent2"/>
          </a:solidFill>
        </p:spPr>
        <p:txBody>
          <a:bodyPr wrap="square" rtlCol="0">
            <a:spAutoFit/>
          </a:bodyPr>
          <a:lstStyle/>
          <a:p>
            <a:r>
              <a:rPr lang="en-US" sz="2400" b="1" dirty="0"/>
              <a:t>Mitigation on the </a:t>
            </a:r>
            <a:r>
              <a:rPr lang="en-US" sz="2400" b="1" i="1" dirty="0"/>
              <a:t>demand</a:t>
            </a:r>
            <a:r>
              <a:rPr lang="en-US" sz="2400" b="1" dirty="0"/>
              <a:t> side means behavioral changes on the part of 1</a:t>
            </a:r>
            <a:r>
              <a:rPr lang="en-US" sz="2400" b="1" baseline="30000" dirty="0"/>
              <a:t>st</a:t>
            </a:r>
            <a:r>
              <a:rPr lang="en-US" sz="2400" b="1" dirty="0"/>
              <a:t> </a:t>
            </a:r>
            <a:r>
              <a:rPr lang="en-US" sz="2400" b="1" dirty="0" err="1"/>
              <a:t>worlders</a:t>
            </a:r>
            <a:r>
              <a:rPr lang="en-US" sz="2400" b="1" dirty="0"/>
              <a:t> that run up against powerful socioeconomic (advertising) forces</a:t>
            </a:r>
            <a:endParaRPr lang="en-US" sz="2400" b="1" i="1" dirty="0"/>
          </a:p>
        </p:txBody>
      </p:sp>
      <p:pic>
        <p:nvPicPr>
          <p:cNvPr id="2" name="Picture 1">
            <a:hlinkClick r:id="rId2"/>
            <a:extLst>
              <a:ext uri="{FF2B5EF4-FFF2-40B4-BE49-F238E27FC236}">
                <a16:creationId xmlns:a16="http://schemas.microsoft.com/office/drawing/2014/main" id="{95C9A184-B8CC-1B51-43AB-12C2B485E7DE}"/>
              </a:ext>
            </a:extLst>
          </p:cNvPr>
          <p:cNvPicPr>
            <a:picLocks noChangeAspect="1"/>
          </p:cNvPicPr>
          <p:nvPr/>
        </p:nvPicPr>
        <p:blipFill rotWithShape="1">
          <a:blip r:embed="rId3"/>
          <a:srcRect t="12151" r="3959" b="5776"/>
          <a:stretch/>
        </p:blipFill>
        <p:spPr>
          <a:xfrm>
            <a:off x="697424" y="2082147"/>
            <a:ext cx="4689999" cy="3202776"/>
          </a:xfrm>
          <a:prstGeom prst="rect">
            <a:avLst/>
          </a:prstGeom>
        </p:spPr>
      </p:pic>
      <p:pic>
        <p:nvPicPr>
          <p:cNvPr id="3" name="Picture 2">
            <a:hlinkClick r:id="rId4"/>
            <a:extLst>
              <a:ext uri="{FF2B5EF4-FFF2-40B4-BE49-F238E27FC236}">
                <a16:creationId xmlns:a16="http://schemas.microsoft.com/office/drawing/2014/main" id="{CEC0EDE4-B263-F755-E23B-C7736A31000E}"/>
              </a:ext>
            </a:extLst>
          </p:cNvPr>
          <p:cNvPicPr>
            <a:picLocks noChangeAspect="1"/>
          </p:cNvPicPr>
          <p:nvPr/>
        </p:nvPicPr>
        <p:blipFill rotWithShape="1">
          <a:blip r:embed="rId5"/>
          <a:srcRect l="2501" t="2820" r="7203" b="17384"/>
          <a:stretch/>
        </p:blipFill>
        <p:spPr>
          <a:xfrm>
            <a:off x="5827363" y="2082146"/>
            <a:ext cx="6099986" cy="3202776"/>
          </a:xfrm>
          <a:prstGeom prst="rect">
            <a:avLst/>
          </a:prstGeom>
          <a:ln>
            <a:solidFill>
              <a:schemeClr val="accent1"/>
            </a:solidFill>
          </a:ln>
        </p:spPr>
      </p:pic>
      <p:sp>
        <p:nvSpPr>
          <p:cNvPr id="5" name="TextBox 4">
            <a:extLst>
              <a:ext uri="{FF2B5EF4-FFF2-40B4-BE49-F238E27FC236}">
                <a16:creationId xmlns:a16="http://schemas.microsoft.com/office/drawing/2014/main" id="{8E28C01E-C725-4A34-6E59-E794BC9818D4}"/>
              </a:ext>
            </a:extLst>
          </p:cNvPr>
          <p:cNvSpPr txBox="1"/>
          <p:nvPr/>
        </p:nvSpPr>
        <p:spPr>
          <a:xfrm>
            <a:off x="697424" y="1439700"/>
            <a:ext cx="4689999" cy="461665"/>
          </a:xfrm>
          <a:prstGeom prst="rect">
            <a:avLst/>
          </a:prstGeom>
          <a:noFill/>
        </p:spPr>
        <p:txBody>
          <a:bodyPr wrap="square" rtlCol="0">
            <a:spAutoFit/>
          </a:bodyPr>
          <a:lstStyle/>
          <a:p>
            <a:pPr algn="ctr"/>
            <a:r>
              <a:rPr lang="en-US" sz="2400" dirty="0"/>
              <a:t>This is Delta (1957)</a:t>
            </a:r>
          </a:p>
        </p:txBody>
      </p:sp>
      <p:sp>
        <p:nvSpPr>
          <p:cNvPr id="8" name="TextBox 7">
            <a:extLst>
              <a:ext uri="{FF2B5EF4-FFF2-40B4-BE49-F238E27FC236}">
                <a16:creationId xmlns:a16="http://schemas.microsoft.com/office/drawing/2014/main" id="{7E690590-A048-78C0-AFF2-D62592743C66}"/>
              </a:ext>
            </a:extLst>
          </p:cNvPr>
          <p:cNvSpPr txBox="1"/>
          <p:nvPr/>
        </p:nvSpPr>
        <p:spPr>
          <a:xfrm>
            <a:off x="5827363" y="1439700"/>
            <a:ext cx="6096001" cy="461665"/>
          </a:xfrm>
          <a:prstGeom prst="rect">
            <a:avLst/>
          </a:prstGeom>
          <a:noFill/>
        </p:spPr>
        <p:txBody>
          <a:bodyPr wrap="square" rtlCol="0">
            <a:spAutoFit/>
          </a:bodyPr>
          <a:lstStyle/>
          <a:p>
            <a:pPr algn="ctr"/>
            <a:r>
              <a:rPr lang="en-US" sz="2400" dirty="0"/>
              <a:t>The World is Your Kaleidoscope (about 2020)</a:t>
            </a:r>
          </a:p>
        </p:txBody>
      </p:sp>
    </p:spTree>
    <p:extLst>
      <p:ext uri="{BB962C8B-B14F-4D97-AF65-F5344CB8AC3E}">
        <p14:creationId xmlns:p14="http://schemas.microsoft.com/office/powerpoint/2010/main" val="29283056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CC17354-5AD5-ADE9-E069-8244DAFAC62E}"/>
              </a:ext>
            </a:extLst>
          </p:cNvPr>
          <p:cNvSpPr txBox="1"/>
          <p:nvPr/>
        </p:nvSpPr>
        <p:spPr>
          <a:xfrm>
            <a:off x="0" y="0"/>
            <a:ext cx="12192000" cy="461665"/>
          </a:xfrm>
          <a:prstGeom prst="rect">
            <a:avLst/>
          </a:prstGeom>
          <a:solidFill>
            <a:schemeClr val="accent2"/>
          </a:solidFill>
        </p:spPr>
        <p:txBody>
          <a:bodyPr wrap="square" rtlCol="0">
            <a:spAutoFit/>
          </a:bodyPr>
          <a:lstStyle/>
          <a:p>
            <a:r>
              <a:rPr lang="en-US" sz="2400" b="1" dirty="0"/>
              <a:t>But whose demand? We’ve seen big disparities in consumption from country to country … </a:t>
            </a:r>
          </a:p>
        </p:txBody>
      </p:sp>
      <p:cxnSp>
        <p:nvCxnSpPr>
          <p:cNvPr id="2" name="Straight Connector 1">
            <a:extLst>
              <a:ext uri="{FF2B5EF4-FFF2-40B4-BE49-F238E27FC236}">
                <a16:creationId xmlns:a16="http://schemas.microsoft.com/office/drawing/2014/main" id="{725E9B49-C07E-E031-5C2F-352DE822A532}"/>
              </a:ext>
            </a:extLst>
          </p:cNvPr>
          <p:cNvCxnSpPr>
            <a:cxnSpLocks/>
          </p:cNvCxnSpPr>
          <p:nvPr/>
        </p:nvCxnSpPr>
        <p:spPr>
          <a:xfrm flipH="1">
            <a:off x="3650673" y="3819394"/>
            <a:ext cx="365690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EDDE0F8E-BF78-874B-BB9D-62665822FBBE}"/>
              </a:ext>
            </a:extLst>
          </p:cNvPr>
          <p:cNvCxnSpPr>
            <a:cxnSpLocks/>
          </p:cNvCxnSpPr>
          <p:nvPr/>
        </p:nvCxnSpPr>
        <p:spPr>
          <a:xfrm flipH="1">
            <a:off x="2070100" y="4333372"/>
            <a:ext cx="5576264" cy="0"/>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9062AF8D-4FB7-9E95-DC08-8E638EDF6DF4}"/>
              </a:ext>
            </a:extLst>
          </p:cNvPr>
          <p:cNvPicPr>
            <a:picLocks noChangeAspect="1"/>
          </p:cNvPicPr>
          <p:nvPr/>
        </p:nvPicPr>
        <p:blipFill>
          <a:blip r:embed="rId2"/>
          <a:stretch>
            <a:fillRect/>
          </a:stretch>
        </p:blipFill>
        <p:spPr>
          <a:xfrm>
            <a:off x="1694858" y="461665"/>
            <a:ext cx="7809603" cy="6186314"/>
          </a:xfrm>
          <a:prstGeom prst="rect">
            <a:avLst/>
          </a:prstGeom>
        </p:spPr>
      </p:pic>
      <p:cxnSp>
        <p:nvCxnSpPr>
          <p:cNvPr id="55" name="Straight Connector 54">
            <a:extLst>
              <a:ext uri="{FF2B5EF4-FFF2-40B4-BE49-F238E27FC236}">
                <a16:creationId xmlns:a16="http://schemas.microsoft.com/office/drawing/2014/main" id="{BB59C82B-FFC1-9BC8-4EB5-01D594F0E7ED}"/>
              </a:ext>
            </a:extLst>
          </p:cNvPr>
          <p:cNvCxnSpPr>
            <a:cxnSpLocks/>
          </p:cNvCxnSpPr>
          <p:nvPr/>
        </p:nvCxnSpPr>
        <p:spPr>
          <a:xfrm>
            <a:off x="2503781" y="3718996"/>
            <a:ext cx="6445909" cy="0"/>
          </a:xfrm>
          <a:prstGeom prst="line">
            <a:avLst/>
          </a:prstGeom>
          <a:ln w="50800">
            <a:solidFill>
              <a:schemeClr val="tx1">
                <a:alpha val="46000"/>
              </a:schemeClr>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4482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837B8F3-2F03-2E0F-E87F-A68FBBD8B104}"/>
              </a:ext>
            </a:extLst>
          </p:cNvPr>
          <p:cNvSpPr txBox="1"/>
          <p:nvPr/>
        </p:nvSpPr>
        <p:spPr>
          <a:xfrm>
            <a:off x="0" y="0"/>
            <a:ext cx="12192000" cy="461665"/>
          </a:xfrm>
          <a:prstGeom prst="rect">
            <a:avLst/>
          </a:prstGeom>
          <a:solidFill>
            <a:schemeClr val="accent2"/>
          </a:solidFill>
        </p:spPr>
        <p:txBody>
          <a:bodyPr wrap="square">
            <a:spAutoFit/>
          </a:bodyPr>
          <a:lstStyle/>
          <a:p>
            <a:r>
              <a:rPr lang="en-US" sz="2400" b="1" dirty="0"/>
              <a:t>.. and there’s a lot of in-country disparity too</a:t>
            </a:r>
          </a:p>
        </p:txBody>
      </p:sp>
      <p:pic>
        <p:nvPicPr>
          <p:cNvPr id="2" name="Picture 1">
            <a:extLst>
              <a:ext uri="{FF2B5EF4-FFF2-40B4-BE49-F238E27FC236}">
                <a16:creationId xmlns:a16="http://schemas.microsoft.com/office/drawing/2014/main" id="{1A38C794-6AB7-C4F3-E1B3-17E64AF5E1CC}"/>
              </a:ext>
            </a:extLst>
          </p:cNvPr>
          <p:cNvPicPr>
            <a:picLocks noChangeAspect="1"/>
          </p:cNvPicPr>
          <p:nvPr/>
        </p:nvPicPr>
        <p:blipFill>
          <a:blip r:embed="rId2"/>
          <a:stretch>
            <a:fillRect/>
          </a:stretch>
        </p:blipFill>
        <p:spPr>
          <a:xfrm>
            <a:off x="1977081" y="461665"/>
            <a:ext cx="8410885" cy="6337257"/>
          </a:xfrm>
          <a:prstGeom prst="rect">
            <a:avLst/>
          </a:prstGeom>
          <a:ln>
            <a:noFill/>
          </a:ln>
        </p:spPr>
      </p:pic>
      <p:cxnSp>
        <p:nvCxnSpPr>
          <p:cNvPr id="18" name="Straight Connector 17">
            <a:extLst>
              <a:ext uri="{FF2B5EF4-FFF2-40B4-BE49-F238E27FC236}">
                <a16:creationId xmlns:a16="http://schemas.microsoft.com/office/drawing/2014/main" id="{DB9F6A7B-13A7-AC0B-7DCD-FDE073DC4F77}"/>
              </a:ext>
            </a:extLst>
          </p:cNvPr>
          <p:cNvCxnSpPr>
            <a:cxnSpLocks/>
          </p:cNvCxnSpPr>
          <p:nvPr/>
        </p:nvCxnSpPr>
        <p:spPr>
          <a:xfrm>
            <a:off x="2799822" y="5520730"/>
            <a:ext cx="7184437" cy="0"/>
          </a:xfrm>
          <a:prstGeom prst="line">
            <a:avLst/>
          </a:prstGeom>
          <a:ln w="50800">
            <a:solidFill>
              <a:schemeClr val="tx1">
                <a:alpha val="46000"/>
              </a:schemeClr>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07701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02656BF-F040-78AA-E954-8F3C56D44CAB}"/>
              </a:ext>
            </a:extLst>
          </p:cNvPr>
          <p:cNvSpPr txBox="1"/>
          <p:nvPr/>
        </p:nvSpPr>
        <p:spPr>
          <a:xfrm>
            <a:off x="0" y="1"/>
            <a:ext cx="12191999" cy="461665"/>
          </a:xfrm>
          <a:prstGeom prst="rect">
            <a:avLst/>
          </a:prstGeom>
          <a:solidFill>
            <a:schemeClr val="accent2"/>
          </a:solidFill>
        </p:spPr>
        <p:txBody>
          <a:bodyPr wrap="square">
            <a:spAutoFit/>
          </a:bodyPr>
          <a:lstStyle/>
          <a:p>
            <a:r>
              <a:rPr lang="en-US" sz="2400" b="1" dirty="0"/>
              <a:t>Some interesting facts about flying</a:t>
            </a:r>
          </a:p>
        </p:txBody>
      </p:sp>
      <p:pic>
        <p:nvPicPr>
          <p:cNvPr id="2" name="Picture 1">
            <a:extLst>
              <a:ext uri="{FF2B5EF4-FFF2-40B4-BE49-F238E27FC236}">
                <a16:creationId xmlns:a16="http://schemas.microsoft.com/office/drawing/2014/main" id="{9B8ED387-236C-8269-CEDB-E831ADBC6647}"/>
              </a:ext>
            </a:extLst>
          </p:cNvPr>
          <p:cNvPicPr>
            <a:picLocks noChangeAspect="1"/>
          </p:cNvPicPr>
          <p:nvPr/>
        </p:nvPicPr>
        <p:blipFill>
          <a:blip r:embed="rId2"/>
          <a:stretch>
            <a:fillRect/>
          </a:stretch>
        </p:blipFill>
        <p:spPr>
          <a:xfrm>
            <a:off x="1447672" y="654909"/>
            <a:ext cx="8956718" cy="3584268"/>
          </a:xfrm>
          <a:prstGeom prst="rect">
            <a:avLst/>
          </a:prstGeom>
        </p:spPr>
      </p:pic>
      <p:pic>
        <p:nvPicPr>
          <p:cNvPr id="3" name="Picture 2">
            <a:extLst>
              <a:ext uri="{FF2B5EF4-FFF2-40B4-BE49-F238E27FC236}">
                <a16:creationId xmlns:a16="http://schemas.microsoft.com/office/drawing/2014/main" id="{C74F9C34-D3A1-A886-B9FC-600654179BF5}"/>
              </a:ext>
            </a:extLst>
          </p:cNvPr>
          <p:cNvPicPr>
            <a:picLocks noChangeAspect="1"/>
          </p:cNvPicPr>
          <p:nvPr/>
        </p:nvPicPr>
        <p:blipFill>
          <a:blip r:embed="rId3"/>
          <a:stretch>
            <a:fillRect/>
          </a:stretch>
        </p:blipFill>
        <p:spPr>
          <a:xfrm>
            <a:off x="1683144" y="4432420"/>
            <a:ext cx="8485774" cy="2298677"/>
          </a:xfrm>
          <a:prstGeom prst="rect">
            <a:avLst/>
          </a:prstGeom>
        </p:spPr>
      </p:pic>
    </p:spTree>
    <p:extLst>
      <p:ext uri="{BB962C8B-B14F-4D97-AF65-F5344CB8AC3E}">
        <p14:creationId xmlns:p14="http://schemas.microsoft.com/office/powerpoint/2010/main" val="40205527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02656BF-F040-78AA-E954-8F3C56D44CAB}"/>
              </a:ext>
            </a:extLst>
          </p:cNvPr>
          <p:cNvSpPr txBox="1"/>
          <p:nvPr/>
        </p:nvSpPr>
        <p:spPr>
          <a:xfrm>
            <a:off x="0" y="1"/>
            <a:ext cx="12191999" cy="461665"/>
          </a:xfrm>
          <a:prstGeom prst="rect">
            <a:avLst/>
          </a:prstGeom>
          <a:solidFill>
            <a:schemeClr val="accent2"/>
          </a:solidFill>
        </p:spPr>
        <p:txBody>
          <a:bodyPr wrap="square">
            <a:spAutoFit/>
          </a:bodyPr>
          <a:lstStyle/>
          <a:p>
            <a:r>
              <a:rPr lang="en-US" sz="2400" b="1" dirty="0"/>
              <a:t>The climate impact of flying … we can quantify the CO</a:t>
            </a:r>
            <a:r>
              <a:rPr lang="en-US" sz="2400" b="1" baseline="-25000" dirty="0"/>
              <a:t>2</a:t>
            </a:r>
            <a:endParaRPr lang="en-US" sz="2400" b="1" dirty="0"/>
          </a:p>
        </p:txBody>
      </p:sp>
      <p:pic>
        <p:nvPicPr>
          <p:cNvPr id="51" name="Picture 50">
            <a:extLst>
              <a:ext uri="{FF2B5EF4-FFF2-40B4-BE49-F238E27FC236}">
                <a16:creationId xmlns:a16="http://schemas.microsoft.com/office/drawing/2014/main" id="{D4C0D684-258E-E311-9596-4E8ED05CCBC5}"/>
              </a:ext>
            </a:extLst>
          </p:cNvPr>
          <p:cNvPicPr>
            <a:picLocks noChangeAspect="1"/>
          </p:cNvPicPr>
          <p:nvPr/>
        </p:nvPicPr>
        <p:blipFill>
          <a:blip r:embed="rId2"/>
          <a:stretch>
            <a:fillRect/>
          </a:stretch>
        </p:blipFill>
        <p:spPr>
          <a:xfrm>
            <a:off x="148439" y="872809"/>
            <a:ext cx="11895122" cy="4798942"/>
          </a:xfrm>
          <a:prstGeom prst="rect">
            <a:avLst/>
          </a:prstGeom>
        </p:spPr>
      </p:pic>
    </p:spTree>
    <p:extLst>
      <p:ext uri="{BB962C8B-B14F-4D97-AF65-F5344CB8AC3E}">
        <p14:creationId xmlns:p14="http://schemas.microsoft.com/office/powerpoint/2010/main" val="4254520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02656BF-F040-78AA-E954-8F3C56D44CAB}"/>
              </a:ext>
            </a:extLst>
          </p:cNvPr>
          <p:cNvSpPr txBox="1"/>
          <p:nvPr/>
        </p:nvSpPr>
        <p:spPr>
          <a:xfrm>
            <a:off x="0" y="1"/>
            <a:ext cx="12191999" cy="461665"/>
          </a:xfrm>
          <a:prstGeom prst="rect">
            <a:avLst/>
          </a:prstGeom>
          <a:solidFill>
            <a:schemeClr val="accent2"/>
          </a:solidFill>
        </p:spPr>
        <p:txBody>
          <a:bodyPr wrap="square">
            <a:spAutoFit/>
          </a:bodyPr>
          <a:lstStyle/>
          <a:p>
            <a:r>
              <a:rPr lang="en-US" sz="2400" b="1" dirty="0"/>
              <a:t>The climate impact of flying … we can quantify the CO</a:t>
            </a:r>
            <a:r>
              <a:rPr lang="en-US" sz="2400" b="1" baseline="-25000" dirty="0"/>
              <a:t>2</a:t>
            </a:r>
            <a:endParaRPr lang="en-US" sz="2400" b="1" dirty="0"/>
          </a:p>
        </p:txBody>
      </p:sp>
      <p:pic>
        <p:nvPicPr>
          <p:cNvPr id="51" name="Picture 50">
            <a:extLst>
              <a:ext uri="{FF2B5EF4-FFF2-40B4-BE49-F238E27FC236}">
                <a16:creationId xmlns:a16="http://schemas.microsoft.com/office/drawing/2014/main" id="{D4C0D684-258E-E311-9596-4E8ED05CCBC5}"/>
              </a:ext>
            </a:extLst>
          </p:cNvPr>
          <p:cNvPicPr>
            <a:picLocks noChangeAspect="1"/>
          </p:cNvPicPr>
          <p:nvPr/>
        </p:nvPicPr>
        <p:blipFill>
          <a:blip r:embed="rId2"/>
          <a:stretch>
            <a:fillRect/>
          </a:stretch>
        </p:blipFill>
        <p:spPr>
          <a:xfrm>
            <a:off x="148439" y="872809"/>
            <a:ext cx="11895122" cy="4798942"/>
          </a:xfrm>
          <a:prstGeom prst="rect">
            <a:avLst/>
          </a:prstGeom>
        </p:spPr>
      </p:pic>
      <p:sp>
        <p:nvSpPr>
          <p:cNvPr id="3" name="TextBox 2">
            <a:extLst>
              <a:ext uri="{FF2B5EF4-FFF2-40B4-BE49-F238E27FC236}">
                <a16:creationId xmlns:a16="http://schemas.microsoft.com/office/drawing/2014/main" id="{147F890F-0C80-0C2F-93BD-EC19FA3BA23A}"/>
              </a:ext>
            </a:extLst>
          </p:cNvPr>
          <p:cNvSpPr txBox="1"/>
          <p:nvPr/>
        </p:nvSpPr>
        <p:spPr>
          <a:xfrm>
            <a:off x="1121376" y="3565609"/>
            <a:ext cx="3351770" cy="461665"/>
          </a:xfrm>
          <a:prstGeom prst="rect">
            <a:avLst/>
          </a:prstGeom>
          <a:noFill/>
          <a:ln>
            <a:solidFill>
              <a:schemeClr val="accent1"/>
            </a:solidFill>
          </a:ln>
        </p:spPr>
        <p:txBody>
          <a:bodyPr wrap="square">
            <a:spAutoFit/>
          </a:bodyPr>
          <a:lstStyle/>
          <a:p>
            <a:r>
              <a:rPr lang="en-US" sz="2400" dirty="0"/>
              <a:t>Is 5.4 metric tons a lot? </a:t>
            </a:r>
          </a:p>
        </p:txBody>
      </p:sp>
    </p:spTree>
    <p:extLst>
      <p:ext uri="{BB962C8B-B14F-4D97-AF65-F5344CB8AC3E}">
        <p14:creationId xmlns:p14="http://schemas.microsoft.com/office/powerpoint/2010/main" val="21578094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02656BF-F040-78AA-E954-8F3C56D44CAB}"/>
              </a:ext>
            </a:extLst>
          </p:cNvPr>
          <p:cNvSpPr txBox="1"/>
          <p:nvPr/>
        </p:nvSpPr>
        <p:spPr>
          <a:xfrm>
            <a:off x="0" y="1"/>
            <a:ext cx="12191999" cy="461665"/>
          </a:xfrm>
          <a:prstGeom prst="rect">
            <a:avLst/>
          </a:prstGeom>
          <a:solidFill>
            <a:schemeClr val="accent2"/>
          </a:solidFill>
        </p:spPr>
        <p:txBody>
          <a:bodyPr wrap="square">
            <a:spAutoFit/>
          </a:bodyPr>
          <a:lstStyle/>
          <a:p>
            <a:r>
              <a:rPr lang="en-US" sz="2400" b="1" dirty="0"/>
              <a:t>The climate impact of flying … we can quantify the CO</a:t>
            </a:r>
            <a:r>
              <a:rPr lang="en-US" sz="2400" b="1" baseline="-25000" dirty="0"/>
              <a:t>2</a:t>
            </a:r>
            <a:endParaRPr lang="en-US" sz="2400" b="1" dirty="0"/>
          </a:p>
        </p:txBody>
      </p:sp>
      <p:pic>
        <p:nvPicPr>
          <p:cNvPr id="51" name="Picture 50">
            <a:extLst>
              <a:ext uri="{FF2B5EF4-FFF2-40B4-BE49-F238E27FC236}">
                <a16:creationId xmlns:a16="http://schemas.microsoft.com/office/drawing/2014/main" id="{D4C0D684-258E-E311-9596-4E8ED05CCBC5}"/>
              </a:ext>
            </a:extLst>
          </p:cNvPr>
          <p:cNvPicPr>
            <a:picLocks noChangeAspect="1"/>
          </p:cNvPicPr>
          <p:nvPr/>
        </p:nvPicPr>
        <p:blipFill>
          <a:blip r:embed="rId2"/>
          <a:stretch>
            <a:fillRect/>
          </a:stretch>
        </p:blipFill>
        <p:spPr>
          <a:xfrm>
            <a:off x="148439" y="872809"/>
            <a:ext cx="11895122" cy="4798942"/>
          </a:xfrm>
          <a:prstGeom prst="rect">
            <a:avLst/>
          </a:prstGeom>
        </p:spPr>
      </p:pic>
      <p:sp>
        <p:nvSpPr>
          <p:cNvPr id="3" name="TextBox 2">
            <a:extLst>
              <a:ext uri="{FF2B5EF4-FFF2-40B4-BE49-F238E27FC236}">
                <a16:creationId xmlns:a16="http://schemas.microsoft.com/office/drawing/2014/main" id="{147F890F-0C80-0C2F-93BD-EC19FA3BA23A}"/>
              </a:ext>
            </a:extLst>
          </p:cNvPr>
          <p:cNvSpPr txBox="1"/>
          <p:nvPr/>
        </p:nvSpPr>
        <p:spPr>
          <a:xfrm>
            <a:off x="1121376" y="3565609"/>
            <a:ext cx="3351770" cy="461665"/>
          </a:xfrm>
          <a:prstGeom prst="rect">
            <a:avLst/>
          </a:prstGeom>
          <a:noFill/>
          <a:ln>
            <a:solidFill>
              <a:schemeClr val="accent1"/>
            </a:solidFill>
          </a:ln>
        </p:spPr>
        <p:txBody>
          <a:bodyPr wrap="square">
            <a:spAutoFit/>
          </a:bodyPr>
          <a:lstStyle/>
          <a:p>
            <a:r>
              <a:rPr lang="en-US" sz="2400" dirty="0"/>
              <a:t>Is 5.4 metric tons a lot? </a:t>
            </a:r>
          </a:p>
        </p:txBody>
      </p:sp>
      <p:grpSp>
        <p:nvGrpSpPr>
          <p:cNvPr id="2" name="Group 1">
            <a:extLst>
              <a:ext uri="{FF2B5EF4-FFF2-40B4-BE49-F238E27FC236}">
                <a16:creationId xmlns:a16="http://schemas.microsoft.com/office/drawing/2014/main" id="{29607CA7-9459-257A-1E8B-3AA7DB499C25}"/>
              </a:ext>
            </a:extLst>
          </p:cNvPr>
          <p:cNvGrpSpPr>
            <a:grpSpLocks noChangeAspect="1"/>
          </p:cNvGrpSpPr>
          <p:nvPr/>
        </p:nvGrpSpPr>
        <p:grpSpPr>
          <a:xfrm>
            <a:off x="1223244" y="4438417"/>
            <a:ext cx="3148034" cy="583529"/>
            <a:chOff x="3330938" y="5081341"/>
            <a:chExt cx="8012252" cy="1485174"/>
          </a:xfrm>
        </p:grpSpPr>
        <p:grpSp>
          <p:nvGrpSpPr>
            <p:cNvPr id="4" name="Group 3">
              <a:extLst>
                <a:ext uri="{FF2B5EF4-FFF2-40B4-BE49-F238E27FC236}">
                  <a16:creationId xmlns:a16="http://schemas.microsoft.com/office/drawing/2014/main" id="{88F674B0-BCAF-07D5-BFA4-BB489E029AAC}"/>
                </a:ext>
              </a:extLst>
            </p:cNvPr>
            <p:cNvGrpSpPr/>
            <p:nvPr/>
          </p:nvGrpSpPr>
          <p:grpSpPr>
            <a:xfrm>
              <a:off x="3330938" y="5081341"/>
              <a:ext cx="4768126" cy="1485174"/>
              <a:chOff x="3330938" y="5081341"/>
              <a:chExt cx="4768126" cy="1485174"/>
            </a:xfrm>
          </p:grpSpPr>
          <p:pic>
            <p:nvPicPr>
              <p:cNvPr id="7" name="Picture 2" descr="Hippo Facts, History, Useful Information and Amazing Pictures">
                <a:extLst>
                  <a:ext uri="{FF2B5EF4-FFF2-40B4-BE49-F238E27FC236}">
                    <a16:creationId xmlns:a16="http://schemas.microsoft.com/office/drawing/2014/main" id="{30E61621-5460-2BEB-9874-F59BC8D8C05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441" r="24800"/>
              <a:stretch/>
            </p:blipFill>
            <p:spPr bwMode="auto">
              <a:xfrm>
                <a:off x="3330938" y="5085680"/>
                <a:ext cx="1524000" cy="1476680"/>
              </a:xfrm>
              <a:prstGeom prst="rect">
                <a:avLst/>
              </a:prstGeom>
              <a:noFill/>
              <a:ln w="57150">
                <a:solidFill>
                  <a:srgbClr val="FFC000"/>
                </a:solidFill>
              </a:ln>
              <a:extLst>
                <a:ext uri="{909E8E84-426E-40DD-AFC4-6F175D3DCCD1}">
                  <a14:hiddenFill xmlns:a14="http://schemas.microsoft.com/office/drawing/2010/main">
                    <a:solidFill>
                      <a:srgbClr val="FFFFFF"/>
                    </a:solidFill>
                  </a14:hiddenFill>
                </a:ext>
              </a:extLst>
            </p:spPr>
          </p:pic>
          <p:pic>
            <p:nvPicPr>
              <p:cNvPr id="8" name="Picture 2" descr="Hippo Facts, History, Useful Information and Amazing Pictures">
                <a:extLst>
                  <a:ext uri="{FF2B5EF4-FFF2-40B4-BE49-F238E27FC236}">
                    <a16:creationId xmlns:a16="http://schemas.microsoft.com/office/drawing/2014/main" id="{43A7240B-51B6-237A-15F2-482467B5F4B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441" r="24800"/>
              <a:stretch/>
            </p:blipFill>
            <p:spPr bwMode="auto">
              <a:xfrm>
                <a:off x="4921176" y="5081341"/>
                <a:ext cx="1524000" cy="1476680"/>
              </a:xfrm>
              <a:prstGeom prst="rect">
                <a:avLst/>
              </a:prstGeom>
              <a:noFill/>
              <a:ln w="57150">
                <a:solidFill>
                  <a:srgbClr val="FFC000"/>
                </a:solidFill>
              </a:ln>
              <a:extLst>
                <a:ext uri="{909E8E84-426E-40DD-AFC4-6F175D3DCCD1}">
                  <a14:hiddenFill xmlns:a14="http://schemas.microsoft.com/office/drawing/2010/main">
                    <a:solidFill>
                      <a:srgbClr val="FFFFFF"/>
                    </a:solidFill>
                  </a14:hiddenFill>
                </a:ext>
              </a:extLst>
            </p:spPr>
          </p:pic>
          <p:pic>
            <p:nvPicPr>
              <p:cNvPr id="10" name="Picture 2" descr="Hippo Facts, History, Useful Information and Amazing Pictures">
                <a:extLst>
                  <a:ext uri="{FF2B5EF4-FFF2-40B4-BE49-F238E27FC236}">
                    <a16:creationId xmlns:a16="http://schemas.microsoft.com/office/drawing/2014/main" id="{B893CDAB-4242-577A-8907-1C7A60C8406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441" r="24800"/>
              <a:stretch/>
            </p:blipFill>
            <p:spPr bwMode="auto">
              <a:xfrm>
                <a:off x="6575064" y="5089835"/>
                <a:ext cx="1524000" cy="1476680"/>
              </a:xfrm>
              <a:prstGeom prst="rect">
                <a:avLst/>
              </a:prstGeom>
              <a:noFill/>
              <a:ln w="57150">
                <a:solidFill>
                  <a:srgbClr val="FFC000"/>
                </a:solidFill>
              </a:ln>
              <a:extLst>
                <a:ext uri="{909E8E84-426E-40DD-AFC4-6F175D3DCCD1}">
                  <a14:hiddenFill xmlns:a14="http://schemas.microsoft.com/office/drawing/2010/main">
                    <a:solidFill>
                      <a:srgbClr val="FFFFFF"/>
                    </a:solidFill>
                  </a14:hiddenFill>
                </a:ext>
              </a:extLst>
            </p:spPr>
          </p:pic>
        </p:grpSp>
        <p:pic>
          <p:nvPicPr>
            <p:cNvPr id="5" name="Picture 2" descr="Hippo Facts, History, Useful Information and Amazing Pictures">
              <a:extLst>
                <a:ext uri="{FF2B5EF4-FFF2-40B4-BE49-F238E27FC236}">
                  <a16:creationId xmlns:a16="http://schemas.microsoft.com/office/drawing/2014/main" id="{D84EE5BB-1695-D94A-73F8-AB1AE5041C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441" r="24800"/>
            <a:stretch/>
          </p:blipFill>
          <p:spPr bwMode="auto">
            <a:xfrm>
              <a:off x="8177659" y="5089835"/>
              <a:ext cx="1524000" cy="1476680"/>
            </a:xfrm>
            <a:prstGeom prst="rect">
              <a:avLst/>
            </a:prstGeom>
            <a:noFill/>
            <a:ln w="57150">
              <a:solidFill>
                <a:srgbClr val="FFC000"/>
              </a:solidFill>
            </a:ln>
            <a:extLst>
              <a:ext uri="{909E8E84-426E-40DD-AFC4-6F175D3DCCD1}">
                <a14:hiddenFill xmlns:a14="http://schemas.microsoft.com/office/drawing/2010/main">
                  <a:solidFill>
                    <a:srgbClr val="FFFFFF"/>
                  </a:solidFill>
                </a14:hiddenFill>
              </a:ext>
            </a:extLst>
          </p:spPr>
        </p:pic>
        <p:pic>
          <p:nvPicPr>
            <p:cNvPr id="6" name="Picture 2" descr="Hippo Facts, History, Useful Information and Amazing Pictures">
              <a:extLst>
                <a:ext uri="{FF2B5EF4-FFF2-40B4-BE49-F238E27FC236}">
                  <a16:creationId xmlns:a16="http://schemas.microsoft.com/office/drawing/2014/main" id="{62D99CA1-BFDE-193A-6F4B-07B3C5E2CFD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441" r="24800"/>
            <a:stretch/>
          </p:blipFill>
          <p:spPr bwMode="auto">
            <a:xfrm>
              <a:off x="9819190" y="5089835"/>
              <a:ext cx="1524000" cy="1476680"/>
            </a:xfrm>
            <a:prstGeom prst="rect">
              <a:avLst/>
            </a:prstGeom>
            <a:noFill/>
            <a:ln w="57150">
              <a:solidFill>
                <a:srgbClr val="FFC000"/>
              </a:solidFill>
            </a:ln>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4346322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CC17354-5AD5-ADE9-E069-8244DAFAC62E}"/>
                  </a:ext>
                </a:extLst>
              </p:cNvPr>
              <p:cNvSpPr txBox="1"/>
              <p:nvPr/>
            </p:nvSpPr>
            <p:spPr>
              <a:xfrm>
                <a:off x="0" y="0"/>
                <a:ext cx="12192000" cy="461665"/>
              </a:xfrm>
              <a:prstGeom prst="rect">
                <a:avLst/>
              </a:prstGeom>
              <a:solidFill>
                <a:schemeClr val="accent2"/>
              </a:solidFill>
            </p:spPr>
            <p:txBody>
              <a:bodyPr wrap="square" rtlCol="0">
                <a:spAutoFit/>
              </a:bodyPr>
              <a:lstStyle/>
              <a:p>
                <a:r>
                  <a:rPr lang="en-US" sz="2400" b="1" dirty="0"/>
                  <a:t>Let’s compare to the per-capita budget needed to avoid </a:t>
                </a:r>
                <a14:m>
                  <m:oMath xmlns:m="http://schemas.openxmlformats.org/officeDocument/2006/math">
                    <m:r>
                      <a:rPr lang="en-US" sz="2400" b="1" i="1" smtClean="0">
                        <a:latin typeface="Cambria Math" panose="02040503050406030204" pitchFamily="18" charset="0"/>
                      </a:rPr>
                      <m:t>𝟐</m:t>
                    </m:r>
                    <m:r>
                      <a:rPr lang="en-US" sz="2400" b="1" i="1" smtClean="0">
                        <a:latin typeface="Cambria Math" panose="02040503050406030204" pitchFamily="18" charset="0"/>
                        <a:ea typeface="Cambria Math" panose="02040503050406030204" pitchFamily="18" charset="0"/>
                      </a:rPr>
                      <m:t>℃</m:t>
                    </m:r>
                  </m:oMath>
                </a14:m>
                <a:r>
                  <a:rPr lang="en-US" sz="2400" b="1" dirty="0"/>
                  <a:t> warming</a:t>
                </a:r>
              </a:p>
            </p:txBody>
          </p:sp>
        </mc:Choice>
        <mc:Fallback xmlns="">
          <p:sp>
            <p:nvSpPr>
              <p:cNvPr id="4" name="TextBox 3">
                <a:extLst>
                  <a:ext uri="{FF2B5EF4-FFF2-40B4-BE49-F238E27FC236}">
                    <a16:creationId xmlns:a16="http://schemas.microsoft.com/office/drawing/2014/main" id="{FCC17354-5AD5-ADE9-E069-8244DAFAC62E}"/>
                  </a:ext>
                </a:extLst>
              </p:cNvPr>
              <p:cNvSpPr txBox="1">
                <a:spLocks noRot="1" noChangeAspect="1" noMove="1" noResize="1" noEditPoints="1" noAdjustHandles="1" noChangeArrowheads="1" noChangeShapeType="1" noTextEdit="1"/>
              </p:cNvSpPr>
              <p:nvPr/>
            </p:nvSpPr>
            <p:spPr>
              <a:xfrm>
                <a:off x="0" y="0"/>
                <a:ext cx="12192000" cy="461665"/>
              </a:xfrm>
              <a:prstGeom prst="rect">
                <a:avLst/>
              </a:prstGeom>
              <a:blipFill>
                <a:blip r:embed="rId2"/>
                <a:stretch>
                  <a:fillRect l="-832" t="-8108" b="-29730"/>
                </a:stretch>
              </a:blipFill>
            </p:spPr>
            <p:txBody>
              <a:bodyPr/>
              <a:lstStyle/>
              <a:p>
                <a:r>
                  <a:rPr lang="en-US">
                    <a:noFill/>
                  </a:rPr>
                  <a:t> </a:t>
                </a:r>
              </a:p>
            </p:txBody>
          </p:sp>
        </mc:Fallback>
      </mc:AlternateContent>
      <p:cxnSp>
        <p:nvCxnSpPr>
          <p:cNvPr id="2" name="Straight Connector 1">
            <a:extLst>
              <a:ext uri="{FF2B5EF4-FFF2-40B4-BE49-F238E27FC236}">
                <a16:creationId xmlns:a16="http://schemas.microsoft.com/office/drawing/2014/main" id="{725E9B49-C07E-E031-5C2F-352DE822A532}"/>
              </a:ext>
            </a:extLst>
          </p:cNvPr>
          <p:cNvCxnSpPr>
            <a:cxnSpLocks/>
          </p:cNvCxnSpPr>
          <p:nvPr/>
        </p:nvCxnSpPr>
        <p:spPr>
          <a:xfrm flipH="1">
            <a:off x="3650673" y="3819394"/>
            <a:ext cx="365690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EDDE0F8E-BF78-874B-BB9D-62665822FBBE}"/>
              </a:ext>
            </a:extLst>
          </p:cNvPr>
          <p:cNvCxnSpPr>
            <a:cxnSpLocks/>
          </p:cNvCxnSpPr>
          <p:nvPr/>
        </p:nvCxnSpPr>
        <p:spPr>
          <a:xfrm flipH="1">
            <a:off x="2070100" y="4333372"/>
            <a:ext cx="5576264" cy="0"/>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9062AF8D-4FB7-9E95-DC08-8E638EDF6DF4}"/>
              </a:ext>
            </a:extLst>
          </p:cNvPr>
          <p:cNvPicPr>
            <a:picLocks noChangeAspect="1"/>
          </p:cNvPicPr>
          <p:nvPr/>
        </p:nvPicPr>
        <p:blipFill>
          <a:blip r:embed="rId3"/>
          <a:stretch>
            <a:fillRect/>
          </a:stretch>
        </p:blipFill>
        <p:spPr>
          <a:xfrm>
            <a:off x="385042" y="515135"/>
            <a:ext cx="7809603" cy="6186314"/>
          </a:xfrm>
          <a:prstGeom prst="rect">
            <a:avLst/>
          </a:prstGeom>
        </p:spPr>
      </p:pic>
      <p:grpSp>
        <p:nvGrpSpPr>
          <p:cNvPr id="9" name="Group 8">
            <a:extLst>
              <a:ext uri="{FF2B5EF4-FFF2-40B4-BE49-F238E27FC236}">
                <a16:creationId xmlns:a16="http://schemas.microsoft.com/office/drawing/2014/main" id="{3C871BF7-F1D9-67B9-26BC-218689C8AA63}"/>
              </a:ext>
            </a:extLst>
          </p:cNvPr>
          <p:cNvGrpSpPr/>
          <p:nvPr/>
        </p:nvGrpSpPr>
        <p:grpSpPr>
          <a:xfrm>
            <a:off x="7870189" y="872332"/>
            <a:ext cx="3291712" cy="2835797"/>
            <a:chOff x="7824486" y="891251"/>
            <a:chExt cx="5568773" cy="2835797"/>
          </a:xfrm>
        </p:grpSpPr>
        <p:sp>
          <p:nvSpPr>
            <p:cNvPr id="10" name="Right Brace 9">
              <a:extLst>
                <a:ext uri="{FF2B5EF4-FFF2-40B4-BE49-F238E27FC236}">
                  <a16:creationId xmlns:a16="http://schemas.microsoft.com/office/drawing/2014/main" id="{E26E61FA-6C6C-9B46-75F9-880DF03A9006}"/>
                </a:ext>
              </a:extLst>
            </p:cNvPr>
            <p:cNvSpPr/>
            <p:nvPr/>
          </p:nvSpPr>
          <p:spPr>
            <a:xfrm>
              <a:off x="7824486" y="891251"/>
              <a:ext cx="243068" cy="2835797"/>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4F9F1B5B-B192-ECF2-096F-F76BCAAB69DF}"/>
                </a:ext>
              </a:extLst>
            </p:cNvPr>
            <p:cNvSpPr txBox="1"/>
            <p:nvPr/>
          </p:nvSpPr>
          <p:spPr>
            <a:xfrm>
              <a:off x="8067554" y="2073958"/>
              <a:ext cx="5325705" cy="400110"/>
            </a:xfrm>
            <a:prstGeom prst="rect">
              <a:avLst/>
            </a:prstGeom>
            <a:noFill/>
          </p:spPr>
          <p:txBody>
            <a:bodyPr wrap="square" rtlCol="0">
              <a:spAutoFit/>
            </a:bodyPr>
            <a:lstStyle/>
            <a:p>
              <a:r>
                <a:rPr lang="en-US" sz="2000" dirty="0"/>
                <a:t>Carbon Privilege </a:t>
              </a:r>
              <a:r>
                <a:rPr lang="en-US" sz="2000" b="1" dirty="0"/>
                <a:t>= </a:t>
              </a:r>
              <a:r>
                <a:rPr lang="en-US" sz="2000" dirty="0"/>
                <a:t>16 </a:t>
              </a:r>
              <a:r>
                <a:rPr lang="en-US" sz="2000" dirty="0" err="1"/>
                <a:t>GtC</a:t>
              </a:r>
              <a:r>
                <a:rPr lang="en-US" sz="2000" dirty="0"/>
                <a:t>/</a:t>
              </a:r>
              <a:r>
                <a:rPr lang="en-US" sz="2000" dirty="0" err="1"/>
                <a:t>yr</a:t>
              </a:r>
              <a:endParaRPr lang="en-US" sz="2000" dirty="0"/>
            </a:p>
          </p:txBody>
        </p:sp>
      </p:grpSp>
      <p:cxnSp>
        <p:nvCxnSpPr>
          <p:cNvPr id="47" name="Straight Connector 46">
            <a:extLst>
              <a:ext uri="{FF2B5EF4-FFF2-40B4-BE49-F238E27FC236}">
                <a16:creationId xmlns:a16="http://schemas.microsoft.com/office/drawing/2014/main" id="{F433E783-735B-2238-A310-E17DEB2514EF}"/>
              </a:ext>
            </a:extLst>
          </p:cNvPr>
          <p:cNvCxnSpPr/>
          <p:nvPr/>
        </p:nvCxnSpPr>
        <p:spPr>
          <a:xfrm>
            <a:off x="4282633" y="3819394"/>
            <a:ext cx="6030410" cy="0"/>
          </a:xfrm>
          <a:prstGeom prst="line">
            <a:avLst/>
          </a:prstGeom>
          <a:ln w="50800">
            <a:solidFill>
              <a:schemeClr val="tx1">
                <a:alpha val="46000"/>
              </a:schemeClr>
            </a:solidFill>
            <a:prstDash val="lgDash"/>
          </a:ln>
        </p:spPr>
        <p:style>
          <a:lnRef idx="1">
            <a:schemeClr val="accent1"/>
          </a:lnRef>
          <a:fillRef idx="0">
            <a:schemeClr val="accent1"/>
          </a:fillRef>
          <a:effectRef idx="0">
            <a:schemeClr val="accent1"/>
          </a:effectRef>
          <a:fontRef idx="minor">
            <a:schemeClr val="tx1"/>
          </a:fontRef>
        </p:style>
      </p:cxnSp>
      <p:grpSp>
        <p:nvGrpSpPr>
          <p:cNvPr id="46" name="Group 45">
            <a:extLst>
              <a:ext uri="{FF2B5EF4-FFF2-40B4-BE49-F238E27FC236}">
                <a16:creationId xmlns:a16="http://schemas.microsoft.com/office/drawing/2014/main" id="{9BEAE88C-2145-EDF4-4EE5-55EA68A6BD7A}"/>
              </a:ext>
            </a:extLst>
          </p:cNvPr>
          <p:cNvGrpSpPr>
            <a:grpSpLocks noChangeAspect="1"/>
          </p:cNvGrpSpPr>
          <p:nvPr/>
        </p:nvGrpSpPr>
        <p:grpSpPr>
          <a:xfrm>
            <a:off x="7775196" y="3998959"/>
            <a:ext cx="3148034" cy="583529"/>
            <a:chOff x="3330938" y="5081341"/>
            <a:chExt cx="8012252" cy="1485174"/>
          </a:xfrm>
        </p:grpSpPr>
        <p:grpSp>
          <p:nvGrpSpPr>
            <p:cNvPr id="48" name="Group 47">
              <a:extLst>
                <a:ext uri="{FF2B5EF4-FFF2-40B4-BE49-F238E27FC236}">
                  <a16:creationId xmlns:a16="http://schemas.microsoft.com/office/drawing/2014/main" id="{9E849D3B-7D41-106E-BFC2-EEEC4DE7249E}"/>
                </a:ext>
              </a:extLst>
            </p:cNvPr>
            <p:cNvGrpSpPr/>
            <p:nvPr/>
          </p:nvGrpSpPr>
          <p:grpSpPr>
            <a:xfrm>
              <a:off x="3330938" y="5081341"/>
              <a:ext cx="4768126" cy="1485174"/>
              <a:chOff x="3330938" y="5081341"/>
              <a:chExt cx="4768126" cy="1485174"/>
            </a:xfrm>
          </p:grpSpPr>
          <p:pic>
            <p:nvPicPr>
              <p:cNvPr id="51" name="Picture 2" descr="Hippo Facts, History, Useful Information and Amazing Pictures">
                <a:extLst>
                  <a:ext uri="{FF2B5EF4-FFF2-40B4-BE49-F238E27FC236}">
                    <a16:creationId xmlns:a16="http://schemas.microsoft.com/office/drawing/2014/main" id="{9D419BEA-B66B-8BD0-91CA-8E00F7D1E9C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441" r="24800"/>
              <a:stretch/>
            </p:blipFill>
            <p:spPr bwMode="auto">
              <a:xfrm>
                <a:off x="3330938" y="5085680"/>
                <a:ext cx="1524000" cy="1476680"/>
              </a:xfrm>
              <a:prstGeom prst="rect">
                <a:avLst/>
              </a:prstGeom>
              <a:noFill/>
              <a:ln w="57150">
                <a:solidFill>
                  <a:srgbClr val="FFC000"/>
                </a:solidFill>
              </a:ln>
              <a:extLst>
                <a:ext uri="{909E8E84-426E-40DD-AFC4-6F175D3DCCD1}">
                  <a14:hiddenFill xmlns:a14="http://schemas.microsoft.com/office/drawing/2010/main">
                    <a:solidFill>
                      <a:srgbClr val="FFFFFF"/>
                    </a:solidFill>
                  </a14:hiddenFill>
                </a:ext>
              </a:extLst>
            </p:spPr>
          </p:pic>
          <p:pic>
            <p:nvPicPr>
              <p:cNvPr id="52" name="Picture 2" descr="Hippo Facts, History, Useful Information and Amazing Pictures">
                <a:extLst>
                  <a:ext uri="{FF2B5EF4-FFF2-40B4-BE49-F238E27FC236}">
                    <a16:creationId xmlns:a16="http://schemas.microsoft.com/office/drawing/2014/main" id="{F345730B-53FB-C316-E002-C8F8CFE10D9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441" r="24800"/>
              <a:stretch/>
            </p:blipFill>
            <p:spPr bwMode="auto">
              <a:xfrm>
                <a:off x="4921176" y="5081341"/>
                <a:ext cx="1524000" cy="1476680"/>
              </a:xfrm>
              <a:prstGeom prst="rect">
                <a:avLst/>
              </a:prstGeom>
              <a:noFill/>
              <a:ln w="57150">
                <a:solidFill>
                  <a:srgbClr val="FFC000"/>
                </a:solidFill>
              </a:ln>
              <a:extLst>
                <a:ext uri="{909E8E84-426E-40DD-AFC4-6F175D3DCCD1}">
                  <a14:hiddenFill xmlns:a14="http://schemas.microsoft.com/office/drawing/2010/main">
                    <a:solidFill>
                      <a:srgbClr val="FFFFFF"/>
                    </a:solidFill>
                  </a14:hiddenFill>
                </a:ext>
              </a:extLst>
            </p:spPr>
          </p:pic>
          <p:pic>
            <p:nvPicPr>
              <p:cNvPr id="53" name="Picture 2" descr="Hippo Facts, History, Useful Information and Amazing Pictures">
                <a:extLst>
                  <a:ext uri="{FF2B5EF4-FFF2-40B4-BE49-F238E27FC236}">
                    <a16:creationId xmlns:a16="http://schemas.microsoft.com/office/drawing/2014/main" id="{0BD23C14-2B78-DED3-578B-CA9427A3193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441" r="24800"/>
              <a:stretch/>
            </p:blipFill>
            <p:spPr bwMode="auto">
              <a:xfrm>
                <a:off x="6575064" y="5089835"/>
                <a:ext cx="1524000" cy="1476680"/>
              </a:xfrm>
              <a:prstGeom prst="rect">
                <a:avLst/>
              </a:prstGeom>
              <a:noFill/>
              <a:ln w="57150">
                <a:solidFill>
                  <a:srgbClr val="FFC000"/>
                </a:solidFill>
              </a:ln>
              <a:extLst>
                <a:ext uri="{909E8E84-426E-40DD-AFC4-6F175D3DCCD1}">
                  <a14:hiddenFill xmlns:a14="http://schemas.microsoft.com/office/drawing/2010/main">
                    <a:solidFill>
                      <a:srgbClr val="FFFFFF"/>
                    </a:solidFill>
                  </a14:hiddenFill>
                </a:ext>
              </a:extLst>
            </p:spPr>
          </p:pic>
        </p:grpSp>
        <p:pic>
          <p:nvPicPr>
            <p:cNvPr id="49" name="Picture 2" descr="Hippo Facts, History, Useful Information and Amazing Pictures">
              <a:extLst>
                <a:ext uri="{FF2B5EF4-FFF2-40B4-BE49-F238E27FC236}">
                  <a16:creationId xmlns:a16="http://schemas.microsoft.com/office/drawing/2014/main" id="{7E9DA809-829D-3454-A90C-082213698DE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441" r="24800"/>
            <a:stretch/>
          </p:blipFill>
          <p:spPr bwMode="auto">
            <a:xfrm>
              <a:off x="8177659" y="5089835"/>
              <a:ext cx="1524000" cy="1476680"/>
            </a:xfrm>
            <a:prstGeom prst="rect">
              <a:avLst/>
            </a:prstGeom>
            <a:noFill/>
            <a:ln w="57150">
              <a:solidFill>
                <a:srgbClr val="FFC000"/>
              </a:solidFill>
            </a:ln>
            <a:extLst>
              <a:ext uri="{909E8E84-426E-40DD-AFC4-6F175D3DCCD1}">
                <a14:hiddenFill xmlns:a14="http://schemas.microsoft.com/office/drawing/2010/main">
                  <a:solidFill>
                    <a:srgbClr val="FFFFFF"/>
                  </a:solidFill>
                </a14:hiddenFill>
              </a:ext>
            </a:extLst>
          </p:spPr>
        </p:pic>
        <p:pic>
          <p:nvPicPr>
            <p:cNvPr id="50" name="Picture 2" descr="Hippo Facts, History, Useful Information and Amazing Pictures">
              <a:extLst>
                <a:ext uri="{FF2B5EF4-FFF2-40B4-BE49-F238E27FC236}">
                  <a16:creationId xmlns:a16="http://schemas.microsoft.com/office/drawing/2014/main" id="{3E82EE68-77E1-895B-E21B-FFAC34CA11F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441" r="24800"/>
            <a:stretch/>
          </p:blipFill>
          <p:spPr bwMode="auto">
            <a:xfrm>
              <a:off x="9819190" y="5089835"/>
              <a:ext cx="1524000" cy="1476680"/>
            </a:xfrm>
            <a:prstGeom prst="rect">
              <a:avLst/>
            </a:prstGeom>
            <a:noFill/>
            <a:ln w="57150">
              <a:solidFill>
                <a:srgbClr val="FFC000"/>
              </a:solidFill>
            </a:ln>
            <a:extLst>
              <a:ext uri="{909E8E84-426E-40DD-AFC4-6F175D3DCCD1}">
                <a14:hiddenFill xmlns:a14="http://schemas.microsoft.com/office/drawing/2010/main">
                  <a:solidFill>
                    <a:srgbClr val="FFFFFF"/>
                  </a:solidFill>
                </a14:hiddenFill>
              </a:ext>
            </a:extLst>
          </p:spPr>
        </p:pic>
      </p:grpSp>
      <p:sp>
        <p:nvSpPr>
          <p:cNvPr id="54" name="TextBox 53">
            <a:extLst>
              <a:ext uri="{FF2B5EF4-FFF2-40B4-BE49-F238E27FC236}">
                <a16:creationId xmlns:a16="http://schemas.microsoft.com/office/drawing/2014/main" id="{CB8A4E15-B5D1-2109-09AA-294D801B71C2}"/>
              </a:ext>
            </a:extLst>
          </p:cNvPr>
          <p:cNvSpPr txBox="1"/>
          <p:nvPr/>
        </p:nvSpPr>
        <p:spPr>
          <a:xfrm>
            <a:off x="8194645" y="4632621"/>
            <a:ext cx="2940908" cy="461665"/>
          </a:xfrm>
          <a:prstGeom prst="rect">
            <a:avLst/>
          </a:prstGeom>
          <a:noFill/>
        </p:spPr>
        <p:txBody>
          <a:bodyPr wrap="square" rtlCol="0">
            <a:spAutoFit/>
          </a:bodyPr>
          <a:lstStyle/>
          <a:p>
            <a:r>
              <a:rPr lang="en-US" sz="2400" dirty="0" err="1"/>
              <a:t>Seatac</a:t>
            </a:r>
            <a:r>
              <a:rPr lang="en-US" sz="2400" dirty="0"/>
              <a:t> &lt;-&gt; </a:t>
            </a:r>
            <a:r>
              <a:rPr lang="en-US" sz="2400" dirty="0" err="1"/>
              <a:t>Bankok</a:t>
            </a:r>
            <a:endParaRPr lang="en-US" sz="2400" dirty="0"/>
          </a:p>
        </p:txBody>
      </p:sp>
    </p:spTree>
    <p:extLst>
      <p:ext uri="{BB962C8B-B14F-4D97-AF65-F5344CB8AC3E}">
        <p14:creationId xmlns:p14="http://schemas.microsoft.com/office/powerpoint/2010/main" val="41870828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349E1BE-9A23-5AAF-1960-36372C265F2D}"/>
              </a:ext>
            </a:extLst>
          </p:cNvPr>
          <p:cNvSpPr txBox="1"/>
          <p:nvPr/>
        </p:nvSpPr>
        <p:spPr>
          <a:xfrm>
            <a:off x="0" y="0"/>
            <a:ext cx="12191999" cy="461665"/>
          </a:xfrm>
          <a:prstGeom prst="rect">
            <a:avLst/>
          </a:prstGeom>
          <a:solidFill>
            <a:schemeClr val="accent2"/>
          </a:solidFill>
        </p:spPr>
        <p:txBody>
          <a:bodyPr wrap="square" rtlCol="0">
            <a:spAutoFit/>
          </a:bodyPr>
          <a:lstStyle/>
          <a:p>
            <a:r>
              <a:rPr lang="en-US" sz="2400" b="1" dirty="0"/>
              <a:t>Delta isn’t the only organization that stands to benefit from enticing people to fly</a:t>
            </a:r>
            <a:endParaRPr lang="en-US" sz="2400" b="1" i="1" dirty="0"/>
          </a:p>
        </p:txBody>
      </p:sp>
      <p:pic>
        <p:nvPicPr>
          <p:cNvPr id="4" name="Picture 3">
            <a:extLst>
              <a:ext uri="{FF2B5EF4-FFF2-40B4-BE49-F238E27FC236}">
                <a16:creationId xmlns:a16="http://schemas.microsoft.com/office/drawing/2014/main" id="{3BE185BC-8D6F-AD7E-1BB2-D8DC4FE139AF}"/>
              </a:ext>
            </a:extLst>
          </p:cNvPr>
          <p:cNvPicPr>
            <a:picLocks noChangeAspect="1"/>
          </p:cNvPicPr>
          <p:nvPr/>
        </p:nvPicPr>
        <p:blipFill>
          <a:blip r:embed="rId2"/>
          <a:stretch>
            <a:fillRect/>
          </a:stretch>
        </p:blipFill>
        <p:spPr>
          <a:xfrm>
            <a:off x="133865" y="535807"/>
            <a:ext cx="7772400" cy="6213791"/>
          </a:xfrm>
          <a:prstGeom prst="rect">
            <a:avLst/>
          </a:prstGeom>
          <a:ln>
            <a:solidFill>
              <a:schemeClr val="accent1"/>
            </a:solidFill>
          </a:ln>
        </p:spPr>
      </p:pic>
    </p:spTree>
    <p:extLst>
      <p:ext uri="{BB962C8B-B14F-4D97-AF65-F5344CB8AC3E}">
        <p14:creationId xmlns:p14="http://schemas.microsoft.com/office/powerpoint/2010/main" val="38279522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349E1BE-9A23-5AAF-1960-36372C265F2D}"/>
              </a:ext>
            </a:extLst>
          </p:cNvPr>
          <p:cNvSpPr txBox="1"/>
          <p:nvPr/>
        </p:nvSpPr>
        <p:spPr>
          <a:xfrm>
            <a:off x="0" y="0"/>
            <a:ext cx="12191999" cy="461665"/>
          </a:xfrm>
          <a:prstGeom prst="rect">
            <a:avLst/>
          </a:prstGeom>
          <a:solidFill>
            <a:schemeClr val="accent2"/>
          </a:solidFill>
        </p:spPr>
        <p:txBody>
          <a:bodyPr wrap="square" rtlCol="0">
            <a:spAutoFit/>
          </a:bodyPr>
          <a:lstStyle/>
          <a:p>
            <a:r>
              <a:rPr lang="en-US" sz="2400" b="1" dirty="0"/>
              <a:t>Delta isn’t the only organization that stands to benefit from enticing people to fly</a:t>
            </a:r>
            <a:endParaRPr lang="en-US" sz="2400" b="1" i="1" dirty="0"/>
          </a:p>
        </p:txBody>
      </p:sp>
      <p:pic>
        <p:nvPicPr>
          <p:cNvPr id="4" name="Picture 3">
            <a:extLst>
              <a:ext uri="{FF2B5EF4-FFF2-40B4-BE49-F238E27FC236}">
                <a16:creationId xmlns:a16="http://schemas.microsoft.com/office/drawing/2014/main" id="{3BE185BC-8D6F-AD7E-1BB2-D8DC4FE139AF}"/>
              </a:ext>
            </a:extLst>
          </p:cNvPr>
          <p:cNvPicPr>
            <a:picLocks noChangeAspect="1"/>
          </p:cNvPicPr>
          <p:nvPr/>
        </p:nvPicPr>
        <p:blipFill>
          <a:blip r:embed="rId2"/>
          <a:stretch>
            <a:fillRect/>
          </a:stretch>
        </p:blipFill>
        <p:spPr>
          <a:xfrm>
            <a:off x="133865" y="535807"/>
            <a:ext cx="7772400" cy="6213791"/>
          </a:xfrm>
          <a:prstGeom prst="rect">
            <a:avLst/>
          </a:prstGeom>
          <a:ln>
            <a:solidFill>
              <a:schemeClr val="accent1"/>
            </a:solidFill>
          </a:ln>
        </p:spPr>
      </p:pic>
      <p:pic>
        <p:nvPicPr>
          <p:cNvPr id="5" name="Picture 4">
            <a:extLst>
              <a:ext uri="{FF2B5EF4-FFF2-40B4-BE49-F238E27FC236}">
                <a16:creationId xmlns:a16="http://schemas.microsoft.com/office/drawing/2014/main" id="{553709D6-B571-214D-4313-62750665FEEF}"/>
              </a:ext>
            </a:extLst>
          </p:cNvPr>
          <p:cNvPicPr>
            <a:picLocks noChangeAspect="1"/>
          </p:cNvPicPr>
          <p:nvPr/>
        </p:nvPicPr>
        <p:blipFill>
          <a:blip r:embed="rId3"/>
          <a:stretch>
            <a:fillRect/>
          </a:stretch>
        </p:blipFill>
        <p:spPr>
          <a:xfrm>
            <a:off x="4229271" y="1289050"/>
            <a:ext cx="6921500" cy="4279900"/>
          </a:xfrm>
          <a:prstGeom prst="rect">
            <a:avLst/>
          </a:prstGeom>
          <a:ln>
            <a:solidFill>
              <a:schemeClr val="accent1"/>
            </a:solidFill>
          </a:ln>
        </p:spPr>
      </p:pic>
    </p:spTree>
    <p:extLst>
      <p:ext uri="{BB962C8B-B14F-4D97-AF65-F5344CB8AC3E}">
        <p14:creationId xmlns:p14="http://schemas.microsoft.com/office/powerpoint/2010/main" val="29779643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349E1BE-9A23-5AAF-1960-36372C265F2D}"/>
              </a:ext>
            </a:extLst>
          </p:cNvPr>
          <p:cNvSpPr txBox="1"/>
          <p:nvPr/>
        </p:nvSpPr>
        <p:spPr>
          <a:xfrm>
            <a:off x="0" y="0"/>
            <a:ext cx="12191999" cy="461665"/>
          </a:xfrm>
          <a:prstGeom prst="rect">
            <a:avLst/>
          </a:prstGeom>
          <a:solidFill>
            <a:schemeClr val="accent2"/>
          </a:solidFill>
        </p:spPr>
        <p:txBody>
          <a:bodyPr wrap="square" rtlCol="0">
            <a:spAutoFit/>
          </a:bodyPr>
          <a:lstStyle/>
          <a:p>
            <a:r>
              <a:rPr lang="en-US" sz="2400" b="1" dirty="0"/>
              <a:t>Delta isn’t the only organization that stands to benefit from enticing people to fly</a:t>
            </a:r>
            <a:endParaRPr lang="en-US" sz="2400" b="1" i="1" dirty="0"/>
          </a:p>
        </p:txBody>
      </p:sp>
      <p:pic>
        <p:nvPicPr>
          <p:cNvPr id="4" name="Picture 3">
            <a:extLst>
              <a:ext uri="{FF2B5EF4-FFF2-40B4-BE49-F238E27FC236}">
                <a16:creationId xmlns:a16="http://schemas.microsoft.com/office/drawing/2014/main" id="{3BE185BC-8D6F-AD7E-1BB2-D8DC4FE139AF}"/>
              </a:ext>
            </a:extLst>
          </p:cNvPr>
          <p:cNvPicPr>
            <a:picLocks noChangeAspect="1"/>
          </p:cNvPicPr>
          <p:nvPr/>
        </p:nvPicPr>
        <p:blipFill>
          <a:blip r:embed="rId2"/>
          <a:stretch>
            <a:fillRect/>
          </a:stretch>
        </p:blipFill>
        <p:spPr>
          <a:xfrm>
            <a:off x="133865" y="535807"/>
            <a:ext cx="7772400" cy="6213791"/>
          </a:xfrm>
          <a:prstGeom prst="rect">
            <a:avLst/>
          </a:prstGeom>
          <a:ln>
            <a:solidFill>
              <a:schemeClr val="accent1"/>
            </a:solidFill>
          </a:ln>
        </p:spPr>
      </p:pic>
      <p:pic>
        <p:nvPicPr>
          <p:cNvPr id="5" name="Picture 4">
            <a:extLst>
              <a:ext uri="{FF2B5EF4-FFF2-40B4-BE49-F238E27FC236}">
                <a16:creationId xmlns:a16="http://schemas.microsoft.com/office/drawing/2014/main" id="{553709D6-B571-214D-4313-62750665FEEF}"/>
              </a:ext>
            </a:extLst>
          </p:cNvPr>
          <p:cNvPicPr>
            <a:picLocks noChangeAspect="1"/>
          </p:cNvPicPr>
          <p:nvPr/>
        </p:nvPicPr>
        <p:blipFill>
          <a:blip r:embed="rId3"/>
          <a:stretch>
            <a:fillRect/>
          </a:stretch>
        </p:blipFill>
        <p:spPr>
          <a:xfrm>
            <a:off x="4229271" y="1289050"/>
            <a:ext cx="6921500" cy="4279900"/>
          </a:xfrm>
          <a:prstGeom prst="rect">
            <a:avLst/>
          </a:prstGeom>
          <a:ln>
            <a:solidFill>
              <a:schemeClr val="accent1"/>
            </a:solidFill>
          </a:ln>
        </p:spPr>
      </p:pic>
      <p:sp>
        <p:nvSpPr>
          <p:cNvPr id="3" name="TextBox 2">
            <a:extLst>
              <a:ext uri="{FF2B5EF4-FFF2-40B4-BE49-F238E27FC236}">
                <a16:creationId xmlns:a16="http://schemas.microsoft.com/office/drawing/2014/main" id="{699AD20A-B382-7D71-A0F8-B1032284CF19}"/>
              </a:ext>
            </a:extLst>
          </p:cNvPr>
          <p:cNvSpPr txBox="1"/>
          <p:nvPr/>
        </p:nvSpPr>
        <p:spPr>
          <a:xfrm>
            <a:off x="5616148" y="3429000"/>
            <a:ext cx="6141308" cy="1200329"/>
          </a:xfrm>
          <a:prstGeom prst="rect">
            <a:avLst/>
          </a:prstGeom>
          <a:solidFill>
            <a:schemeClr val="bg1"/>
          </a:solidFill>
          <a:ln w="63500">
            <a:solidFill>
              <a:schemeClr val="accent1"/>
            </a:solidFill>
          </a:ln>
        </p:spPr>
        <p:txBody>
          <a:bodyPr wrap="square">
            <a:spAutoFit/>
          </a:bodyPr>
          <a:lstStyle/>
          <a:p>
            <a:pPr marL="457200" indent="-457200">
              <a:buFont typeface="+mj-lt"/>
              <a:buAutoNum type="arabicPeriod"/>
            </a:pPr>
            <a:r>
              <a:rPr lang="en-US" sz="2400" dirty="0"/>
              <a:t>How does it function? (Or: What is its goal?)</a:t>
            </a:r>
          </a:p>
          <a:p>
            <a:pPr marL="457200" indent="-457200">
              <a:buFont typeface="+mj-lt"/>
              <a:buAutoNum type="arabicPeriod"/>
            </a:pPr>
            <a:r>
              <a:rPr lang="en-US" sz="2400" dirty="0"/>
              <a:t>Who does it benefit?</a:t>
            </a:r>
          </a:p>
          <a:p>
            <a:pPr marL="457200" indent="-457200">
              <a:buFont typeface="+mj-lt"/>
              <a:buAutoNum type="arabicPeriod"/>
            </a:pPr>
            <a:r>
              <a:rPr lang="en-US" sz="2400" dirty="0"/>
              <a:t>Where is the power?</a:t>
            </a:r>
          </a:p>
        </p:txBody>
      </p:sp>
    </p:spTree>
    <p:extLst>
      <p:ext uri="{BB962C8B-B14F-4D97-AF65-F5344CB8AC3E}">
        <p14:creationId xmlns:p14="http://schemas.microsoft.com/office/powerpoint/2010/main" val="1235332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8B4F33F-417C-372E-2B20-DD3B7185BD6D}"/>
              </a:ext>
            </a:extLst>
          </p:cNvPr>
          <p:cNvSpPr txBox="1"/>
          <p:nvPr/>
        </p:nvSpPr>
        <p:spPr>
          <a:xfrm>
            <a:off x="0" y="0"/>
            <a:ext cx="3665238" cy="1938992"/>
          </a:xfrm>
          <a:prstGeom prst="rect">
            <a:avLst/>
          </a:prstGeom>
          <a:solidFill>
            <a:schemeClr val="accent2"/>
          </a:solidFill>
        </p:spPr>
        <p:txBody>
          <a:bodyPr wrap="square" rtlCol="0">
            <a:spAutoFit/>
          </a:bodyPr>
          <a:lstStyle/>
          <a:p>
            <a:r>
              <a:rPr lang="en-US" sz="2400" b="1" dirty="0"/>
              <a:t>Next discussion assignment: IPCC Panel Discussion on mitigating climate change through demand side reductions</a:t>
            </a:r>
            <a:endParaRPr lang="en-US" sz="2400" b="1" i="1" dirty="0"/>
          </a:p>
        </p:txBody>
      </p:sp>
      <p:pic>
        <p:nvPicPr>
          <p:cNvPr id="3" name="Picture 2">
            <a:extLst>
              <a:ext uri="{FF2B5EF4-FFF2-40B4-BE49-F238E27FC236}">
                <a16:creationId xmlns:a16="http://schemas.microsoft.com/office/drawing/2014/main" id="{BEBA9986-3921-731C-CABD-845984EE264F}"/>
              </a:ext>
            </a:extLst>
          </p:cNvPr>
          <p:cNvPicPr>
            <a:picLocks noChangeAspect="1"/>
          </p:cNvPicPr>
          <p:nvPr/>
        </p:nvPicPr>
        <p:blipFill rotWithShape="1">
          <a:blip r:embed="rId2"/>
          <a:srcRect t="64112"/>
          <a:stretch/>
        </p:blipFill>
        <p:spPr>
          <a:xfrm>
            <a:off x="3665237" y="220420"/>
            <a:ext cx="8514736" cy="3208580"/>
          </a:xfrm>
          <a:prstGeom prst="rect">
            <a:avLst/>
          </a:prstGeom>
        </p:spPr>
      </p:pic>
      <p:grpSp>
        <p:nvGrpSpPr>
          <p:cNvPr id="17" name="Group 16">
            <a:extLst>
              <a:ext uri="{FF2B5EF4-FFF2-40B4-BE49-F238E27FC236}">
                <a16:creationId xmlns:a16="http://schemas.microsoft.com/office/drawing/2014/main" id="{DB90C589-7984-6395-F200-F951F3882455}"/>
              </a:ext>
            </a:extLst>
          </p:cNvPr>
          <p:cNvGrpSpPr/>
          <p:nvPr/>
        </p:nvGrpSpPr>
        <p:grpSpPr>
          <a:xfrm>
            <a:off x="6243336" y="3842541"/>
            <a:ext cx="3325599" cy="2972908"/>
            <a:chOff x="3506187" y="3691888"/>
            <a:chExt cx="3325599" cy="2972908"/>
          </a:xfrm>
        </p:grpSpPr>
        <p:pic>
          <p:nvPicPr>
            <p:cNvPr id="5" name="Picture 4">
              <a:extLst>
                <a:ext uri="{FF2B5EF4-FFF2-40B4-BE49-F238E27FC236}">
                  <a16:creationId xmlns:a16="http://schemas.microsoft.com/office/drawing/2014/main" id="{A6B4D0C9-3E41-48AA-0C0F-2FDE3618ECCF}"/>
                </a:ext>
              </a:extLst>
            </p:cNvPr>
            <p:cNvPicPr>
              <a:picLocks noChangeAspect="1"/>
            </p:cNvPicPr>
            <p:nvPr/>
          </p:nvPicPr>
          <p:blipFill rotWithShape="1">
            <a:blip r:embed="rId3"/>
            <a:srcRect l="4624" t="32920" r="38528" b="12331"/>
            <a:stretch/>
          </p:blipFill>
          <p:spPr>
            <a:xfrm>
              <a:off x="3506187" y="3691888"/>
              <a:ext cx="3325599" cy="2001749"/>
            </a:xfrm>
            <a:prstGeom prst="rect">
              <a:avLst/>
            </a:prstGeom>
          </p:spPr>
        </p:pic>
        <p:sp>
          <p:nvSpPr>
            <p:cNvPr id="11" name="TextBox 10">
              <a:extLst>
                <a:ext uri="{FF2B5EF4-FFF2-40B4-BE49-F238E27FC236}">
                  <a16:creationId xmlns:a16="http://schemas.microsoft.com/office/drawing/2014/main" id="{B2F8D5BD-2A75-D636-3FD5-B28971DEB631}"/>
                </a:ext>
              </a:extLst>
            </p:cNvPr>
            <p:cNvSpPr txBox="1"/>
            <p:nvPr/>
          </p:nvSpPr>
          <p:spPr>
            <a:xfrm>
              <a:off x="3745431" y="5833799"/>
              <a:ext cx="3086355" cy="830997"/>
            </a:xfrm>
            <a:prstGeom prst="rect">
              <a:avLst/>
            </a:prstGeom>
            <a:noFill/>
          </p:spPr>
          <p:txBody>
            <a:bodyPr wrap="square">
              <a:spAutoFit/>
            </a:bodyPr>
            <a:lstStyle/>
            <a:p>
              <a:r>
                <a:rPr lang="en-US" sz="2400" dirty="0"/>
                <a:t>Shreya Some, Asia Institute of Technology</a:t>
              </a:r>
            </a:p>
          </p:txBody>
        </p:sp>
      </p:grpSp>
      <p:grpSp>
        <p:nvGrpSpPr>
          <p:cNvPr id="18" name="Group 17">
            <a:extLst>
              <a:ext uri="{FF2B5EF4-FFF2-40B4-BE49-F238E27FC236}">
                <a16:creationId xmlns:a16="http://schemas.microsoft.com/office/drawing/2014/main" id="{130974B4-A936-3731-C652-18DA127998FB}"/>
              </a:ext>
            </a:extLst>
          </p:cNvPr>
          <p:cNvGrpSpPr/>
          <p:nvPr/>
        </p:nvGrpSpPr>
        <p:grpSpPr>
          <a:xfrm>
            <a:off x="3247693" y="3885092"/>
            <a:ext cx="2727297" cy="2986181"/>
            <a:chOff x="507957" y="3691888"/>
            <a:chExt cx="2727297" cy="2986181"/>
          </a:xfrm>
        </p:grpSpPr>
        <p:sp>
          <p:nvSpPr>
            <p:cNvPr id="8" name="TextBox 7">
              <a:extLst>
                <a:ext uri="{FF2B5EF4-FFF2-40B4-BE49-F238E27FC236}">
                  <a16:creationId xmlns:a16="http://schemas.microsoft.com/office/drawing/2014/main" id="{969BCEE8-F289-745C-569E-B7A95F903BC7}"/>
                </a:ext>
              </a:extLst>
            </p:cNvPr>
            <p:cNvSpPr txBox="1"/>
            <p:nvPr/>
          </p:nvSpPr>
          <p:spPr>
            <a:xfrm>
              <a:off x="507957" y="5847072"/>
              <a:ext cx="2727297" cy="830997"/>
            </a:xfrm>
            <a:prstGeom prst="rect">
              <a:avLst/>
            </a:prstGeom>
            <a:noFill/>
          </p:spPr>
          <p:txBody>
            <a:bodyPr wrap="square">
              <a:spAutoFit/>
            </a:bodyPr>
            <a:lstStyle/>
            <a:p>
              <a:r>
                <a:rPr lang="en-US" sz="2400" dirty="0"/>
                <a:t>David McCollum, Oak Ridge </a:t>
              </a:r>
              <a:r>
                <a:rPr lang="en-US" sz="2400" dirty="0" err="1"/>
                <a:t>Nat’l</a:t>
              </a:r>
              <a:r>
                <a:rPr lang="en-US" sz="2400" dirty="0"/>
                <a:t> Lab  </a:t>
              </a:r>
            </a:p>
          </p:txBody>
        </p:sp>
        <p:pic>
          <p:nvPicPr>
            <p:cNvPr id="12" name="Picture 11">
              <a:extLst>
                <a:ext uri="{FF2B5EF4-FFF2-40B4-BE49-F238E27FC236}">
                  <a16:creationId xmlns:a16="http://schemas.microsoft.com/office/drawing/2014/main" id="{666D2882-7737-65B2-46DC-5D082D85A881}"/>
                </a:ext>
              </a:extLst>
            </p:cNvPr>
            <p:cNvPicPr>
              <a:picLocks noChangeAspect="1"/>
            </p:cNvPicPr>
            <p:nvPr/>
          </p:nvPicPr>
          <p:blipFill>
            <a:blip r:embed="rId4"/>
            <a:stretch>
              <a:fillRect/>
            </a:stretch>
          </p:blipFill>
          <p:spPr>
            <a:xfrm>
              <a:off x="507957" y="3691888"/>
              <a:ext cx="2432076" cy="2001749"/>
            </a:xfrm>
            <a:prstGeom prst="rect">
              <a:avLst/>
            </a:prstGeom>
          </p:spPr>
        </p:pic>
      </p:grpSp>
      <p:grpSp>
        <p:nvGrpSpPr>
          <p:cNvPr id="16" name="Group 15">
            <a:extLst>
              <a:ext uri="{FF2B5EF4-FFF2-40B4-BE49-F238E27FC236}">
                <a16:creationId xmlns:a16="http://schemas.microsoft.com/office/drawing/2014/main" id="{D20EC98A-5F6B-A2F8-0A51-AF69936E4557}"/>
              </a:ext>
            </a:extLst>
          </p:cNvPr>
          <p:cNvGrpSpPr/>
          <p:nvPr/>
        </p:nvGrpSpPr>
        <p:grpSpPr>
          <a:xfrm>
            <a:off x="525016" y="3907545"/>
            <a:ext cx="2727296" cy="2907904"/>
            <a:chOff x="7235794" y="3616730"/>
            <a:chExt cx="2727296" cy="2907904"/>
          </a:xfrm>
        </p:grpSpPr>
        <p:pic>
          <p:nvPicPr>
            <p:cNvPr id="13" name="Picture 12">
              <a:extLst>
                <a:ext uri="{FF2B5EF4-FFF2-40B4-BE49-F238E27FC236}">
                  <a16:creationId xmlns:a16="http://schemas.microsoft.com/office/drawing/2014/main" id="{940F25E6-4969-98C1-FD17-E2E2D20CF37D}"/>
                </a:ext>
              </a:extLst>
            </p:cNvPr>
            <p:cNvPicPr>
              <a:picLocks noChangeAspect="1"/>
            </p:cNvPicPr>
            <p:nvPr/>
          </p:nvPicPr>
          <p:blipFill>
            <a:blip r:embed="rId5"/>
            <a:stretch>
              <a:fillRect/>
            </a:stretch>
          </p:blipFill>
          <p:spPr>
            <a:xfrm>
              <a:off x="7316035" y="3616730"/>
              <a:ext cx="1910773" cy="2007632"/>
            </a:xfrm>
            <a:prstGeom prst="rect">
              <a:avLst/>
            </a:prstGeom>
          </p:spPr>
        </p:pic>
        <p:sp>
          <p:nvSpPr>
            <p:cNvPr id="15" name="TextBox 14">
              <a:extLst>
                <a:ext uri="{FF2B5EF4-FFF2-40B4-BE49-F238E27FC236}">
                  <a16:creationId xmlns:a16="http://schemas.microsoft.com/office/drawing/2014/main" id="{2E9676F5-F577-88A7-12EC-EF77C3AC641E}"/>
                </a:ext>
              </a:extLst>
            </p:cNvPr>
            <p:cNvSpPr txBox="1"/>
            <p:nvPr/>
          </p:nvSpPr>
          <p:spPr>
            <a:xfrm>
              <a:off x="7235794" y="5693637"/>
              <a:ext cx="2727296" cy="830997"/>
            </a:xfrm>
            <a:prstGeom prst="rect">
              <a:avLst/>
            </a:prstGeom>
            <a:noFill/>
          </p:spPr>
          <p:txBody>
            <a:bodyPr wrap="square">
              <a:spAutoFit/>
            </a:bodyPr>
            <a:lstStyle/>
            <a:p>
              <a:r>
                <a:rPr lang="en-US" sz="2400" dirty="0" err="1"/>
                <a:t>Joyashree</a:t>
              </a:r>
              <a:r>
                <a:rPr lang="en-US" sz="2400" dirty="0"/>
                <a:t> Roy, Jadavpur University</a:t>
              </a:r>
            </a:p>
          </p:txBody>
        </p:sp>
      </p:grpSp>
      <p:sp>
        <p:nvSpPr>
          <p:cNvPr id="19" name="TextBox 18">
            <a:extLst>
              <a:ext uri="{FF2B5EF4-FFF2-40B4-BE49-F238E27FC236}">
                <a16:creationId xmlns:a16="http://schemas.microsoft.com/office/drawing/2014/main" id="{D837616B-7176-B43A-877D-3236EAF48C9D}"/>
              </a:ext>
            </a:extLst>
          </p:cNvPr>
          <p:cNvSpPr txBox="1"/>
          <p:nvPr/>
        </p:nvSpPr>
        <p:spPr>
          <a:xfrm>
            <a:off x="10135480" y="5984451"/>
            <a:ext cx="1908464" cy="830997"/>
          </a:xfrm>
          <a:prstGeom prst="rect">
            <a:avLst/>
          </a:prstGeom>
          <a:noFill/>
        </p:spPr>
        <p:txBody>
          <a:bodyPr wrap="square">
            <a:spAutoFit/>
          </a:bodyPr>
          <a:lstStyle/>
          <a:p>
            <a:r>
              <a:rPr lang="en-US" sz="2400" dirty="0"/>
              <a:t>Nick Eyre, Oxford</a:t>
            </a:r>
          </a:p>
        </p:txBody>
      </p:sp>
      <p:pic>
        <p:nvPicPr>
          <p:cNvPr id="20" name="Picture 19">
            <a:extLst>
              <a:ext uri="{FF2B5EF4-FFF2-40B4-BE49-F238E27FC236}">
                <a16:creationId xmlns:a16="http://schemas.microsoft.com/office/drawing/2014/main" id="{5E9AF480-4DEF-1F41-B671-B31FC4FDC539}"/>
              </a:ext>
            </a:extLst>
          </p:cNvPr>
          <p:cNvPicPr>
            <a:picLocks noChangeAspect="1"/>
          </p:cNvPicPr>
          <p:nvPr/>
        </p:nvPicPr>
        <p:blipFill>
          <a:blip r:embed="rId6"/>
          <a:stretch>
            <a:fillRect/>
          </a:stretch>
        </p:blipFill>
        <p:spPr>
          <a:xfrm>
            <a:off x="9828756" y="3834181"/>
            <a:ext cx="2215188" cy="2103570"/>
          </a:xfrm>
          <a:prstGeom prst="rect">
            <a:avLst/>
          </a:prstGeom>
        </p:spPr>
      </p:pic>
    </p:spTree>
    <p:extLst>
      <p:ext uri="{BB962C8B-B14F-4D97-AF65-F5344CB8AC3E}">
        <p14:creationId xmlns:p14="http://schemas.microsoft.com/office/powerpoint/2010/main" val="7678518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1227</TotalTime>
  <Words>866</Words>
  <Application>Microsoft Macintosh PowerPoint</Application>
  <PresentationFormat>Widescreen</PresentationFormat>
  <Paragraphs>51</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Steven</dc:creator>
  <cp:lastModifiedBy>Steven</cp:lastModifiedBy>
  <cp:revision>71</cp:revision>
  <dcterms:created xsi:type="dcterms:W3CDTF">2024-09-15T17:38:41Z</dcterms:created>
  <dcterms:modified xsi:type="dcterms:W3CDTF">2025-09-24T06:40:49Z</dcterms:modified>
</cp:coreProperties>
</file>