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326" r:id="rId3"/>
    <p:sldId id="328" r:id="rId4"/>
    <p:sldId id="329" r:id="rId5"/>
    <p:sldId id="330" r:id="rId6"/>
    <p:sldId id="333" r:id="rId7"/>
    <p:sldId id="334" r:id="rId8"/>
    <p:sldId id="332" r:id="rId9"/>
    <p:sldId id="340" r:id="rId10"/>
    <p:sldId id="337" r:id="rId11"/>
    <p:sldId id="338" r:id="rId12"/>
    <p:sldId id="34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97"/>
    <p:restoredTop sz="95958"/>
  </p:normalViewPr>
  <p:slideViewPr>
    <p:cSldViewPr snapToGrid="0" snapToObjects="1">
      <p:cViewPr varScale="1">
        <p:scale>
          <a:sx n="110" d="100"/>
          <a:sy n="110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B4810-7ECC-7C46-A9E4-48DE28A97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B06D2-148B-5C40-B022-BD946470A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906E8-9BAE-464E-8C8B-9B64B027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0AF72-759B-9B43-A1C0-D5126FBC3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5346C-1B94-ED49-B622-266A780B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31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DAF7-3DF5-0B4B-8A60-B7B945480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7C989-0A54-3242-954F-40D7A4E92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C855D-D5C8-5B44-9549-B4F77B50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B20E8-CBD3-7D4E-84F8-0DE0A13E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6D42C-4C4B-3F4F-86BC-E1569969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4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28D1-450B-1E4A-B605-7930DF8F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36520-1092-6F41-AC8F-2B4BE0A78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641AA-8978-1542-9CF7-E0A02404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24231-1A33-974E-874D-E021ACDD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09D16-DD74-0349-9A41-3C524700D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9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7986F-3E5D-074B-97A4-23AAEFF2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5F45-D89C-6847-ABEA-B087760D9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7BC31-29F5-8142-AED5-AE9C2EBD9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341A7-5723-A64E-A2EC-7D24C461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C32A2-3382-D74E-A26D-DE455553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38979-A246-EC46-AB70-9C9A3955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7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F433-B5AF-ED42-8303-6492B37EC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21ED3-B33E-BC48-8FD3-E073DCC09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99022-C681-5F4F-8AD7-5B79FA126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3D474-1EF6-8549-AE55-E25AEC730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298160-9464-4649-BC4E-2C064C7A0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BC3389-C5D4-F343-A831-05A02879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548257-DDED-E647-9B69-D0BD2496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F1B09-BB12-224E-A503-BB545F1F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1ADA-DABA-5F49-A939-1F01BD47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0BF04-9D32-3B44-B755-DB03FE712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EDAB9-42E6-2142-9262-7DDA3576E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9D368-9BC9-6C49-ABEE-6C1F30A6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8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C24F7-108D-7D4F-88D0-62C0E253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0764F-CDFF-A044-A670-067CA3240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05E39-F60C-004B-98F9-186A12EF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74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03CB-F0FC-5146-A6E9-17641F9E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BEE24-29D5-794E-9E8E-DEEEF8676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91B75-35EB-3D40-8CB0-FB78F7358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39338-5537-C945-99BB-563215778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B16F8-1384-EE40-9573-A8988E09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5DDF0-2BE9-C546-B1D8-486E3941E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61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B5FF-1671-3C4C-934A-153AC8D3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D0394-B908-C34C-BBD9-63EE96A22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D0B0D-02D8-E147-BA64-4BABF094B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916C5-7443-8942-AF91-24EAE46E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F0879-AA76-0C40-B543-A123FD23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FF3C9-42C8-EC49-BFB4-5056EBD0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6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1519-353D-B64D-9946-E7CB3ECB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69BAF-6AB5-FB45-882E-6ACEC16E4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8F378-78C5-3D42-B2F4-C6C277511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E1D07-45DA-7046-9268-6111B7CEE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2E6FD-17EE-514E-B95F-7E44418A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04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B53E9-EEA5-1D42-ACE6-10090FCBC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1B6C9-C752-CA41-B131-B29EC9800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45D6A-5B6D-FF4B-8796-F26E879B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D3086-7740-254A-AE14-B40B9C5D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ED962-309F-CD43-9D35-7C9F8D8C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5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E5595-851F-3944-B19E-6BBFD42A0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39FB1-DD03-C148-AC21-E253BB147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B18A1-058E-DB40-96AF-557E361AA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283BA-BDBD-3741-AC51-C0F7FE6E6BB8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5BF48-82D2-FE4B-898D-903F16809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DDDB-1A46-9B4B-809D-E48E53168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3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ography--Atmosphere: Lecture one">
            <a:extLst>
              <a:ext uri="{FF2B5EF4-FFF2-40B4-BE49-F238E27FC236}">
                <a16:creationId xmlns:a16="http://schemas.microsoft.com/office/drawing/2014/main" id="{B43E8D2E-BFAB-944C-857A-1C5F6D48F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908" y="826185"/>
            <a:ext cx="8102600" cy="455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99EF5F-A4B8-484E-93B2-2A01035B0934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Cyclonic &amp; anticyclonic wind directions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6242D8-AD23-3947-B0A2-C8E02E9D3415}"/>
              </a:ext>
            </a:extLst>
          </p:cNvPr>
          <p:cNvSpPr/>
          <p:nvPr/>
        </p:nvSpPr>
        <p:spPr>
          <a:xfrm>
            <a:off x="3048000" y="575000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revision.co.zw</a:t>
            </a:r>
            <a:r>
              <a:rPr lang="en-US" dirty="0"/>
              <a:t>/cyclones/</a:t>
            </a:r>
          </a:p>
        </p:txBody>
      </p:sp>
    </p:spTree>
    <p:extLst>
      <p:ext uri="{BB962C8B-B14F-4D97-AF65-F5344CB8AC3E}">
        <p14:creationId xmlns:p14="http://schemas.microsoft.com/office/powerpoint/2010/main" val="41804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5044F2-D3D0-E043-EF0A-68F284357838}"/>
              </a:ext>
            </a:extLst>
          </p:cNvPr>
          <p:cNvSpPr txBox="1"/>
          <p:nvPr/>
        </p:nvSpPr>
        <p:spPr>
          <a:xfrm>
            <a:off x="0" y="0"/>
            <a:ext cx="685137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Cyclonic &amp; anticyclonic wind directions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F65E05-B319-42A9-5F42-23A0490E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1" y="1846432"/>
            <a:ext cx="6292195" cy="3731736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F30FEAD-CE33-FEA1-7EC5-AD933D2005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40"/>
          <a:stretch/>
        </p:blipFill>
        <p:spPr bwMode="auto">
          <a:xfrm>
            <a:off x="7766948" y="145690"/>
            <a:ext cx="2015593" cy="318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41A046F-1FDC-81BE-D240-D6453C44EB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766948" y="3371822"/>
            <a:ext cx="2158930" cy="323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c 2">
            <a:extLst>
              <a:ext uri="{FF2B5EF4-FFF2-40B4-BE49-F238E27FC236}">
                <a16:creationId xmlns:a16="http://schemas.microsoft.com/office/drawing/2014/main" id="{2FF103DB-872A-E485-9BFB-75433749B94B}"/>
              </a:ext>
            </a:extLst>
          </p:cNvPr>
          <p:cNvSpPr/>
          <p:nvPr/>
        </p:nvSpPr>
        <p:spPr>
          <a:xfrm>
            <a:off x="1895060" y="2826026"/>
            <a:ext cx="1563756" cy="1282148"/>
          </a:xfrm>
          <a:prstGeom prst="arc">
            <a:avLst>
              <a:gd name="adj1" fmla="val 16200000"/>
              <a:gd name="adj2" fmla="val 11955800"/>
            </a:avLst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97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5044F2-D3D0-E043-EF0A-68F284357838}"/>
              </a:ext>
            </a:extLst>
          </p:cNvPr>
          <p:cNvSpPr txBox="1"/>
          <p:nvPr/>
        </p:nvSpPr>
        <p:spPr>
          <a:xfrm>
            <a:off x="0" y="0"/>
            <a:ext cx="685137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Cyclonic &amp; anticyclonic wind directions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F65E05-B319-42A9-5F42-23A0490E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1" y="1846432"/>
            <a:ext cx="6292195" cy="3731736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F30FEAD-CE33-FEA1-7EC5-AD933D2005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40"/>
          <a:stretch/>
        </p:blipFill>
        <p:spPr bwMode="auto">
          <a:xfrm>
            <a:off x="7766948" y="145690"/>
            <a:ext cx="2015593" cy="318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41A046F-1FDC-81BE-D240-D6453C44EB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766948" y="3371822"/>
            <a:ext cx="2158930" cy="323839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c 1">
            <a:extLst>
              <a:ext uri="{FF2B5EF4-FFF2-40B4-BE49-F238E27FC236}">
                <a16:creationId xmlns:a16="http://schemas.microsoft.com/office/drawing/2014/main" id="{55C5EACC-E1FA-306A-C312-ECC53BD3EDCF}"/>
              </a:ext>
            </a:extLst>
          </p:cNvPr>
          <p:cNvSpPr/>
          <p:nvPr/>
        </p:nvSpPr>
        <p:spPr>
          <a:xfrm>
            <a:off x="1895060" y="2826026"/>
            <a:ext cx="1563756" cy="1282148"/>
          </a:xfrm>
          <a:prstGeom prst="arc">
            <a:avLst>
              <a:gd name="adj1" fmla="val 16200000"/>
              <a:gd name="adj2" fmla="val 11955800"/>
            </a:avLst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92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BE0322-1F4A-3DA1-9809-ADF1037F6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39" y="1645134"/>
            <a:ext cx="7319255" cy="38857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5044F2-D3D0-E043-EF0A-68F284357838}"/>
              </a:ext>
            </a:extLst>
          </p:cNvPr>
          <p:cNvSpPr txBox="1"/>
          <p:nvPr/>
        </p:nvSpPr>
        <p:spPr>
          <a:xfrm>
            <a:off x="0" y="0"/>
            <a:ext cx="685137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Cyclonic &amp; anticyclonic wind directions 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F30FEAD-CE33-FEA1-7EC5-AD933D2005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40"/>
          <a:stretch/>
        </p:blipFill>
        <p:spPr bwMode="auto">
          <a:xfrm>
            <a:off x="7766948" y="145690"/>
            <a:ext cx="2015593" cy="318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41A046F-1FDC-81BE-D240-D6453C44EB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766948" y="3371822"/>
            <a:ext cx="2158930" cy="323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c 2">
            <a:extLst>
              <a:ext uri="{FF2B5EF4-FFF2-40B4-BE49-F238E27FC236}">
                <a16:creationId xmlns:a16="http://schemas.microsoft.com/office/drawing/2014/main" id="{2FF103DB-872A-E485-9BFB-75433749B94B}"/>
              </a:ext>
            </a:extLst>
          </p:cNvPr>
          <p:cNvSpPr/>
          <p:nvPr/>
        </p:nvSpPr>
        <p:spPr>
          <a:xfrm flipH="1">
            <a:off x="3074503" y="2865782"/>
            <a:ext cx="1736036" cy="1374913"/>
          </a:xfrm>
          <a:prstGeom prst="arc">
            <a:avLst>
              <a:gd name="adj1" fmla="val 16200000"/>
              <a:gd name="adj2" fmla="val 11955800"/>
            </a:avLst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9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BE0322-1F4A-3DA1-9809-ADF1037F6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39" y="1645134"/>
            <a:ext cx="7319255" cy="38857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5044F2-D3D0-E043-EF0A-68F284357838}"/>
              </a:ext>
            </a:extLst>
          </p:cNvPr>
          <p:cNvSpPr txBox="1"/>
          <p:nvPr/>
        </p:nvSpPr>
        <p:spPr>
          <a:xfrm>
            <a:off x="0" y="0"/>
            <a:ext cx="685137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Cyclonic &amp; anticyclonic wind directions 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F30FEAD-CE33-FEA1-7EC5-AD933D2005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40"/>
          <a:stretch/>
        </p:blipFill>
        <p:spPr bwMode="auto">
          <a:xfrm>
            <a:off x="7766948" y="145690"/>
            <a:ext cx="2015593" cy="318517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41A046F-1FDC-81BE-D240-D6453C44EB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766948" y="3371822"/>
            <a:ext cx="2158930" cy="323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c 2">
            <a:extLst>
              <a:ext uri="{FF2B5EF4-FFF2-40B4-BE49-F238E27FC236}">
                <a16:creationId xmlns:a16="http://schemas.microsoft.com/office/drawing/2014/main" id="{2FF103DB-872A-E485-9BFB-75433749B94B}"/>
              </a:ext>
            </a:extLst>
          </p:cNvPr>
          <p:cNvSpPr/>
          <p:nvPr/>
        </p:nvSpPr>
        <p:spPr>
          <a:xfrm flipH="1">
            <a:off x="3074503" y="2865782"/>
            <a:ext cx="1736036" cy="1374913"/>
          </a:xfrm>
          <a:prstGeom prst="arc">
            <a:avLst>
              <a:gd name="adj1" fmla="val 16200000"/>
              <a:gd name="adj2" fmla="val 11955800"/>
            </a:avLst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4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5044F2-D3D0-E043-EF0A-68F28435783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Jet stream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46855-43A1-4369-9BA6-6160B464DE9B}"/>
              </a:ext>
            </a:extLst>
          </p:cNvPr>
          <p:cNvSpPr txBox="1"/>
          <p:nvPr/>
        </p:nvSpPr>
        <p:spPr>
          <a:xfrm>
            <a:off x="8852451" y="2461976"/>
            <a:ext cx="2352016" cy="83099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High altitude? Surface?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1314FD-CB6C-4408-D6BF-5CD43590F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063" y="1479931"/>
            <a:ext cx="3637476" cy="33954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A5F934-6512-5920-A1AB-1A64C6F08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63" y="1485845"/>
            <a:ext cx="3312818" cy="338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01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5044F2-D3D0-E043-EF0A-68F28435783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Jet stream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46855-43A1-4369-9BA6-6160B464DE9B}"/>
              </a:ext>
            </a:extLst>
          </p:cNvPr>
          <p:cNvSpPr txBox="1"/>
          <p:nvPr/>
        </p:nvSpPr>
        <p:spPr>
          <a:xfrm>
            <a:off x="4770781" y="4962570"/>
            <a:ext cx="2352016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altitude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1314FD-CB6C-4408-D6BF-5CD43590F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063" y="1479931"/>
            <a:ext cx="3637476" cy="33954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A5F934-6512-5920-A1AB-1A64C6F08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63" y="1485845"/>
            <a:ext cx="3312818" cy="33895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2A1AF7-6B5D-CA39-7D5D-CA91D10DBA2F}"/>
              </a:ext>
            </a:extLst>
          </p:cNvPr>
          <p:cNvSpPr txBox="1"/>
          <p:nvPr/>
        </p:nvSpPr>
        <p:spPr>
          <a:xfrm>
            <a:off x="1212572" y="4982079"/>
            <a:ext cx="2352016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Surface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C3A0C2-C42E-A71D-7440-60B3CD87B3ED}"/>
              </a:ext>
            </a:extLst>
          </p:cNvPr>
          <p:cNvSpPr txBox="1"/>
          <p:nvPr/>
        </p:nvSpPr>
        <p:spPr>
          <a:xfrm>
            <a:off x="8852451" y="2461976"/>
            <a:ext cx="2352016" cy="83099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High altitude? Surface?</a:t>
            </a:r>
          </a:p>
        </p:txBody>
      </p:sp>
    </p:spTree>
    <p:extLst>
      <p:ext uri="{BB962C8B-B14F-4D97-AF65-F5344CB8AC3E}">
        <p14:creationId xmlns:p14="http://schemas.microsoft.com/office/powerpoint/2010/main" val="455960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5044F2-D3D0-E043-EF0A-68F28435783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CO</a:t>
            </a:r>
            <a:r>
              <a:rPr lang="en-US" sz="2400" b="1" baseline="-25000" dirty="0"/>
              <a:t>2</a:t>
            </a:r>
            <a:r>
              <a:rPr lang="en-US" sz="2400" b="1" dirty="0"/>
              <a:t> and the calendar function</a:t>
            </a:r>
            <a:endParaRPr lang="en-US" sz="2400" b="1" baseline="-25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D3068C-980B-41E6-FEA5-B404B646BC7C}"/>
              </a:ext>
            </a:extLst>
          </p:cNvPr>
          <p:cNvGrpSpPr/>
          <p:nvPr/>
        </p:nvGrpSpPr>
        <p:grpSpPr>
          <a:xfrm>
            <a:off x="9884276" y="2361068"/>
            <a:ext cx="1629853" cy="1145994"/>
            <a:chOff x="9201368" y="1736035"/>
            <a:chExt cx="1616766" cy="11459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746855-43A1-4369-9BA6-6160B464DE9B}"/>
                </a:ext>
              </a:extLst>
            </p:cNvPr>
            <p:cNvSpPr txBox="1"/>
            <p:nvPr/>
          </p:nvSpPr>
          <p:spPr>
            <a:xfrm>
              <a:off x="9201368" y="1736035"/>
              <a:ext cx="1616766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</a:t>
              </a:r>
              <a:r>
                <a:rPr lang="en-US" sz="2400" baseline="-25000" dirty="0"/>
                <a:t>2</a:t>
              </a:r>
              <a:r>
                <a:rPr lang="en-US" sz="2400" dirty="0"/>
                <a:t> Source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1C0568-1E54-59CF-0D3A-688514DBE411}"/>
                </a:ext>
              </a:extLst>
            </p:cNvPr>
            <p:cNvSpPr txBox="1"/>
            <p:nvPr/>
          </p:nvSpPr>
          <p:spPr>
            <a:xfrm>
              <a:off x="9201368" y="2420364"/>
              <a:ext cx="13438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</a:t>
              </a:r>
              <a:r>
                <a:rPr lang="en-US" sz="2400" baseline="-25000" dirty="0"/>
                <a:t>2</a:t>
              </a:r>
              <a:r>
                <a:rPr lang="en-US" sz="2400" dirty="0"/>
                <a:t> Sink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F94798E-CB8A-3B2E-06D4-A76CE609D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6" y="731520"/>
            <a:ext cx="8643607" cy="5999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941D25-EF0F-019F-5C06-3D55313625B1}"/>
              </a:ext>
            </a:extLst>
          </p:cNvPr>
          <p:cNvSpPr txBox="1"/>
          <p:nvPr/>
        </p:nvSpPr>
        <p:spPr>
          <a:xfrm>
            <a:off x="5491730" y="857368"/>
            <a:ext cx="1828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August 2025</a:t>
            </a:r>
          </a:p>
        </p:txBody>
      </p:sp>
    </p:spTree>
    <p:extLst>
      <p:ext uri="{BB962C8B-B14F-4D97-AF65-F5344CB8AC3E}">
        <p14:creationId xmlns:p14="http://schemas.microsoft.com/office/powerpoint/2010/main" val="338435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5044F2-D3D0-E043-EF0A-68F28435783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CO</a:t>
            </a:r>
            <a:r>
              <a:rPr lang="en-US" sz="2400" b="1" baseline="-25000" dirty="0"/>
              <a:t>2</a:t>
            </a:r>
            <a:r>
              <a:rPr lang="en-US" sz="2400" b="1" dirty="0"/>
              <a:t> and the calendar function</a:t>
            </a:r>
            <a:endParaRPr lang="en-US" sz="2400" b="1" baseline="-25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D3068C-980B-41E6-FEA5-B404B646BC7C}"/>
              </a:ext>
            </a:extLst>
          </p:cNvPr>
          <p:cNvGrpSpPr/>
          <p:nvPr/>
        </p:nvGrpSpPr>
        <p:grpSpPr>
          <a:xfrm>
            <a:off x="9884276" y="2361068"/>
            <a:ext cx="1629853" cy="1145994"/>
            <a:chOff x="9201368" y="1736035"/>
            <a:chExt cx="1616766" cy="11459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746855-43A1-4369-9BA6-6160B464DE9B}"/>
                </a:ext>
              </a:extLst>
            </p:cNvPr>
            <p:cNvSpPr txBox="1"/>
            <p:nvPr/>
          </p:nvSpPr>
          <p:spPr>
            <a:xfrm>
              <a:off x="9201368" y="1736035"/>
              <a:ext cx="1616766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</a:t>
              </a:r>
              <a:r>
                <a:rPr lang="en-US" sz="2400" baseline="-25000" dirty="0"/>
                <a:t>2</a:t>
              </a:r>
              <a:r>
                <a:rPr lang="en-US" sz="2400" dirty="0"/>
                <a:t> Source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1C0568-1E54-59CF-0D3A-688514DBE411}"/>
                </a:ext>
              </a:extLst>
            </p:cNvPr>
            <p:cNvSpPr txBox="1"/>
            <p:nvPr/>
          </p:nvSpPr>
          <p:spPr>
            <a:xfrm>
              <a:off x="9201368" y="2420364"/>
              <a:ext cx="13438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CO</a:t>
              </a:r>
              <a:r>
                <a:rPr lang="en-US" sz="2400" baseline="-25000" dirty="0">
                  <a:solidFill>
                    <a:srgbClr val="00B050"/>
                  </a:solidFill>
                </a:rPr>
                <a:t>2</a:t>
              </a:r>
              <a:r>
                <a:rPr lang="en-US" sz="2400" dirty="0">
                  <a:solidFill>
                    <a:srgbClr val="00B050"/>
                  </a:solidFill>
                </a:rPr>
                <a:t> Sink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F94798E-CB8A-3B2E-06D4-A76CE609D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6" y="731520"/>
            <a:ext cx="8643607" cy="5999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941D25-EF0F-019F-5C06-3D55313625B1}"/>
              </a:ext>
            </a:extLst>
          </p:cNvPr>
          <p:cNvSpPr txBox="1"/>
          <p:nvPr/>
        </p:nvSpPr>
        <p:spPr>
          <a:xfrm>
            <a:off x="5491730" y="857368"/>
            <a:ext cx="1828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August 2025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CF06B0-C138-6D43-71C6-12ABBFE6655E}"/>
                  </a:ext>
                </a:extLst>
              </p:cNvPr>
              <p:cNvSpPr txBox="1"/>
              <p:nvPr/>
            </p:nvSpPr>
            <p:spPr>
              <a:xfrm>
                <a:off x="9837976" y="3544824"/>
                <a:ext cx="221609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404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𝑝𝑝𝑚</m:t>
                    </m:r>
                  </m:oMath>
                </a14:m>
                <a:r>
                  <a:rPr lang="en-US" sz="2400" dirty="0"/>
                  <a:t> is less than the current global average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7.5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𝑝𝑝𝑚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CF06B0-C138-6D43-71C6-12ABBFE66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976" y="3544824"/>
                <a:ext cx="2216092" cy="1569660"/>
              </a:xfrm>
              <a:prstGeom prst="rect">
                <a:avLst/>
              </a:prstGeom>
              <a:blipFill>
                <a:blip r:embed="rId3"/>
                <a:stretch>
                  <a:fillRect l="-4000" t="-2419" r="-7429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3120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5044F2-D3D0-E043-EF0A-68F28435783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CO</a:t>
            </a:r>
            <a:r>
              <a:rPr lang="en-US" sz="2400" b="1" baseline="-25000" dirty="0"/>
              <a:t>2</a:t>
            </a:r>
            <a:r>
              <a:rPr lang="en-US" sz="2400" b="1" dirty="0"/>
              <a:t> and the calendar function</a:t>
            </a:r>
            <a:endParaRPr lang="en-US" sz="2400" b="1" baseline="-25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D3068C-980B-41E6-FEA5-B404B646BC7C}"/>
              </a:ext>
            </a:extLst>
          </p:cNvPr>
          <p:cNvGrpSpPr/>
          <p:nvPr/>
        </p:nvGrpSpPr>
        <p:grpSpPr>
          <a:xfrm>
            <a:off x="9884276" y="2361068"/>
            <a:ext cx="1629853" cy="1145994"/>
            <a:chOff x="9201368" y="1736035"/>
            <a:chExt cx="1616766" cy="11459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746855-43A1-4369-9BA6-6160B464DE9B}"/>
                </a:ext>
              </a:extLst>
            </p:cNvPr>
            <p:cNvSpPr txBox="1"/>
            <p:nvPr/>
          </p:nvSpPr>
          <p:spPr>
            <a:xfrm>
              <a:off x="9201368" y="1736035"/>
              <a:ext cx="1616766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</a:t>
              </a:r>
              <a:r>
                <a:rPr lang="en-US" sz="2400" baseline="-25000" dirty="0"/>
                <a:t>2</a:t>
              </a:r>
              <a:r>
                <a:rPr lang="en-US" sz="2400" dirty="0"/>
                <a:t> Source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1C0568-1E54-59CF-0D3A-688514DBE411}"/>
                </a:ext>
              </a:extLst>
            </p:cNvPr>
            <p:cNvSpPr txBox="1"/>
            <p:nvPr/>
          </p:nvSpPr>
          <p:spPr>
            <a:xfrm>
              <a:off x="9201368" y="2420364"/>
              <a:ext cx="13438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</a:t>
              </a:r>
              <a:r>
                <a:rPr lang="en-US" sz="2400" baseline="-25000" dirty="0"/>
                <a:t>2</a:t>
              </a:r>
              <a:r>
                <a:rPr lang="en-US" sz="2400" dirty="0"/>
                <a:t> Sink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783123B-0F2F-6A59-9EB6-1934835F1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2" y="1153300"/>
            <a:ext cx="9700044" cy="45720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C8BCD2-AE06-8E98-5DC0-6BC78F6C6EB0}"/>
              </a:ext>
            </a:extLst>
          </p:cNvPr>
          <p:cNvSpPr txBox="1"/>
          <p:nvPr/>
        </p:nvSpPr>
        <p:spPr>
          <a:xfrm>
            <a:off x="6845968" y="1371600"/>
            <a:ext cx="1828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March 2024</a:t>
            </a:r>
          </a:p>
        </p:txBody>
      </p:sp>
    </p:spTree>
    <p:extLst>
      <p:ext uri="{BB962C8B-B14F-4D97-AF65-F5344CB8AC3E}">
        <p14:creationId xmlns:p14="http://schemas.microsoft.com/office/powerpoint/2010/main" val="332706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5044F2-D3D0-E043-EF0A-68F28435783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CO</a:t>
            </a:r>
            <a:r>
              <a:rPr lang="en-US" sz="2400" b="1" baseline="-25000" dirty="0"/>
              <a:t>2</a:t>
            </a:r>
            <a:r>
              <a:rPr lang="en-US" sz="2400" b="1" dirty="0"/>
              <a:t> and the calendar function</a:t>
            </a:r>
            <a:endParaRPr lang="en-US" sz="2400" b="1" baseline="-25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D3068C-980B-41E6-FEA5-B404B646BC7C}"/>
              </a:ext>
            </a:extLst>
          </p:cNvPr>
          <p:cNvGrpSpPr/>
          <p:nvPr/>
        </p:nvGrpSpPr>
        <p:grpSpPr>
          <a:xfrm>
            <a:off x="9884276" y="2361068"/>
            <a:ext cx="1629853" cy="1145994"/>
            <a:chOff x="9201368" y="1736035"/>
            <a:chExt cx="1616766" cy="11459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746855-43A1-4369-9BA6-6160B464DE9B}"/>
                </a:ext>
              </a:extLst>
            </p:cNvPr>
            <p:cNvSpPr txBox="1"/>
            <p:nvPr/>
          </p:nvSpPr>
          <p:spPr>
            <a:xfrm>
              <a:off x="9201368" y="1736035"/>
              <a:ext cx="1616766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CO</a:t>
              </a:r>
              <a:r>
                <a:rPr lang="en-US" sz="2400" baseline="-25000" dirty="0">
                  <a:solidFill>
                    <a:srgbClr val="C00000"/>
                  </a:solidFill>
                </a:rPr>
                <a:t>2</a:t>
              </a:r>
              <a:r>
                <a:rPr lang="en-US" sz="2400" dirty="0">
                  <a:solidFill>
                    <a:srgbClr val="C00000"/>
                  </a:solidFill>
                </a:rPr>
                <a:t> Source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1C0568-1E54-59CF-0D3A-688514DBE411}"/>
                </a:ext>
              </a:extLst>
            </p:cNvPr>
            <p:cNvSpPr txBox="1"/>
            <p:nvPr/>
          </p:nvSpPr>
          <p:spPr>
            <a:xfrm>
              <a:off x="9201368" y="2420364"/>
              <a:ext cx="13438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</a:t>
              </a:r>
              <a:r>
                <a:rPr lang="en-US" sz="2400" baseline="-25000" dirty="0"/>
                <a:t>2</a:t>
              </a:r>
              <a:r>
                <a:rPr lang="en-US" sz="2400" dirty="0"/>
                <a:t> Sink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4FA4F9-AE7C-BE57-E3AB-2BE9FBDC8EF8}"/>
                  </a:ext>
                </a:extLst>
              </p:cNvPr>
              <p:cNvSpPr txBox="1"/>
              <p:nvPr/>
            </p:nvSpPr>
            <p:spPr>
              <a:xfrm>
                <a:off x="9837976" y="3544824"/>
                <a:ext cx="235402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431 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𝑝𝑝𝑚</m:t>
                    </m:r>
                  </m:oMath>
                </a14:m>
                <a:r>
                  <a:rPr lang="en-US" sz="2400" dirty="0"/>
                  <a:t> is more than the current global average 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27.5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𝑝𝑝𝑚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4FA4F9-AE7C-BE57-E3AB-2BE9FBDC8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976" y="3544824"/>
                <a:ext cx="2354024" cy="1569660"/>
              </a:xfrm>
              <a:prstGeom prst="rect">
                <a:avLst/>
              </a:prstGeom>
              <a:blipFill>
                <a:blip r:embed="rId2"/>
                <a:stretch>
                  <a:fillRect l="-3743" t="-2419" r="-5882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783123B-0F2F-6A59-9EB6-1934835F1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2" y="1153300"/>
            <a:ext cx="9700044" cy="45720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26BD31-8F13-FF74-C227-1D5B5560C2D6}"/>
              </a:ext>
            </a:extLst>
          </p:cNvPr>
          <p:cNvSpPr txBox="1"/>
          <p:nvPr/>
        </p:nvSpPr>
        <p:spPr>
          <a:xfrm>
            <a:off x="6845968" y="1371600"/>
            <a:ext cx="1828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March 2024</a:t>
            </a:r>
          </a:p>
        </p:txBody>
      </p:sp>
    </p:spTree>
    <p:extLst>
      <p:ext uri="{BB962C8B-B14F-4D97-AF65-F5344CB8AC3E}">
        <p14:creationId xmlns:p14="http://schemas.microsoft.com/office/powerpoint/2010/main" val="3581839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5044F2-D3D0-E043-EF0A-68F28435783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CO</a:t>
            </a:r>
            <a:r>
              <a:rPr lang="en-US" sz="2400" b="1" baseline="-25000" dirty="0"/>
              <a:t>2</a:t>
            </a:r>
            <a:r>
              <a:rPr lang="en-US" sz="2400" b="1" dirty="0"/>
              <a:t> and the calendar function</a:t>
            </a:r>
            <a:endParaRPr lang="en-US" sz="2400" b="1" baseline="-25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D3068C-980B-41E6-FEA5-B404B646BC7C}"/>
              </a:ext>
            </a:extLst>
          </p:cNvPr>
          <p:cNvGrpSpPr/>
          <p:nvPr/>
        </p:nvGrpSpPr>
        <p:grpSpPr>
          <a:xfrm>
            <a:off x="9884276" y="2361068"/>
            <a:ext cx="1629853" cy="1145994"/>
            <a:chOff x="9201368" y="1736035"/>
            <a:chExt cx="1616766" cy="11459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746855-43A1-4369-9BA6-6160B464DE9B}"/>
                </a:ext>
              </a:extLst>
            </p:cNvPr>
            <p:cNvSpPr txBox="1"/>
            <p:nvPr/>
          </p:nvSpPr>
          <p:spPr>
            <a:xfrm>
              <a:off x="9201368" y="1736035"/>
              <a:ext cx="1616766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CO</a:t>
              </a:r>
              <a:r>
                <a:rPr lang="en-US" sz="2400" baseline="-25000" dirty="0">
                  <a:solidFill>
                    <a:srgbClr val="C00000"/>
                  </a:solidFill>
                </a:rPr>
                <a:t>2</a:t>
              </a:r>
              <a:r>
                <a:rPr lang="en-US" sz="2400" dirty="0">
                  <a:solidFill>
                    <a:srgbClr val="C00000"/>
                  </a:solidFill>
                </a:rPr>
                <a:t> Source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1C0568-1E54-59CF-0D3A-688514DBE411}"/>
                </a:ext>
              </a:extLst>
            </p:cNvPr>
            <p:cNvSpPr txBox="1"/>
            <p:nvPr/>
          </p:nvSpPr>
          <p:spPr>
            <a:xfrm>
              <a:off x="9201368" y="2420364"/>
              <a:ext cx="13438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</a:t>
              </a:r>
              <a:r>
                <a:rPr lang="en-US" sz="2400" baseline="-25000" dirty="0"/>
                <a:t>2</a:t>
              </a:r>
              <a:r>
                <a:rPr lang="en-US" sz="2400" dirty="0"/>
                <a:t> Sink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4FA4F9-AE7C-BE57-E3AB-2BE9FBDC8EF8}"/>
                  </a:ext>
                </a:extLst>
              </p:cNvPr>
              <p:cNvSpPr txBox="1"/>
              <p:nvPr/>
            </p:nvSpPr>
            <p:spPr>
              <a:xfrm>
                <a:off x="9837976" y="3544824"/>
                <a:ext cx="235402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431 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𝑝𝑝𝑚</m:t>
                    </m:r>
                  </m:oMath>
                </a14:m>
                <a:r>
                  <a:rPr lang="en-US" sz="2400" dirty="0"/>
                  <a:t> is more than the current global average 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27.5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𝑝𝑝𝑚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4FA4F9-AE7C-BE57-E3AB-2BE9FBDC8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976" y="3544824"/>
                <a:ext cx="2354024" cy="1569660"/>
              </a:xfrm>
              <a:prstGeom prst="rect">
                <a:avLst/>
              </a:prstGeom>
              <a:blipFill>
                <a:blip r:embed="rId2"/>
                <a:stretch>
                  <a:fillRect l="-3743" t="-2419" r="-5882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783123B-0F2F-6A59-9EB6-1934835F1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2" y="1153300"/>
            <a:ext cx="9700044" cy="45720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26BD31-8F13-FF74-C227-1D5B5560C2D6}"/>
              </a:ext>
            </a:extLst>
          </p:cNvPr>
          <p:cNvSpPr txBox="1"/>
          <p:nvPr/>
        </p:nvSpPr>
        <p:spPr>
          <a:xfrm>
            <a:off x="6845968" y="1371600"/>
            <a:ext cx="1828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March 2024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9ADBAD-DB0B-D639-AF36-E6E9EF1243D2}"/>
                  </a:ext>
                </a:extLst>
              </p:cNvPr>
              <p:cNvSpPr txBox="1"/>
              <p:nvPr/>
            </p:nvSpPr>
            <p:spPr>
              <a:xfrm>
                <a:off x="1359567" y="5943684"/>
                <a:ext cx="928838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We’ll get to that concentration unit (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𝑝𝑝𝑚</m:t>
                    </m:r>
                  </m:oMath>
                </a14:m>
                <a:r>
                  <a:rPr lang="en-US" sz="2400" dirty="0"/>
                  <a:t>) in a bit, but first it’ll be useful to talk about the composition of the atmosphere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9ADBAD-DB0B-D639-AF36-E6E9EF124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567" y="5943684"/>
                <a:ext cx="9288380" cy="830997"/>
              </a:xfrm>
              <a:prstGeom prst="rect">
                <a:avLst/>
              </a:prstGeom>
              <a:blipFill>
                <a:blip r:embed="rId4"/>
                <a:stretch>
                  <a:fillRect l="-1093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3785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2817</TotalTime>
  <Words>193</Words>
  <Application>Microsoft Macintosh PowerPoint</Application>
  <PresentationFormat>Widescreen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56</cp:revision>
  <dcterms:created xsi:type="dcterms:W3CDTF">2021-09-01T12:14:24Z</dcterms:created>
  <dcterms:modified xsi:type="dcterms:W3CDTF">2025-08-13T20:43:36Z</dcterms:modified>
</cp:coreProperties>
</file>