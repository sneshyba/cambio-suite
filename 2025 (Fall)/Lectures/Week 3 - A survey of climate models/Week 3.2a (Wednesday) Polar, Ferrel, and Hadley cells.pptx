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480" r:id="rId2"/>
    <p:sldId id="406" r:id="rId3"/>
    <p:sldId id="481" r:id="rId4"/>
    <p:sldId id="48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964"/>
  </p:normalViewPr>
  <p:slideViewPr>
    <p:cSldViewPr snapToGrid="0" showGuides="1">
      <p:cViewPr varScale="1">
        <p:scale>
          <a:sx n="111" d="100"/>
          <a:sy n="111" d="100"/>
        </p:scale>
        <p:origin x="53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01A67-3A73-774C-A6EA-16D300E6EF32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B07FB-C2B8-B94C-92CF-955155949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09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24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31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77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8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468A5-BD25-B9B0-918E-47A479A3F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C00738-A74F-614A-B78F-F564EF20E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C5FF8-4C17-95BE-3544-8D73DF02A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A74A-8B9D-6346-97DD-38671E1C3CB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6C1DF-B42E-44B9-F79E-A1DC1ACD7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CB145-E95A-F1C6-F5CB-6E1F8919D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690-6D5A-C942-A65C-4C3D43CAC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7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E7814-1475-A44F-9639-380076A1F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8B5B4-9BAB-A744-19CD-1BA363729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3EC21-06CE-23BD-6C89-1400F42B1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A74A-8B9D-6346-97DD-38671E1C3CB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BAF2A-D197-93B2-74A0-3ADA146C9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4823B-B188-C20F-366B-93C718017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690-6D5A-C942-A65C-4C3D43CAC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33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01A73-3AC6-B3B1-FD72-F7BE533D3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DDB78-978D-8735-247C-199BE3D49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C9E33-71B7-B867-282E-C6F77E2B5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A74A-8B9D-6346-97DD-38671E1C3CB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C832C-900D-35D9-3E8B-0E4B0DCE4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B1DC9-175B-4DF6-CAB0-0386539C1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690-6D5A-C942-A65C-4C3D43CAC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643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C307-8D3D-240D-9234-C71AD889D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FDC34-F425-94FE-7FF1-D35146AAB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50CB1-8B51-6891-2AED-94BE38FD3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0744C-EBA2-E2EE-BF63-25DB4F37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A74A-8B9D-6346-97DD-38671E1C3CB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5A913-5CFC-3F6F-E8A7-207FA0D79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48A06-6A83-8E93-8542-DC3E6FAFD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690-6D5A-C942-A65C-4C3D43CAC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63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0A0B9-E36B-521A-72E7-717C74C49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B3C46-310D-4B7E-AB3F-DB3BA938D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44189-DEA7-3695-188E-DABB13F42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390AD-57EA-E69D-61FC-55B214E1C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D8F460-A84D-DF67-1C21-0254F38F2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70523F-0DFD-4908-91C2-9320931B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A74A-8B9D-6346-97DD-38671E1C3CB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497306-F460-DAF5-099B-BE749C378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84EC25-CA51-E47F-145C-44D3E6BE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690-6D5A-C942-A65C-4C3D43CAC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14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0C27F-5C76-C160-3600-A8616CAEC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685CF9-9574-FB7E-8D5A-992A61E1E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A74A-8B9D-6346-97DD-38671E1C3CB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D254F6-0124-2FD7-8F0B-98AB67B95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579777-8254-1709-2A58-DED277BBC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690-6D5A-C942-A65C-4C3D43CAC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7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4BDC3F-4B9B-E6BB-1073-92A74FDB3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A74A-8B9D-6346-97DD-38671E1C3CB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D1F3E-F89D-9051-E831-05E3FCA37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7555E-B0CF-36EC-ED52-E3D79D0C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690-6D5A-C942-A65C-4C3D43CAC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07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0B015-F0DE-8026-6202-E18A3A4E7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4EC8A-ECA8-E7EF-3911-91A593268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E0BC9-A19D-3FC0-576B-BA4B8D2DB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ADB32-AADF-28FB-FC5B-F6EF3D193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A74A-8B9D-6346-97DD-38671E1C3CB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1F56C-BD3F-E5E2-231D-459A01E4A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925E4-483F-2A11-1D3C-66673246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690-6D5A-C942-A65C-4C3D43CAC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51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323E3-C6FC-AF1D-0C8A-1A2AAFBA3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8535DC-10EF-1791-B4E7-E7B7344248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E1BB13-6599-BFFB-6506-C0A6B4D61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9AAD0-3350-A268-709A-1DAE539EB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A74A-8B9D-6346-97DD-38671E1C3CB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52442-6034-6864-902A-0E4FD46E9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4693F-754F-19D9-B026-D92A14CC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690-6D5A-C942-A65C-4C3D43CAC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00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736FD-717F-4650-3982-F83A0738A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AC69BF-E649-F248-2050-853D34C2F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59A94-0AF4-D285-12BE-FB98862AF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A74A-8B9D-6346-97DD-38671E1C3CB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E2CC4-DAB0-367E-6FB8-173378DAD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AE89E-F3E3-9A53-17C4-BA2D2E6E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690-6D5A-C942-A65C-4C3D43CAC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355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280327-41ED-2980-EFA2-E035D87B47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14A35-D1F3-C54A-E721-BF8241335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3BBDD-6771-98AA-4959-22C9F6D81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A74A-8B9D-6346-97DD-38671E1C3CB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C49DD-2012-27CC-0BD7-3E4BB7A5F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F7A98-56D6-25DD-3B03-5A18E0B8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690-6D5A-C942-A65C-4C3D43CAC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98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3267B5-765B-4653-9D3A-4B50DC443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E3FEC-C184-3969-FAB8-9D54C2F72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2A398-378A-F7B6-9325-907E5936E6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7A74A-8B9D-6346-97DD-38671E1C3CB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92DC2-98C6-EB8B-D56A-480BA339B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AD4FC-5467-82D8-79C0-240EFFB1F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F1690-6D5A-C942-A65C-4C3D43CAC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79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Image result for hadley cells">
            <a:extLst>
              <a:ext uri="{FF2B5EF4-FFF2-40B4-BE49-F238E27FC236}">
                <a16:creationId xmlns:a16="http://schemas.microsoft.com/office/drawing/2014/main" id="{0D9EC2BC-8EFE-C049-BB52-1C48111E6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345" y="955008"/>
            <a:ext cx="8672950" cy="556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D8478F5-33F5-F64A-AF96-85BB0C67B9EF}"/>
              </a:ext>
            </a:extLst>
          </p:cNvPr>
          <p:cNvSpPr/>
          <p:nvPr/>
        </p:nvSpPr>
        <p:spPr>
          <a:xfrm>
            <a:off x="269104" y="2348338"/>
            <a:ext cx="34913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vertical structure shown here is highly exaggerated</a:t>
            </a:r>
          </a:p>
        </p:txBody>
      </p:sp>
      <p:sp>
        <p:nvSpPr>
          <p:cNvPr id="10" name="Up-Down Arrow 9">
            <a:extLst>
              <a:ext uri="{FF2B5EF4-FFF2-40B4-BE49-F238E27FC236}">
                <a16:creationId xmlns:a16="http://schemas.microsoft.com/office/drawing/2014/main" id="{5F3AA2C7-7858-124B-A9C7-47CA06F30276}"/>
              </a:ext>
            </a:extLst>
          </p:cNvPr>
          <p:cNvSpPr/>
          <p:nvPr/>
        </p:nvSpPr>
        <p:spPr>
          <a:xfrm rot="16995803">
            <a:off x="8785188" y="3933906"/>
            <a:ext cx="226214" cy="440724"/>
          </a:xfrm>
          <a:prstGeom prst="upDownArrow">
            <a:avLst>
              <a:gd name="adj1" fmla="val 50000"/>
              <a:gd name="adj2" fmla="val 31680"/>
            </a:avLst>
          </a:prstGeom>
          <a:solidFill>
            <a:srgbClr val="FF0000">
              <a:alpha val="6094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09BDFF0-A570-146C-D6AF-FCFD32AD2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80060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Polar, </a:t>
            </a:r>
            <a:r>
              <a:rPr lang="en-US" sz="2400" b="1" dirty="0" err="1">
                <a:latin typeface="+mn-lt"/>
              </a:rPr>
              <a:t>Ferrel</a:t>
            </a:r>
            <a:r>
              <a:rPr lang="en-US" sz="2400" b="1" dirty="0">
                <a:latin typeface="+mn-lt"/>
              </a:rPr>
              <a:t>, and Hadley cells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BCBC6F-0A2B-181B-08BB-896CCA5D93EF}"/>
              </a:ext>
            </a:extLst>
          </p:cNvPr>
          <p:cNvGrpSpPr>
            <a:grpSpLocks noChangeAspect="1"/>
          </p:cNvGrpSpPr>
          <p:nvPr/>
        </p:nvGrpSpPr>
        <p:grpSpPr>
          <a:xfrm>
            <a:off x="529340" y="4964575"/>
            <a:ext cx="1678618" cy="1265078"/>
            <a:chOff x="6297048" y="2075495"/>
            <a:chExt cx="4656460" cy="3303105"/>
          </a:xfrm>
        </p:grpSpPr>
        <p:pic>
          <p:nvPicPr>
            <p:cNvPr id="3" name="Picture 2" descr="Top 15 Fresh And Beautiful Apple Wallpapers In HD">
              <a:extLst>
                <a:ext uri="{FF2B5EF4-FFF2-40B4-BE49-F238E27FC236}">
                  <a16:creationId xmlns:a16="http://schemas.microsoft.com/office/drawing/2014/main" id="{721D899F-DCE9-27E6-3DD6-73D8C6F2AA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7048" y="2075495"/>
              <a:ext cx="4656460" cy="3303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51CAB578-01D4-1B34-F2B8-AC7FEF0067AA}"/>
                </a:ext>
              </a:extLst>
            </p:cNvPr>
            <p:cNvCxnSpPr>
              <a:cxnSpLocks/>
            </p:cNvCxnSpPr>
            <p:nvPr/>
          </p:nvCxnSpPr>
          <p:spPr>
            <a:xfrm>
              <a:off x="9290957" y="3876818"/>
              <a:ext cx="555172" cy="544711"/>
            </a:xfrm>
            <a:prstGeom prst="straightConnector1">
              <a:avLst/>
            </a:prstGeom>
            <a:ln w="127000">
              <a:solidFill>
                <a:srgbClr val="FF0000">
                  <a:alpha val="53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C7F2E67-52B0-4890-208F-6C6126B4A2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46129" y="4421529"/>
              <a:ext cx="571500" cy="575014"/>
            </a:xfrm>
            <a:prstGeom prst="straightConnector1">
              <a:avLst/>
            </a:prstGeom>
            <a:ln w="127000">
              <a:solidFill>
                <a:srgbClr val="FF0000">
                  <a:alpha val="54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9592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Image result for hadley cells">
            <a:extLst>
              <a:ext uri="{FF2B5EF4-FFF2-40B4-BE49-F238E27FC236}">
                <a16:creationId xmlns:a16="http://schemas.microsoft.com/office/drawing/2014/main" id="{0D9EC2BC-8EFE-C049-BB52-1C48111E6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345" y="955008"/>
            <a:ext cx="8672950" cy="556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D8478F5-33F5-F64A-AF96-85BB0C67B9EF}"/>
              </a:ext>
            </a:extLst>
          </p:cNvPr>
          <p:cNvSpPr/>
          <p:nvPr/>
        </p:nvSpPr>
        <p:spPr>
          <a:xfrm>
            <a:off x="27705" y="1628248"/>
            <a:ext cx="349134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Uplift zones</a:t>
            </a:r>
            <a:r>
              <a:rPr lang="en-US" sz="2400" dirty="0"/>
              <a:t> </a:t>
            </a:r>
          </a:p>
          <a:p>
            <a:r>
              <a:rPr lang="en-US" sz="2400" dirty="0"/>
              <a:t>Rising air tends to make </a:t>
            </a:r>
            <a:r>
              <a:rPr lang="en-US" sz="2400" b="1" dirty="0"/>
              <a:t>cloudy skies, storms, and wet climates</a:t>
            </a:r>
            <a:r>
              <a:rPr lang="en-US" sz="2400" dirty="0"/>
              <a:t>. </a:t>
            </a:r>
          </a:p>
          <a:p>
            <a:endParaRPr lang="en-US" sz="2400" dirty="0"/>
          </a:p>
          <a:p>
            <a:r>
              <a:rPr lang="en-US" sz="2400" b="1" dirty="0"/>
              <a:t>Subsidence zones</a:t>
            </a:r>
            <a:r>
              <a:rPr lang="en-US" sz="2400" dirty="0"/>
              <a:t> </a:t>
            </a:r>
          </a:p>
          <a:p>
            <a:r>
              <a:rPr lang="en-US" sz="2400" dirty="0"/>
              <a:t>Descending air tends to make </a:t>
            </a:r>
            <a:r>
              <a:rPr lang="en-US" sz="2400" b="1" dirty="0"/>
              <a:t>clear skies </a:t>
            </a:r>
            <a:r>
              <a:rPr lang="en-US" sz="2400" dirty="0"/>
              <a:t>and </a:t>
            </a:r>
            <a:r>
              <a:rPr lang="en-US" sz="2400" b="1" dirty="0"/>
              <a:t>dry climates</a:t>
            </a:r>
            <a:r>
              <a:rPr lang="en-US" sz="2400" dirty="0"/>
              <a:t>.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2046F-C600-1922-181D-00DAB2170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80060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Polar, </a:t>
            </a:r>
            <a:r>
              <a:rPr lang="en-US" sz="2400" b="1" dirty="0" err="1">
                <a:latin typeface="+mn-lt"/>
              </a:rPr>
              <a:t>Ferrel</a:t>
            </a:r>
            <a:r>
              <a:rPr lang="en-US" sz="2400" b="1" dirty="0">
                <a:latin typeface="+mn-lt"/>
              </a:rPr>
              <a:t>, and Hadley cells</a:t>
            </a:r>
          </a:p>
        </p:txBody>
      </p:sp>
    </p:spTree>
    <p:extLst>
      <p:ext uri="{BB962C8B-B14F-4D97-AF65-F5344CB8AC3E}">
        <p14:creationId xmlns:p14="http://schemas.microsoft.com/office/powerpoint/2010/main" val="2840283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Image result for hadley cells">
            <a:extLst>
              <a:ext uri="{FF2B5EF4-FFF2-40B4-BE49-F238E27FC236}">
                <a16:creationId xmlns:a16="http://schemas.microsoft.com/office/drawing/2014/main" id="{0D9EC2BC-8EFE-C049-BB52-1C48111E6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345" y="955008"/>
            <a:ext cx="8672950" cy="556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D8478F5-33F5-F64A-AF96-85BB0C67B9EF}"/>
              </a:ext>
            </a:extLst>
          </p:cNvPr>
          <p:cNvSpPr/>
          <p:nvPr/>
        </p:nvSpPr>
        <p:spPr>
          <a:xfrm>
            <a:off x="97210" y="1432936"/>
            <a:ext cx="327108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What seems to be happening is a </a:t>
            </a:r>
            <a:r>
              <a:rPr lang="en-US" sz="2400" b="1" dirty="0"/>
              <a:t>poleward shift</a:t>
            </a:r>
            <a:r>
              <a:rPr lang="en-US" sz="2400" dirty="0"/>
              <a:t> of the </a:t>
            </a:r>
            <a:r>
              <a:rPr lang="en-US" sz="2400" b="1" dirty="0" err="1"/>
              <a:t>Ferrel</a:t>
            </a:r>
            <a:r>
              <a:rPr lang="en-US" sz="2400" b="1" dirty="0"/>
              <a:t>/Hadley subsidence zones </a:t>
            </a:r>
            <a:r>
              <a:rPr lang="en-US" sz="2400" dirty="0"/>
              <a:t>(the shift is shown with arrows). </a:t>
            </a:r>
          </a:p>
          <a:p>
            <a:endParaRPr lang="en-US" sz="2400" dirty="0"/>
          </a:p>
          <a:p>
            <a:r>
              <a:rPr lang="en-US" sz="2400" dirty="0"/>
              <a:t>There’s also an </a:t>
            </a:r>
            <a:r>
              <a:rPr lang="en-US" sz="2400" b="1" dirty="0"/>
              <a:t>intensification</a:t>
            </a:r>
            <a:r>
              <a:rPr lang="en-US" sz="2400" dirty="0"/>
              <a:t> of all of the zones (more vigorous subsidence, more vigorous uplift)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2046F-C600-1922-181D-00DAB2170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80060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Poleward shift of these zones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A696A10B-086B-5622-3B9E-06CB430E17F1}"/>
              </a:ext>
            </a:extLst>
          </p:cNvPr>
          <p:cNvSpPr/>
          <p:nvPr/>
        </p:nvSpPr>
        <p:spPr>
          <a:xfrm rot="18524705">
            <a:off x="4694187" y="2365468"/>
            <a:ext cx="381964" cy="266218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9B3AC9CC-94B0-A0B5-3CFE-69F8D5DB5B12}"/>
              </a:ext>
            </a:extLst>
          </p:cNvPr>
          <p:cNvSpPr/>
          <p:nvPr/>
        </p:nvSpPr>
        <p:spPr>
          <a:xfrm rot="3288995">
            <a:off x="4689678" y="5070870"/>
            <a:ext cx="381964" cy="266218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C8620BE-3CF8-841E-2FDD-744D01FA0B87}"/>
              </a:ext>
            </a:extLst>
          </p:cNvPr>
          <p:cNvSpPr/>
          <p:nvPr/>
        </p:nvSpPr>
        <p:spPr>
          <a:xfrm rot="15224932">
            <a:off x="8863002" y="2597730"/>
            <a:ext cx="381964" cy="266218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3603CDE0-0AA3-37F5-141D-78313BDD4757}"/>
              </a:ext>
            </a:extLst>
          </p:cNvPr>
          <p:cNvSpPr/>
          <p:nvPr/>
        </p:nvSpPr>
        <p:spPr>
          <a:xfrm rot="6952754">
            <a:off x="8784562" y="5454811"/>
            <a:ext cx="381964" cy="266218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16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Image result for hadley cells">
            <a:extLst>
              <a:ext uri="{FF2B5EF4-FFF2-40B4-BE49-F238E27FC236}">
                <a16:creationId xmlns:a16="http://schemas.microsoft.com/office/drawing/2014/main" id="{0D9EC2BC-8EFE-C049-BB52-1C48111E6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345" y="955008"/>
            <a:ext cx="8672950" cy="556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D8478F5-33F5-F64A-AF96-85BB0C67B9EF}"/>
              </a:ext>
            </a:extLst>
          </p:cNvPr>
          <p:cNvSpPr/>
          <p:nvPr/>
        </p:nvSpPr>
        <p:spPr>
          <a:xfrm>
            <a:off x="-12923" y="766276"/>
            <a:ext cx="3491345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Example 1: Suppose you live in a location just poleward a pre-industrial subsidence center (“x”, like  Santiago, Chile). Given that subsidence is associated with dry, hot (desert-like) conditions, what’s your prediction? (Hint: this is a </a:t>
            </a:r>
            <a:r>
              <a:rPr lang="en-US" sz="2200" b="1" dirty="0"/>
              <a:t>shift</a:t>
            </a:r>
            <a:r>
              <a:rPr lang="en-US" sz="2200" dirty="0"/>
              <a:t> question.)</a:t>
            </a:r>
          </a:p>
          <a:p>
            <a:endParaRPr lang="en-US" sz="2200" dirty="0"/>
          </a:p>
          <a:p>
            <a:r>
              <a:rPr lang="en-US" sz="2200" dirty="0"/>
              <a:t>Example 2: Suppose you live in a pre-industrial uplift center (“y”). What’s your prediction? (Hint: this is an </a:t>
            </a:r>
            <a:r>
              <a:rPr lang="en-US" sz="2200" b="1" dirty="0"/>
              <a:t>intensification</a:t>
            </a:r>
            <a:r>
              <a:rPr lang="en-US" sz="2200" dirty="0"/>
              <a:t> question.)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2046F-C600-1922-181D-00DAB2170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88453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r>
              <a:rPr lang="en-US" sz="2400" b="1" dirty="0">
                <a:latin typeface="+mn-lt"/>
              </a:rPr>
              <a:t>Think-pair-share about perceptions of climate change for somebody who lives near a cell boundary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A696A10B-086B-5622-3B9E-06CB430E17F1}"/>
              </a:ext>
            </a:extLst>
          </p:cNvPr>
          <p:cNvSpPr/>
          <p:nvPr/>
        </p:nvSpPr>
        <p:spPr>
          <a:xfrm rot="18524705">
            <a:off x="4694187" y="2365468"/>
            <a:ext cx="381964" cy="266218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9B3AC9CC-94B0-A0B5-3CFE-69F8D5DB5B12}"/>
              </a:ext>
            </a:extLst>
          </p:cNvPr>
          <p:cNvSpPr/>
          <p:nvPr/>
        </p:nvSpPr>
        <p:spPr>
          <a:xfrm rot="3288995">
            <a:off x="4689678" y="5070870"/>
            <a:ext cx="381964" cy="266218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C8620BE-3CF8-841E-2FDD-744D01FA0B87}"/>
              </a:ext>
            </a:extLst>
          </p:cNvPr>
          <p:cNvSpPr/>
          <p:nvPr/>
        </p:nvSpPr>
        <p:spPr>
          <a:xfrm rot="15224932">
            <a:off x="8863002" y="2597730"/>
            <a:ext cx="381964" cy="266218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3603CDE0-0AA3-37F5-141D-78313BDD4757}"/>
              </a:ext>
            </a:extLst>
          </p:cNvPr>
          <p:cNvSpPr/>
          <p:nvPr/>
        </p:nvSpPr>
        <p:spPr>
          <a:xfrm rot="6952754">
            <a:off x="8784562" y="5454811"/>
            <a:ext cx="381964" cy="266218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C2108B-08C7-361C-9A38-5E710EAB2E49}"/>
              </a:ext>
            </a:extLst>
          </p:cNvPr>
          <p:cNvSpPr txBox="1"/>
          <p:nvPr/>
        </p:nvSpPr>
        <p:spPr>
          <a:xfrm>
            <a:off x="6101787" y="5092556"/>
            <a:ext cx="381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903EB3-9CB4-692B-CFF2-77916541EF68}"/>
              </a:ext>
            </a:extLst>
          </p:cNvPr>
          <p:cNvSpPr txBox="1"/>
          <p:nvPr/>
        </p:nvSpPr>
        <p:spPr>
          <a:xfrm>
            <a:off x="8134245" y="2313911"/>
            <a:ext cx="381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043D96-02A8-CA64-3261-F67FE21DFC12}"/>
              </a:ext>
            </a:extLst>
          </p:cNvPr>
          <p:cNvSpPr txBox="1"/>
          <p:nvPr/>
        </p:nvSpPr>
        <p:spPr>
          <a:xfrm>
            <a:off x="5829478" y="2077932"/>
            <a:ext cx="381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307D34-980D-BFEC-7307-46D9D24ECA0E}"/>
              </a:ext>
            </a:extLst>
          </p:cNvPr>
          <p:cNvSpPr txBox="1"/>
          <p:nvPr/>
        </p:nvSpPr>
        <p:spPr>
          <a:xfrm>
            <a:off x="6607612" y="1616267"/>
            <a:ext cx="381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823037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197</Words>
  <Application>Microsoft Macintosh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Polar, Ferrel, and Hadley cells</vt:lpstr>
      <vt:lpstr>Polar, Ferrel, and Hadley cells</vt:lpstr>
      <vt:lpstr>Poleward shift of these zones</vt:lpstr>
      <vt:lpstr>Think-pair-share about perceptions of climate change for somebody who lives near a cell boundary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Polar, Ferrel, and Hadley cells</dc:title>
  <dc:creator>Steven</dc:creator>
  <cp:lastModifiedBy>Steven</cp:lastModifiedBy>
  <cp:revision>3</cp:revision>
  <dcterms:created xsi:type="dcterms:W3CDTF">2024-08-31T23:45:18Z</dcterms:created>
  <dcterms:modified xsi:type="dcterms:W3CDTF">2025-09-17T15:40:03Z</dcterms:modified>
</cp:coreProperties>
</file>