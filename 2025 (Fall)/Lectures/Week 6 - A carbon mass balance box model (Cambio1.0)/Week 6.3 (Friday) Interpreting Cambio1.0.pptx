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1985" r:id="rId2"/>
    <p:sldId id="1987" r:id="rId3"/>
    <p:sldId id="1881" r:id="rId4"/>
    <p:sldId id="288" r:id="rId5"/>
    <p:sldId id="1891" r:id="rId6"/>
    <p:sldId id="1988" r:id="rId7"/>
    <p:sldId id="1883" r:id="rId8"/>
    <p:sldId id="1989" r:id="rId9"/>
    <p:sldId id="1990" r:id="rId10"/>
    <p:sldId id="1888" r:id="rId11"/>
    <p:sldId id="1894" r:id="rId12"/>
    <p:sldId id="1992" r:id="rId13"/>
    <p:sldId id="1986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1"/>
    <p:restoredTop sz="95952"/>
  </p:normalViewPr>
  <p:slideViewPr>
    <p:cSldViewPr snapToGrid="0" showGuides="1">
      <p:cViewPr>
        <p:scale>
          <a:sx n="113" d="100"/>
          <a:sy n="113" d="100"/>
        </p:scale>
        <p:origin x="42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D15BC5-E43D-4545-A76F-2FAF308F1A7E}" type="datetimeFigureOut">
              <a:rPr lang="en-US" smtClean="0"/>
              <a:t>10/5/25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40BD99-7F21-3945-8040-1E6862C8F6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5201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1557FB-BBF6-CCA2-6C83-C6A48E8754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3A74E2-E5CD-9A68-EFEF-44A1E7CB5E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B6AF3F-D46B-2767-BD21-9017CA02F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6D31-391B-7D48-9EAA-1C0849DA31E4}" type="datetimeFigureOut">
              <a:rPr lang="en-US" smtClean="0"/>
              <a:t>10/5/25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5D8F25-7291-781D-7958-823D73834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22CC2D-D2B4-61DD-68E7-1EAA6AEC7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CD531-4ABD-734A-8309-089B374898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24676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C620A4-40BC-BA12-D24D-F874DC8213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768D11-EA8E-7244-85FA-0704631961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5A670F-FC0A-2AD5-E811-A89DE199F1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6D31-391B-7D48-9EAA-1C0849DA31E4}" type="datetimeFigureOut">
              <a:rPr lang="en-US" smtClean="0"/>
              <a:t>10/5/25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4C0B0-38D0-33A2-DCFB-1E1446964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4A878F-4345-2D62-FA43-4823D005AD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CD531-4ABD-734A-8309-089B374898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57283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487144-72EC-1AF7-1632-301E89D5E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BA829F-BB95-3D13-0179-D5E8EF7A30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496B8C-D104-D2FD-86F0-FFE7939A07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6D31-391B-7D48-9EAA-1C0849DA31E4}" type="datetimeFigureOut">
              <a:rPr lang="en-US" smtClean="0"/>
              <a:t>10/5/25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A6579E-8AB5-2C6D-D260-248C33F532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2BBD75-A861-75D0-DB90-791D421FE2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CD531-4ABD-734A-8309-089B374898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1590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79AABB-87C0-08A4-32C1-0D7D86E6D7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43F8B6-EF34-0D9A-8A9F-7DEDB69C55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1A7954-EB4F-B45D-CEF4-B16255403C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23EF2E-5609-57A5-92FB-780FE6B298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6D31-391B-7D48-9EAA-1C0849DA31E4}" type="datetimeFigureOut">
              <a:rPr lang="en-US" smtClean="0"/>
              <a:t>10/5/25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3E960C-8935-6BA2-486B-A6DF21EBD9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1ED159-9100-5D6A-179C-2BC3972E6B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CD531-4ABD-734A-8309-089B374898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650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E105E-F0AD-5F46-BA16-8F83A9F3C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8B4289-86CD-8154-ABC1-F9A8346315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7216D6-989D-9032-CE11-D7341D48DF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5E03C18-0F19-0CA9-D8D4-00F6052BC5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F7DE7B2-4267-6DA4-8E47-9A417191C0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CF9C7ED-9A57-FA19-2C35-E0A5407029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6D31-391B-7D48-9EAA-1C0849DA31E4}" type="datetimeFigureOut">
              <a:rPr lang="en-US" smtClean="0"/>
              <a:t>10/5/25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2FBF23-17FD-BDC0-E81E-7B97692717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23D8A5D-B253-6D84-CA73-C6D83E75CF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CD531-4ABD-734A-8309-089B374898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9574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D0D4CE-E1B0-005C-6BA6-C059946E5F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A3B85C-8914-7982-3674-FFD81C7AB8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6D31-391B-7D48-9EAA-1C0849DA31E4}" type="datetimeFigureOut">
              <a:rPr lang="en-US" smtClean="0"/>
              <a:t>10/5/25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3D3A62-BF03-BCF3-0312-9D472810C4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97628C-FD79-55C3-930E-D33D6CA276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CD531-4ABD-734A-8309-089B374898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1508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69B720E-B3FE-E03D-9DD2-9ECE84FC39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6D31-391B-7D48-9EAA-1C0849DA31E4}" type="datetimeFigureOut">
              <a:rPr lang="en-US" smtClean="0"/>
              <a:t>10/5/25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23EEFC-9B16-69EB-9D05-EBAD131594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251584-2588-8C14-F002-DC278D586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CD531-4ABD-734A-8309-089B374898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60572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F326E8-AC55-C411-0F19-5A9C1D28E5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864321-0293-0B67-47BC-1033F6B826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6288A1-3C7A-C3DD-4122-3B77F4F703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F0014C-8282-9E6F-9AE1-7CD7CF7A03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6D31-391B-7D48-9EAA-1C0849DA31E4}" type="datetimeFigureOut">
              <a:rPr lang="en-US" smtClean="0"/>
              <a:t>10/5/25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59737B-C3BA-3400-805F-A9A71DB385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D4918B-FB01-F614-CAA3-C9F552F6A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CD531-4ABD-734A-8309-089B374898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0734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191422-AE0D-E03F-11EB-8482EDC165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155F08-222A-0088-F049-1A8C784BD1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58BD72-DE52-4231-58FB-E4B5065932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E9D52E-B468-E628-3B19-A81FECAE1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6D31-391B-7D48-9EAA-1C0849DA31E4}" type="datetimeFigureOut">
              <a:rPr lang="en-US" smtClean="0"/>
              <a:t>10/5/25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CEBEE7-9402-4094-D690-BDEC513044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E0A56E-F20D-2486-093E-C744D50C0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CD531-4ABD-734A-8309-089B374898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397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215E28-7E41-ABCB-7F88-34DED2A643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39977-0111-2A58-69F7-A3559D4807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7CE641-A2D0-D234-76D0-D7CA80F55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6D31-391B-7D48-9EAA-1C0849DA31E4}" type="datetimeFigureOut">
              <a:rPr lang="en-US" smtClean="0"/>
              <a:t>10/5/25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B3AD21-41FA-E168-9EFE-F523097239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6A88B2-A3E4-8B87-9B95-507913A9D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CD531-4ABD-734A-8309-089B374898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12596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5A8996A-573C-A427-7B93-22B6A4CCE63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0D98C1-2E46-A39A-A7D3-8155B246FB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3D7393-9415-1BCE-27A5-7856A5230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6D31-391B-7D48-9EAA-1C0849DA31E4}" type="datetimeFigureOut">
              <a:rPr lang="en-US" smtClean="0"/>
              <a:t>10/5/25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A3F337-B390-A977-1AE1-C262321CC5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58C897-E189-5C26-759E-289CC2B67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CD531-4ABD-734A-8309-089B374898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42933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56CD9F-48CE-94CC-FAE5-9F98408719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676CBD-9B0D-B3B1-CE7F-4E9300239E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07127B-0A34-59C6-3FE5-1A33B888FE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9A6D31-391B-7D48-9EAA-1C0849DA31E4}" type="datetimeFigureOut">
              <a:rPr lang="en-US" smtClean="0"/>
              <a:t>10/5/25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AB0902-BFD6-2BA0-2BC5-154BCCE708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940D84-DE59-E522-2A58-3541C1C239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6CD531-4ABD-734A-8309-089B374898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81044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A777D57-3A78-A54F-BAE7-8DF853AA552B}"/>
              </a:ext>
            </a:extLst>
          </p:cNvPr>
          <p:cNvSpPr txBox="1"/>
          <p:nvPr/>
        </p:nvSpPr>
        <p:spPr>
          <a:xfrm>
            <a:off x="0" y="-11575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Week 6: Set forth Cambio 1.0 Equations, and how to solve them with Euler’s method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1548742-9E67-DD20-2854-6F0DCEA517FA}"/>
              </a:ext>
            </a:extLst>
          </p:cNvPr>
          <p:cNvGrpSpPr/>
          <p:nvPr/>
        </p:nvGrpSpPr>
        <p:grpSpPr>
          <a:xfrm>
            <a:off x="0" y="669771"/>
            <a:ext cx="12018895" cy="4036900"/>
            <a:chOff x="0" y="1410550"/>
            <a:chExt cx="12018895" cy="4036900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36B18E83-A3B6-647E-FFCE-481748BE08D4}"/>
                </a:ext>
              </a:extLst>
            </p:cNvPr>
            <p:cNvGrpSpPr/>
            <p:nvPr/>
          </p:nvGrpSpPr>
          <p:grpSpPr>
            <a:xfrm>
              <a:off x="0" y="1410550"/>
              <a:ext cx="12018895" cy="4036900"/>
              <a:chOff x="361243" y="1562543"/>
              <a:chExt cx="12018895" cy="4036900"/>
            </a:xfrm>
          </p:grpSpPr>
          <p:pic>
            <p:nvPicPr>
              <p:cNvPr id="4" name="Picture 3">
                <a:extLst>
                  <a:ext uri="{FF2B5EF4-FFF2-40B4-BE49-F238E27FC236}">
                    <a16:creationId xmlns:a16="http://schemas.microsoft.com/office/drawing/2014/main" id="{7802B3F3-4C48-BF40-B23D-890FC4F81828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40288" t="26695"/>
              <a:stretch/>
            </p:blipFill>
            <p:spPr>
              <a:xfrm>
                <a:off x="361243" y="1573429"/>
                <a:ext cx="5734757" cy="4026014"/>
              </a:xfrm>
              <a:prstGeom prst="rect">
                <a:avLst/>
              </a:prstGeom>
            </p:spPr>
          </p:pic>
          <p:pic>
            <p:nvPicPr>
              <p:cNvPr id="7" name="Picture 2" descr="Draft diagram of the carbon cycle.">
                <a:extLst>
                  <a:ext uri="{FF2B5EF4-FFF2-40B4-BE49-F238E27FC236}">
                    <a16:creationId xmlns:a16="http://schemas.microsoft.com/office/drawing/2014/main" id="{61C4C961-6507-334B-9224-D58B8D61563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411454" y="1585004"/>
                <a:ext cx="5968684" cy="397912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8" name="Frame 7">
                <a:extLst>
                  <a:ext uri="{FF2B5EF4-FFF2-40B4-BE49-F238E27FC236}">
                    <a16:creationId xmlns:a16="http://schemas.microsoft.com/office/drawing/2014/main" id="{2806B32D-D4CB-7093-4B52-B102CA29268F}"/>
                  </a:ext>
                </a:extLst>
              </p:cNvPr>
              <p:cNvSpPr/>
              <p:nvPr/>
            </p:nvSpPr>
            <p:spPr>
              <a:xfrm>
                <a:off x="584099" y="1562543"/>
                <a:ext cx="5620758" cy="4001583"/>
              </a:xfrm>
              <a:prstGeom prst="frame">
                <a:avLst>
                  <a:gd name="adj1" fmla="val 1770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4D13074F-0209-C93F-102A-040A7A53F552}"/>
                </a:ext>
              </a:extLst>
            </p:cNvPr>
            <p:cNvSpPr/>
            <p:nvPr/>
          </p:nvSpPr>
          <p:spPr>
            <a:xfrm>
              <a:off x="9817264" y="2336524"/>
              <a:ext cx="439838" cy="439838"/>
            </a:xfrm>
            <a:prstGeom prst="ellipse">
              <a:avLst/>
            </a:prstGeom>
            <a:solidFill>
              <a:schemeClr val="tx1">
                <a:alpha val="1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6B373837-1A92-C769-07C2-0DD45E814F86}"/>
              </a:ext>
            </a:extLst>
          </p:cNvPr>
          <p:cNvSpPr txBox="1"/>
          <p:nvPr/>
        </p:nvSpPr>
        <p:spPr>
          <a:xfrm>
            <a:off x="609600" y="4706725"/>
            <a:ext cx="102320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Inside the Euler loop (math):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22A5EFF-6123-57F1-8031-8C49A194CE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963" y="5315570"/>
            <a:ext cx="11896074" cy="1029963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9237280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A777D57-3A78-A54F-BAE7-8DF853AA552B}"/>
              </a:ext>
            </a:extLst>
          </p:cNvPr>
          <p:cNvSpPr txBox="1"/>
          <p:nvPr/>
        </p:nvSpPr>
        <p:spPr>
          <a:xfrm>
            <a:off x="0" y="-11575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Week 6: Set forth Cambio 1.0 Equations, and how to solve them with Euler’s method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1548742-9E67-DD20-2854-6F0DCEA517FA}"/>
              </a:ext>
            </a:extLst>
          </p:cNvPr>
          <p:cNvGrpSpPr/>
          <p:nvPr/>
        </p:nvGrpSpPr>
        <p:grpSpPr>
          <a:xfrm>
            <a:off x="0" y="669771"/>
            <a:ext cx="12018895" cy="4036900"/>
            <a:chOff x="0" y="1410550"/>
            <a:chExt cx="12018895" cy="4036900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36B18E83-A3B6-647E-FFCE-481748BE08D4}"/>
                </a:ext>
              </a:extLst>
            </p:cNvPr>
            <p:cNvGrpSpPr/>
            <p:nvPr/>
          </p:nvGrpSpPr>
          <p:grpSpPr>
            <a:xfrm>
              <a:off x="0" y="1410550"/>
              <a:ext cx="12018895" cy="4036900"/>
              <a:chOff x="361243" y="1562543"/>
              <a:chExt cx="12018895" cy="4036900"/>
            </a:xfrm>
          </p:grpSpPr>
          <p:pic>
            <p:nvPicPr>
              <p:cNvPr id="4" name="Picture 3">
                <a:extLst>
                  <a:ext uri="{FF2B5EF4-FFF2-40B4-BE49-F238E27FC236}">
                    <a16:creationId xmlns:a16="http://schemas.microsoft.com/office/drawing/2014/main" id="{7802B3F3-4C48-BF40-B23D-890FC4F81828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40288" t="26695"/>
              <a:stretch/>
            </p:blipFill>
            <p:spPr>
              <a:xfrm>
                <a:off x="361243" y="1573429"/>
                <a:ext cx="5734757" cy="4026014"/>
              </a:xfrm>
              <a:prstGeom prst="rect">
                <a:avLst/>
              </a:prstGeom>
            </p:spPr>
          </p:pic>
          <p:pic>
            <p:nvPicPr>
              <p:cNvPr id="7" name="Picture 2" descr="Draft diagram of the carbon cycle.">
                <a:extLst>
                  <a:ext uri="{FF2B5EF4-FFF2-40B4-BE49-F238E27FC236}">
                    <a16:creationId xmlns:a16="http://schemas.microsoft.com/office/drawing/2014/main" id="{61C4C961-6507-334B-9224-D58B8D61563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411454" y="1585004"/>
                <a:ext cx="5968684" cy="397912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8" name="Frame 7">
                <a:extLst>
                  <a:ext uri="{FF2B5EF4-FFF2-40B4-BE49-F238E27FC236}">
                    <a16:creationId xmlns:a16="http://schemas.microsoft.com/office/drawing/2014/main" id="{2806B32D-D4CB-7093-4B52-B102CA29268F}"/>
                  </a:ext>
                </a:extLst>
              </p:cNvPr>
              <p:cNvSpPr/>
              <p:nvPr/>
            </p:nvSpPr>
            <p:spPr>
              <a:xfrm>
                <a:off x="584099" y="1562543"/>
                <a:ext cx="5620758" cy="4001583"/>
              </a:xfrm>
              <a:prstGeom prst="frame">
                <a:avLst>
                  <a:gd name="adj1" fmla="val 1770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4D13074F-0209-C93F-102A-040A7A53F552}"/>
                </a:ext>
              </a:extLst>
            </p:cNvPr>
            <p:cNvSpPr/>
            <p:nvPr/>
          </p:nvSpPr>
          <p:spPr>
            <a:xfrm>
              <a:off x="9817264" y="2336524"/>
              <a:ext cx="439838" cy="439838"/>
            </a:xfrm>
            <a:prstGeom prst="ellipse">
              <a:avLst/>
            </a:prstGeom>
            <a:solidFill>
              <a:schemeClr val="tx1">
                <a:alpha val="1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6B373837-1A92-C769-07C2-0DD45E814F86}"/>
              </a:ext>
            </a:extLst>
          </p:cNvPr>
          <p:cNvSpPr txBox="1"/>
          <p:nvPr/>
        </p:nvSpPr>
        <p:spPr>
          <a:xfrm>
            <a:off x="609600" y="4706725"/>
            <a:ext cx="102320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Inside the Euler loop (Python):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FF45C8E-6F6F-4E5F-D8AA-202867C999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88435" y="5262255"/>
            <a:ext cx="8415129" cy="1139166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8642716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ADF2EAF-D784-A67B-B4ED-E637DECE49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47838" y="677357"/>
            <a:ext cx="6316128" cy="469630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A777D57-3A78-A54F-BAE7-8DF853AA552B}"/>
              </a:ext>
            </a:extLst>
          </p:cNvPr>
          <p:cNvSpPr txBox="1"/>
          <p:nvPr/>
        </p:nvSpPr>
        <p:spPr>
          <a:xfrm>
            <a:off x="0" y="0"/>
            <a:ext cx="11922176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Amounts in the atmosphere and the upper ocean in pre-industrial times</a:t>
            </a:r>
          </a:p>
        </p:txBody>
      </p:sp>
      <p:pic>
        <p:nvPicPr>
          <p:cNvPr id="6" name="Picture 2" descr="Draft diagram of the carbon cycle.">
            <a:extLst>
              <a:ext uri="{FF2B5EF4-FFF2-40B4-BE49-F238E27FC236}">
                <a16:creationId xmlns:a16="http://schemas.microsoft.com/office/drawing/2014/main" id="{F8DA6C62-5280-CAF8-7D00-E3035ACC76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1070" y="1621920"/>
            <a:ext cx="4961106" cy="33074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7DC1FF23-874F-B664-EDA8-6A0A434F4DF6}"/>
              </a:ext>
            </a:extLst>
          </p:cNvPr>
          <p:cNvGrpSpPr>
            <a:grpSpLocks noChangeAspect="1"/>
          </p:cNvGrpSpPr>
          <p:nvPr/>
        </p:nvGrpSpPr>
        <p:grpSpPr>
          <a:xfrm>
            <a:off x="495301" y="3564660"/>
            <a:ext cx="1931609" cy="899009"/>
            <a:chOff x="559852" y="3806190"/>
            <a:chExt cx="2183348" cy="1016173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0D9AB8BE-A3B0-6FE7-94BC-91564DF128B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88670" y="3806190"/>
              <a:ext cx="148590" cy="16002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37705DB-2968-C3FD-0084-6244523A94EC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59852" y="4091798"/>
              <a:ext cx="2183348" cy="7305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Pre-industrial carbon amounts </a:t>
              </a:r>
            </a:p>
          </p:txBody>
        </p:sp>
      </p:grpSp>
      <p:sp>
        <p:nvSpPr>
          <p:cNvPr id="12" name="Oval 11">
            <a:extLst>
              <a:ext uri="{FF2B5EF4-FFF2-40B4-BE49-F238E27FC236}">
                <a16:creationId xmlns:a16="http://schemas.microsoft.com/office/drawing/2014/main" id="{C2DF18EF-C3A3-6DD8-4A99-D4B8F22E94A0}"/>
              </a:ext>
            </a:extLst>
          </p:cNvPr>
          <p:cNvSpPr>
            <a:spLocks noChangeAspect="1"/>
          </p:cNvSpPr>
          <p:nvPr/>
        </p:nvSpPr>
        <p:spPr>
          <a:xfrm>
            <a:off x="701547" y="4608600"/>
            <a:ext cx="131458" cy="141570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DBF7184-6DC4-B9CB-62AC-100AEC19AA53}"/>
              </a:ext>
            </a:extLst>
          </p:cNvPr>
          <p:cNvSpPr txBox="1"/>
          <p:nvPr/>
        </p:nvSpPr>
        <p:spPr>
          <a:xfrm>
            <a:off x="7532370" y="995626"/>
            <a:ext cx="4470075" cy="46166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1"/>
                </a:solidFill>
              </a:rPr>
              <a:t>590 GtC in air (pre-industrial)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59E9CEC-E171-D0AC-5D50-342B61F9E8AF}"/>
              </a:ext>
            </a:extLst>
          </p:cNvPr>
          <p:cNvSpPr txBox="1"/>
          <p:nvPr/>
        </p:nvSpPr>
        <p:spPr>
          <a:xfrm>
            <a:off x="6480809" y="5281884"/>
            <a:ext cx="5521635" cy="461665"/>
          </a:xfrm>
          <a:prstGeom prst="rect">
            <a:avLst/>
          </a:prstGeom>
          <a:solidFill>
            <a:srgbClr val="50ECEC"/>
          </a:solidFill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2"/>
                </a:solidFill>
              </a:rPr>
              <a:t>411 GtC in upper ocean (pre-industrial)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149A9AC-F206-4918-F0ED-136E3DE71FE1}"/>
              </a:ext>
            </a:extLst>
          </p:cNvPr>
          <p:cNvCxnSpPr>
            <a:cxnSpLocks/>
          </p:cNvCxnSpPr>
          <p:nvPr/>
        </p:nvCxnSpPr>
        <p:spPr>
          <a:xfrm flipV="1">
            <a:off x="9989820" y="3154680"/>
            <a:ext cx="0" cy="2150064"/>
          </a:xfrm>
          <a:prstGeom prst="straightConnector1">
            <a:avLst/>
          </a:prstGeom>
          <a:ln w="127000">
            <a:solidFill>
              <a:srgbClr val="50ECEC">
                <a:alpha val="54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EBEC3405-B3CA-FE3C-77C9-4B9D7EF6F789}"/>
              </a:ext>
            </a:extLst>
          </p:cNvPr>
          <p:cNvCxnSpPr>
            <a:cxnSpLocks/>
          </p:cNvCxnSpPr>
          <p:nvPr/>
        </p:nvCxnSpPr>
        <p:spPr>
          <a:xfrm>
            <a:off x="9970770" y="1457291"/>
            <a:ext cx="0" cy="856313"/>
          </a:xfrm>
          <a:prstGeom prst="straightConnector1">
            <a:avLst/>
          </a:prstGeom>
          <a:ln w="127000">
            <a:solidFill>
              <a:schemeClr val="accent1">
                <a:alpha val="54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56531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93B6508-7D8C-EC7F-C586-FA6078142B8E}"/>
              </a:ext>
            </a:extLst>
          </p:cNvPr>
          <p:cNvSpPr txBox="1"/>
          <p:nvPr/>
        </p:nvSpPr>
        <p:spPr>
          <a:xfrm>
            <a:off x="312889" y="1063795"/>
            <a:ext cx="4471762" cy="46166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For this emissions scenario …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AF37858-A96E-3E49-A069-1B6FB374460C}"/>
              </a:ext>
            </a:extLst>
          </p:cNvPr>
          <p:cNvSpPr txBox="1"/>
          <p:nvPr/>
        </p:nvSpPr>
        <p:spPr>
          <a:xfrm>
            <a:off x="312889" y="4409896"/>
            <a:ext cx="5025230" cy="83099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... here are the amounts of Carbon (</a:t>
            </a:r>
            <a:r>
              <a:rPr lang="en-US" sz="2400" dirty="0" err="1"/>
              <a:t>GtC</a:t>
            </a:r>
            <a:r>
              <a:rPr lang="en-US" sz="2400" dirty="0"/>
              <a:t>) in the climate system.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FBFA576-8466-23E1-C2DF-B5B5B6B21BCC}"/>
              </a:ext>
            </a:extLst>
          </p:cNvPr>
          <p:cNvSpPr txBox="1"/>
          <p:nvPr/>
        </p:nvSpPr>
        <p:spPr>
          <a:xfrm>
            <a:off x="0" y="-11575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A peek into the output: the time delay between peak emission and peak concentration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273D4456-4892-4F4D-652E-D64EB7778400}"/>
              </a:ext>
            </a:extLst>
          </p:cNvPr>
          <p:cNvGrpSpPr/>
          <p:nvPr/>
        </p:nvGrpSpPr>
        <p:grpSpPr>
          <a:xfrm>
            <a:off x="5438885" y="594209"/>
            <a:ext cx="5358775" cy="5890660"/>
            <a:chOff x="5438885" y="594209"/>
            <a:chExt cx="5358775" cy="5890660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4872DF15-C009-4719-5593-431BB41B88A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4933" b="6929"/>
            <a:stretch/>
          </p:blipFill>
          <p:spPr>
            <a:xfrm>
              <a:off x="5438885" y="3704039"/>
              <a:ext cx="5358775" cy="2780830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6E5949E8-540F-20E2-E2B8-8209C3BC87C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7503" t="8058"/>
            <a:stretch/>
          </p:blipFill>
          <p:spPr>
            <a:xfrm>
              <a:off x="5598165" y="594209"/>
              <a:ext cx="5127095" cy="2916939"/>
            </a:xfrm>
            <a:prstGeom prst="rect">
              <a:avLst/>
            </a:prstGeom>
          </p:spPr>
        </p:pic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481D05A8-DAF6-338F-8392-97C2CCF03E60}"/>
                </a:ext>
              </a:extLst>
            </p:cNvPr>
            <p:cNvGrpSpPr/>
            <p:nvPr/>
          </p:nvGrpSpPr>
          <p:grpSpPr>
            <a:xfrm>
              <a:off x="8315674" y="696501"/>
              <a:ext cx="159476" cy="3414641"/>
              <a:chOff x="8315674" y="696501"/>
              <a:chExt cx="159476" cy="3414641"/>
            </a:xfrm>
          </p:grpSpPr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FB645CF8-2986-9C76-65F5-CE2F5EF6B78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315674" y="696501"/>
                <a:ext cx="0" cy="3414641"/>
              </a:xfrm>
              <a:prstGeom prst="line">
                <a:avLst/>
              </a:prstGeom>
              <a:ln w="25400">
                <a:solidFill>
                  <a:schemeClr val="accent3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Right Arrow 14">
                <a:extLst>
                  <a:ext uri="{FF2B5EF4-FFF2-40B4-BE49-F238E27FC236}">
                    <a16:creationId xmlns:a16="http://schemas.microsoft.com/office/drawing/2014/main" id="{E8ADEFCE-64CF-D931-70CC-EDF831E55F63}"/>
                  </a:ext>
                </a:extLst>
              </p:cNvPr>
              <p:cNvSpPr/>
              <p:nvPr/>
            </p:nvSpPr>
            <p:spPr>
              <a:xfrm>
                <a:off x="8315674" y="3429000"/>
                <a:ext cx="159476" cy="275039"/>
              </a:xfrm>
              <a:prstGeom prst="rightArrow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A1616152-365C-C15E-F2F6-2809E82AF352}"/>
                </a:ext>
              </a:extLst>
            </p:cNvPr>
            <p:cNvCxnSpPr>
              <a:cxnSpLocks/>
            </p:cNvCxnSpPr>
            <p:nvPr/>
          </p:nvCxnSpPr>
          <p:spPr>
            <a:xfrm>
              <a:off x="8475150" y="3234690"/>
              <a:ext cx="2" cy="715518"/>
            </a:xfrm>
            <a:prstGeom prst="line">
              <a:avLst/>
            </a:prstGeom>
            <a:ln w="25400">
              <a:solidFill>
                <a:schemeClr val="accent3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633F33E0-2A07-4634-2B3E-8E676D441374}"/>
              </a:ext>
            </a:extLst>
          </p:cNvPr>
          <p:cNvSpPr txBox="1"/>
          <p:nvPr/>
        </p:nvSpPr>
        <p:spPr>
          <a:xfrm>
            <a:off x="8925641" y="3376761"/>
            <a:ext cx="2790235" cy="46166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2400" dirty="0"/>
              <a:t>There is this delay …</a:t>
            </a:r>
          </a:p>
        </p:txBody>
      </p:sp>
    </p:spTree>
    <p:extLst>
      <p:ext uri="{BB962C8B-B14F-4D97-AF65-F5344CB8AC3E}">
        <p14:creationId xmlns:p14="http://schemas.microsoft.com/office/powerpoint/2010/main" val="11976924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B8FF3F1-D2A3-CB75-1684-089A11BECC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234" y="521153"/>
            <a:ext cx="7652228" cy="581569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05FA501-585D-ED60-7FE6-F3C502CE10D6}"/>
              </a:ext>
            </a:extLst>
          </p:cNvPr>
          <p:cNvSpPr txBox="1"/>
          <p:nvPr/>
        </p:nvSpPr>
        <p:spPr>
          <a:xfrm>
            <a:off x="0" y="-11575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Net fluxes</a:t>
            </a:r>
          </a:p>
        </p:txBody>
      </p:sp>
    </p:spTree>
    <p:extLst>
      <p:ext uri="{BB962C8B-B14F-4D97-AF65-F5344CB8AC3E}">
        <p14:creationId xmlns:p14="http://schemas.microsoft.com/office/powerpoint/2010/main" val="6782722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B8FF3F1-D2A3-CB75-1684-089A11BECC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234" y="521153"/>
            <a:ext cx="7652228" cy="581569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05FA501-585D-ED60-7FE6-F3C502CE10D6}"/>
              </a:ext>
            </a:extLst>
          </p:cNvPr>
          <p:cNvSpPr txBox="1"/>
          <p:nvPr/>
        </p:nvSpPr>
        <p:spPr>
          <a:xfrm>
            <a:off x="0" y="-11575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Net fluxes around the year 2003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046F4AE1-3F50-D7AA-F55B-F73411E97581}"/>
              </a:ext>
            </a:extLst>
          </p:cNvPr>
          <p:cNvGrpSpPr/>
          <p:nvPr/>
        </p:nvGrpSpPr>
        <p:grpSpPr>
          <a:xfrm>
            <a:off x="5387615" y="2447629"/>
            <a:ext cx="54426" cy="2358051"/>
            <a:chOff x="6487887" y="2554309"/>
            <a:chExt cx="54426" cy="2358051"/>
          </a:xfrm>
        </p:grpSpPr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9A801D34-70C8-9E52-1545-1E7E3591073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487887" y="2554309"/>
              <a:ext cx="1" cy="1716749"/>
            </a:xfrm>
            <a:prstGeom prst="straightConnector1">
              <a:avLst/>
            </a:prstGeom>
            <a:ln w="63500">
              <a:solidFill>
                <a:schemeClr val="accent3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8A76FC11-54C7-A041-0B01-CADBC9A5E178}"/>
                </a:ext>
              </a:extLst>
            </p:cNvPr>
            <p:cNvCxnSpPr>
              <a:cxnSpLocks/>
            </p:cNvCxnSpPr>
            <p:nvPr/>
          </p:nvCxnSpPr>
          <p:spPr>
            <a:xfrm>
              <a:off x="6542313" y="4303691"/>
              <a:ext cx="0" cy="410549"/>
            </a:xfrm>
            <a:prstGeom prst="straightConnector1">
              <a:avLst/>
            </a:prstGeom>
            <a:ln w="63500">
              <a:solidFill>
                <a:schemeClr val="accent1">
                  <a:alpha val="54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0BBEC9B8-5B4B-F10E-7C5E-128A6771992A}"/>
                </a:ext>
              </a:extLst>
            </p:cNvPr>
            <p:cNvCxnSpPr>
              <a:cxnSpLocks/>
            </p:cNvCxnSpPr>
            <p:nvPr/>
          </p:nvCxnSpPr>
          <p:spPr>
            <a:xfrm>
              <a:off x="6487887" y="4303691"/>
              <a:ext cx="0" cy="608669"/>
            </a:xfrm>
            <a:prstGeom prst="straightConnector1">
              <a:avLst/>
            </a:prstGeom>
            <a:ln w="63500">
              <a:solidFill>
                <a:srgbClr val="00B050">
                  <a:alpha val="54000"/>
                </a:srgb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28D27199-735D-353D-CF6C-7928D89DA0DB}"/>
              </a:ext>
            </a:extLst>
          </p:cNvPr>
          <p:cNvGrpSpPr/>
          <p:nvPr/>
        </p:nvGrpSpPr>
        <p:grpSpPr>
          <a:xfrm>
            <a:off x="3339882" y="2237540"/>
            <a:ext cx="4010688" cy="2778229"/>
            <a:chOff x="3321953" y="2237540"/>
            <a:chExt cx="4010688" cy="2778229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E1AEF1C1-3F28-FE50-87B3-5B212FD1B45A}"/>
                </a:ext>
              </a:extLst>
            </p:cNvPr>
            <p:cNvSpPr txBox="1"/>
            <p:nvPr/>
          </p:nvSpPr>
          <p:spPr>
            <a:xfrm>
              <a:off x="3321953" y="2237540"/>
              <a:ext cx="2058789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dirty="0"/>
                <a:t>9.0 </a:t>
              </a:r>
              <a:r>
                <a:rPr lang="en-US" sz="2400" dirty="0" err="1"/>
                <a:t>GtC</a:t>
              </a:r>
              <a:r>
                <a:rPr lang="en-US" sz="2400" dirty="0"/>
                <a:t>/</a:t>
              </a:r>
              <a:r>
                <a:rPr lang="en-US" sz="2400" dirty="0" err="1"/>
                <a:t>yr</a:t>
              </a:r>
              <a:endParaRPr lang="en-US" sz="2400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8C32853A-57AE-54B9-5020-922BB1C5C486}"/>
                </a:ext>
              </a:extLst>
            </p:cNvPr>
            <p:cNvSpPr txBox="1"/>
            <p:nvPr/>
          </p:nvSpPr>
          <p:spPr>
            <a:xfrm>
              <a:off x="3436714" y="4554104"/>
              <a:ext cx="2058789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dirty="0">
                  <a:solidFill>
                    <a:srgbClr val="00B050"/>
                  </a:solidFill>
                </a:rPr>
                <a:t>-3.0 </a:t>
              </a:r>
              <a:r>
                <a:rPr lang="en-US" sz="2400" dirty="0" err="1">
                  <a:solidFill>
                    <a:srgbClr val="00B050"/>
                  </a:solidFill>
                </a:rPr>
                <a:t>GtC</a:t>
              </a:r>
              <a:r>
                <a:rPr lang="en-US" sz="2400" dirty="0">
                  <a:solidFill>
                    <a:srgbClr val="00B050"/>
                  </a:solidFill>
                </a:rPr>
                <a:t>/</a:t>
              </a:r>
              <a:r>
                <a:rPr lang="en-US" sz="2400" dirty="0" err="1">
                  <a:solidFill>
                    <a:srgbClr val="00B050"/>
                  </a:solidFill>
                </a:rPr>
                <a:t>yr</a:t>
              </a:r>
              <a:endParaRPr lang="en-US" sz="2400" dirty="0">
                <a:solidFill>
                  <a:srgbClr val="00B050"/>
                </a:solidFill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5272D87-01B1-FF68-0DFC-5DBD9EEF1C4E}"/>
                </a:ext>
              </a:extLst>
            </p:cNvPr>
            <p:cNvSpPr txBox="1"/>
            <p:nvPr/>
          </p:nvSpPr>
          <p:spPr>
            <a:xfrm>
              <a:off x="5273852" y="4224184"/>
              <a:ext cx="2058789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dirty="0">
                  <a:solidFill>
                    <a:schemeClr val="accent1"/>
                  </a:solidFill>
                </a:rPr>
                <a:t>-2.0 </a:t>
              </a:r>
              <a:r>
                <a:rPr lang="en-US" sz="2400" dirty="0" err="1">
                  <a:solidFill>
                    <a:schemeClr val="accent1"/>
                  </a:solidFill>
                </a:rPr>
                <a:t>GtC</a:t>
              </a:r>
              <a:r>
                <a:rPr lang="en-US" sz="2400" dirty="0">
                  <a:solidFill>
                    <a:schemeClr val="accent1"/>
                  </a:solidFill>
                </a:rPr>
                <a:t>/</a:t>
              </a:r>
              <a:r>
                <a:rPr lang="en-US" sz="2400" dirty="0" err="1">
                  <a:solidFill>
                    <a:schemeClr val="accent1"/>
                  </a:solidFill>
                </a:rPr>
                <a:t>yr</a:t>
              </a:r>
              <a:endParaRPr lang="en-US" sz="2400" dirty="0">
                <a:solidFill>
                  <a:schemeClr val="accent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645880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05FA501-585D-ED60-7FE6-F3C502CE10D6}"/>
              </a:ext>
            </a:extLst>
          </p:cNvPr>
          <p:cNvSpPr txBox="1"/>
          <p:nvPr/>
        </p:nvSpPr>
        <p:spPr>
          <a:xfrm>
            <a:off x="0" y="-11575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For comparison with NASA’s Global Carbon Cycle (GCC) diagram (also around year 2003)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7E57A5E-AAD4-8F8F-13CA-9F19B95AAF30}"/>
              </a:ext>
            </a:extLst>
          </p:cNvPr>
          <p:cNvSpPr txBox="1"/>
          <p:nvPr/>
        </p:nvSpPr>
        <p:spPr>
          <a:xfrm>
            <a:off x="8188124" y="1735604"/>
            <a:ext cx="372487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Seems like pretty good agreement!</a:t>
            </a:r>
          </a:p>
        </p:txBody>
      </p:sp>
      <p:pic>
        <p:nvPicPr>
          <p:cNvPr id="3" name="Picture 2" descr="Draft diagram of the carbon cycle.">
            <a:extLst>
              <a:ext uri="{FF2B5EF4-FFF2-40B4-BE49-F238E27FC236}">
                <a16:creationId xmlns:a16="http://schemas.microsoft.com/office/drawing/2014/main" id="{9F2083BC-7B8A-5D0F-5257-C6CF1E81B7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002" y="814200"/>
            <a:ext cx="7739820" cy="51598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52425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B8FF3F1-D2A3-CB75-1684-089A11BECC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234" y="521153"/>
            <a:ext cx="7652228" cy="581569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05FA501-585D-ED60-7FE6-F3C502CE10D6}"/>
              </a:ext>
            </a:extLst>
          </p:cNvPr>
          <p:cNvSpPr txBox="1"/>
          <p:nvPr/>
        </p:nvSpPr>
        <p:spPr>
          <a:xfrm>
            <a:off x="0" y="-11575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Net fluxes around the year 2003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046F4AE1-3F50-D7AA-F55B-F73411E97581}"/>
              </a:ext>
            </a:extLst>
          </p:cNvPr>
          <p:cNvGrpSpPr/>
          <p:nvPr/>
        </p:nvGrpSpPr>
        <p:grpSpPr>
          <a:xfrm>
            <a:off x="5387615" y="2447629"/>
            <a:ext cx="54426" cy="2358051"/>
            <a:chOff x="6487887" y="2554309"/>
            <a:chExt cx="54426" cy="2358051"/>
          </a:xfrm>
        </p:grpSpPr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9A801D34-70C8-9E52-1545-1E7E3591073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487887" y="2554309"/>
              <a:ext cx="1" cy="1716749"/>
            </a:xfrm>
            <a:prstGeom prst="straightConnector1">
              <a:avLst/>
            </a:prstGeom>
            <a:ln w="63500">
              <a:solidFill>
                <a:schemeClr val="accent3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8A76FC11-54C7-A041-0B01-CADBC9A5E178}"/>
                </a:ext>
              </a:extLst>
            </p:cNvPr>
            <p:cNvCxnSpPr>
              <a:cxnSpLocks/>
            </p:cNvCxnSpPr>
            <p:nvPr/>
          </p:nvCxnSpPr>
          <p:spPr>
            <a:xfrm>
              <a:off x="6542313" y="4303691"/>
              <a:ext cx="0" cy="410549"/>
            </a:xfrm>
            <a:prstGeom prst="straightConnector1">
              <a:avLst/>
            </a:prstGeom>
            <a:ln w="63500">
              <a:solidFill>
                <a:schemeClr val="accent1">
                  <a:alpha val="54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0BBEC9B8-5B4B-F10E-7C5E-128A6771992A}"/>
                </a:ext>
              </a:extLst>
            </p:cNvPr>
            <p:cNvCxnSpPr>
              <a:cxnSpLocks/>
            </p:cNvCxnSpPr>
            <p:nvPr/>
          </p:nvCxnSpPr>
          <p:spPr>
            <a:xfrm>
              <a:off x="6487887" y="4303691"/>
              <a:ext cx="0" cy="608669"/>
            </a:xfrm>
            <a:prstGeom prst="straightConnector1">
              <a:avLst/>
            </a:prstGeom>
            <a:ln w="63500">
              <a:solidFill>
                <a:srgbClr val="00B050">
                  <a:alpha val="54000"/>
                </a:srgb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28D27199-735D-353D-CF6C-7928D89DA0DB}"/>
              </a:ext>
            </a:extLst>
          </p:cNvPr>
          <p:cNvGrpSpPr/>
          <p:nvPr/>
        </p:nvGrpSpPr>
        <p:grpSpPr>
          <a:xfrm>
            <a:off x="3339882" y="2237540"/>
            <a:ext cx="4010688" cy="2778229"/>
            <a:chOff x="3321953" y="2237540"/>
            <a:chExt cx="4010688" cy="2778229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E1AEF1C1-3F28-FE50-87B3-5B212FD1B45A}"/>
                </a:ext>
              </a:extLst>
            </p:cNvPr>
            <p:cNvSpPr txBox="1"/>
            <p:nvPr/>
          </p:nvSpPr>
          <p:spPr>
            <a:xfrm>
              <a:off x="3321953" y="2237540"/>
              <a:ext cx="2058789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dirty="0"/>
                <a:t>9.0 </a:t>
              </a:r>
              <a:r>
                <a:rPr lang="en-US" sz="2400" dirty="0" err="1"/>
                <a:t>GtC</a:t>
              </a:r>
              <a:r>
                <a:rPr lang="en-US" sz="2400" dirty="0"/>
                <a:t>/</a:t>
              </a:r>
              <a:r>
                <a:rPr lang="en-US" sz="2400" dirty="0" err="1"/>
                <a:t>yr</a:t>
              </a:r>
              <a:endParaRPr lang="en-US" sz="2400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8C32853A-57AE-54B9-5020-922BB1C5C486}"/>
                </a:ext>
              </a:extLst>
            </p:cNvPr>
            <p:cNvSpPr txBox="1"/>
            <p:nvPr/>
          </p:nvSpPr>
          <p:spPr>
            <a:xfrm>
              <a:off x="3436714" y="4554104"/>
              <a:ext cx="2058789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dirty="0">
                  <a:solidFill>
                    <a:srgbClr val="00B050"/>
                  </a:solidFill>
                </a:rPr>
                <a:t>-3.0 </a:t>
              </a:r>
              <a:r>
                <a:rPr lang="en-US" sz="2400" dirty="0" err="1">
                  <a:solidFill>
                    <a:srgbClr val="00B050"/>
                  </a:solidFill>
                </a:rPr>
                <a:t>GtC</a:t>
              </a:r>
              <a:r>
                <a:rPr lang="en-US" sz="2400" dirty="0">
                  <a:solidFill>
                    <a:srgbClr val="00B050"/>
                  </a:solidFill>
                </a:rPr>
                <a:t>/</a:t>
              </a:r>
              <a:r>
                <a:rPr lang="en-US" sz="2400" dirty="0" err="1">
                  <a:solidFill>
                    <a:srgbClr val="00B050"/>
                  </a:solidFill>
                </a:rPr>
                <a:t>yr</a:t>
              </a:r>
              <a:endParaRPr lang="en-US" sz="2400" dirty="0">
                <a:solidFill>
                  <a:srgbClr val="00B050"/>
                </a:solidFill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5272D87-01B1-FF68-0DFC-5DBD9EEF1C4E}"/>
                </a:ext>
              </a:extLst>
            </p:cNvPr>
            <p:cNvSpPr txBox="1"/>
            <p:nvPr/>
          </p:nvSpPr>
          <p:spPr>
            <a:xfrm>
              <a:off x="5273852" y="4224184"/>
              <a:ext cx="2058789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dirty="0">
                  <a:solidFill>
                    <a:schemeClr val="accent1"/>
                  </a:solidFill>
                </a:rPr>
                <a:t>-2.0 </a:t>
              </a:r>
              <a:r>
                <a:rPr lang="en-US" sz="2400" dirty="0" err="1">
                  <a:solidFill>
                    <a:schemeClr val="accent1"/>
                  </a:solidFill>
                </a:rPr>
                <a:t>GtC</a:t>
              </a:r>
              <a:r>
                <a:rPr lang="en-US" sz="2400" dirty="0">
                  <a:solidFill>
                    <a:schemeClr val="accent1"/>
                  </a:solidFill>
                </a:rPr>
                <a:t>/</a:t>
              </a:r>
              <a:r>
                <a:rPr lang="en-US" sz="2400" dirty="0" err="1">
                  <a:solidFill>
                    <a:schemeClr val="accent1"/>
                  </a:solidFill>
                </a:rPr>
                <a:t>yr</a:t>
              </a:r>
              <a:endParaRPr lang="en-US" sz="2400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0D9060CF-CAFF-079B-655C-3F5F7BE8CCF7}"/>
              </a:ext>
            </a:extLst>
          </p:cNvPr>
          <p:cNvSpPr txBox="1"/>
          <p:nvPr/>
        </p:nvSpPr>
        <p:spPr>
          <a:xfrm>
            <a:off x="7977011" y="3120226"/>
            <a:ext cx="3867517" cy="193899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In the year 2003, the percentage of anthropogenic emissions absorbed by the </a:t>
            </a:r>
            <a:r>
              <a:rPr lang="en-US" sz="2400" dirty="0">
                <a:solidFill>
                  <a:schemeClr val="accent1"/>
                </a:solidFill>
              </a:rPr>
              <a:t>oceans</a:t>
            </a:r>
            <a:r>
              <a:rPr lang="en-US" sz="2400" dirty="0"/>
              <a:t> was about 2.0/9.0=0.22 or </a:t>
            </a:r>
            <a:r>
              <a:rPr lang="en-US" sz="2400" b="1" dirty="0"/>
              <a:t>22%</a:t>
            </a:r>
            <a:r>
              <a:rPr lang="en-US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47349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B8FF3F1-D2A3-CB75-1684-089A11BECC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234" y="521153"/>
            <a:ext cx="7652228" cy="581569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05FA501-585D-ED60-7FE6-F3C502CE10D6}"/>
              </a:ext>
            </a:extLst>
          </p:cNvPr>
          <p:cNvSpPr txBox="1"/>
          <p:nvPr/>
        </p:nvSpPr>
        <p:spPr>
          <a:xfrm>
            <a:off x="0" y="-11575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Net fluxes around the year 2003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046F4AE1-3F50-D7AA-F55B-F73411E97581}"/>
              </a:ext>
            </a:extLst>
          </p:cNvPr>
          <p:cNvGrpSpPr/>
          <p:nvPr/>
        </p:nvGrpSpPr>
        <p:grpSpPr>
          <a:xfrm>
            <a:off x="5387615" y="2447629"/>
            <a:ext cx="54426" cy="2358051"/>
            <a:chOff x="6487887" y="2554309"/>
            <a:chExt cx="54426" cy="2358051"/>
          </a:xfrm>
        </p:grpSpPr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9A801D34-70C8-9E52-1545-1E7E3591073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487887" y="2554309"/>
              <a:ext cx="1" cy="1716749"/>
            </a:xfrm>
            <a:prstGeom prst="straightConnector1">
              <a:avLst/>
            </a:prstGeom>
            <a:ln w="63500">
              <a:solidFill>
                <a:schemeClr val="accent3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8A76FC11-54C7-A041-0B01-CADBC9A5E178}"/>
                </a:ext>
              </a:extLst>
            </p:cNvPr>
            <p:cNvCxnSpPr>
              <a:cxnSpLocks/>
            </p:cNvCxnSpPr>
            <p:nvPr/>
          </p:nvCxnSpPr>
          <p:spPr>
            <a:xfrm>
              <a:off x="6542313" y="4303691"/>
              <a:ext cx="0" cy="410549"/>
            </a:xfrm>
            <a:prstGeom prst="straightConnector1">
              <a:avLst/>
            </a:prstGeom>
            <a:ln w="63500">
              <a:solidFill>
                <a:schemeClr val="accent1">
                  <a:alpha val="54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0BBEC9B8-5B4B-F10E-7C5E-128A6771992A}"/>
                </a:ext>
              </a:extLst>
            </p:cNvPr>
            <p:cNvCxnSpPr>
              <a:cxnSpLocks/>
            </p:cNvCxnSpPr>
            <p:nvPr/>
          </p:nvCxnSpPr>
          <p:spPr>
            <a:xfrm>
              <a:off x="6487887" y="4303691"/>
              <a:ext cx="0" cy="608669"/>
            </a:xfrm>
            <a:prstGeom prst="straightConnector1">
              <a:avLst/>
            </a:prstGeom>
            <a:ln w="63500">
              <a:solidFill>
                <a:srgbClr val="00B050">
                  <a:alpha val="54000"/>
                </a:srgb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28D27199-735D-353D-CF6C-7928D89DA0DB}"/>
              </a:ext>
            </a:extLst>
          </p:cNvPr>
          <p:cNvGrpSpPr/>
          <p:nvPr/>
        </p:nvGrpSpPr>
        <p:grpSpPr>
          <a:xfrm>
            <a:off x="3339882" y="2237540"/>
            <a:ext cx="4010688" cy="2778229"/>
            <a:chOff x="3321953" y="2237540"/>
            <a:chExt cx="4010688" cy="2778229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E1AEF1C1-3F28-FE50-87B3-5B212FD1B45A}"/>
                </a:ext>
              </a:extLst>
            </p:cNvPr>
            <p:cNvSpPr txBox="1"/>
            <p:nvPr/>
          </p:nvSpPr>
          <p:spPr>
            <a:xfrm>
              <a:off x="3321953" y="2237540"/>
              <a:ext cx="2058789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dirty="0"/>
                <a:t>9.0 </a:t>
              </a:r>
              <a:r>
                <a:rPr lang="en-US" sz="2400" dirty="0" err="1"/>
                <a:t>GtC</a:t>
              </a:r>
              <a:r>
                <a:rPr lang="en-US" sz="2400" dirty="0"/>
                <a:t>/</a:t>
              </a:r>
              <a:r>
                <a:rPr lang="en-US" sz="2400" dirty="0" err="1"/>
                <a:t>yr</a:t>
              </a:r>
              <a:endParaRPr lang="en-US" sz="2400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8C32853A-57AE-54B9-5020-922BB1C5C486}"/>
                </a:ext>
              </a:extLst>
            </p:cNvPr>
            <p:cNvSpPr txBox="1"/>
            <p:nvPr/>
          </p:nvSpPr>
          <p:spPr>
            <a:xfrm>
              <a:off x="3436714" y="4554104"/>
              <a:ext cx="2058789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dirty="0">
                  <a:solidFill>
                    <a:srgbClr val="00B050"/>
                  </a:solidFill>
                </a:rPr>
                <a:t>-3.0 </a:t>
              </a:r>
              <a:r>
                <a:rPr lang="en-US" sz="2400" dirty="0" err="1">
                  <a:solidFill>
                    <a:srgbClr val="00B050"/>
                  </a:solidFill>
                </a:rPr>
                <a:t>GtC</a:t>
              </a:r>
              <a:r>
                <a:rPr lang="en-US" sz="2400" dirty="0">
                  <a:solidFill>
                    <a:srgbClr val="00B050"/>
                  </a:solidFill>
                </a:rPr>
                <a:t>/</a:t>
              </a:r>
              <a:r>
                <a:rPr lang="en-US" sz="2400" dirty="0" err="1">
                  <a:solidFill>
                    <a:srgbClr val="00B050"/>
                  </a:solidFill>
                </a:rPr>
                <a:t>yr</a:t>
              </a:r>
              <a:endParaRPr lang="en-US" sz="2400" dirty="0">
                <a:solidFill>
                  <a:srgbClr val="00B050"/>
                </a:solidFill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5272D87-01B1-FF68-0DFC-5DBD9EEF1C4E}"/>
                </a:ext>
              </a:extLst>
            </p:cNvPr>
            <p:cNvSpPr txBox="1"/>
            <p:nvPr/>
          </p:nvSpPr>
          <p:spPr>
            <a:xfrm>
              <a:off x="5273852" y="4224184"/>
              <a:ext cx="2058789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dirty="0">
                  <a:solidFill>
                    <a:schemeClr val="accent1"/>
                  </a:solidFill>
                </a:rPr>
                <a:t>-2.0 </a:t>
              </a:r>
              <a:r>
                <a:rPr lang="en-US" sz="2400" dirty="0" err="1">
                  <a:solidFill>
                    <a:schemeClr val="accent1"/>
                  </a:solidFill>
                </a:rPr>
                <a:t>GtC</a:t>
              </a:r>
              <a:r>
                <a:rPr lang="en-US" sz="2400" dirty="0">
                  <a:solidFill>
                    <a:schemeClr val="accent1"/>
                  </a:solidFill>
                </a:rPr>
                <a:t>/</a:t>
              </a:r>
              <a:r>
                <a:rPr lang="en-US" sz="2400" dirty="0" err="1">
                  <a:solidFill>
                    <a:schemeClr val="accent1"/>
                  </a:solidFill>
                </a:rPr>
                <a:t>yr</a:t>
              </a:r>
              <a:endParaRPr lang="en-US" sz="2400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0D9060CF-CAFF-079B-655C-3F5F7BE8CCF7}"/>
              </a:ext>
            </a:extLst>
          </p:cNvPr>
          <p:cNvSpPr txBox="1"/>
          <p:nvPr/>
        </p:nvSpPr>
        <p:spPr>
          <a:xfrm>
            <a:off x="7977011" y="3120226"/>
            <a:ext cx="3867517" cy="193899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In the year 2003, the percentage of anthropogenic emissions absorbed by the </a:t>
            </a:r>
            <a:r>
              <a:rPr lang="en-US" sz="2400" dirty="0">
                <a:solidFill>
                  <a:schemeClr val="accent1"/>
                </a:solidFill>
              </a:rPr>
              <a:t>oceans</a:t>
            </a:r>
            <a:r>
              <a:rPr lang="en-US" sz="2400" dirty="0"/>
              <a:t> was about 2.0/9.0=0.22 or </a:t>
            </a:r>
            <a:r>
              <a:rPr lang="en-US" sz="2400" b="1" dirty="0"/>
              <a:t>22%</a:t>
            </a:r>
            <a:r>
              <a:rPr lang="en-US" sz="2400" dirty="0"/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6547951-2481-DE8F-7DF3-F19820051AE3}"/>
              </a:ext>
            </a:extLst>
          </p:cNvPr>
          <p:cNvSpPr txBox="1"/>
          <p:nvPr/>
        </p:nvSpPr>
        <p:spPr>
          <a:xfrm>
            <a:off x="347472" y="4966332"/>
            <a:ext cx="4003876" cy="1569660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The </a:t>
            </a:r>
            <a:r>
              <a:rPr lang="en-US" sz="2400" dirty="0">
                <a:solidFill>
                  <a:srgbClr val="00B050"/>
                </a:solidFill>
              </a:rPr>
              <a:t>land</a:t>
            </a:r>
            <a:r>
              <a:rPr lang="en-US" sz="2400" dirty="0"/>
              <a:t> absorption was about 3.0/9.0=0.33 or </a:t>
            </a:r>
            <a:r>
              <a:rPr lang="en-US" sz="2400" b="1" dirty="0"/>
              <a:t>33% </a:t>
            </a:r>
            <a:r>
              <a:rPr lang="en-US" sz="2400" dirty="0"/>
              <a:t>of the anthropogenic emission that year. </a:t>
            </a:r>
          </a:p>
        </p:txBody>
      </p:sp>
    </p:spTree>
    <p:extLst>
      <p:ext uri="{BB962C8B-B14F-4D97-AF65-F5344CB8AC3E}">
        <p14:creationId xmlns:p14="http://schemas.microsoft.com/office/powerpoint/2010/main" val="5890506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57820A4-A6B8-F07A-78F3-F48BE4D861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234" y="521153"/>
            <a:ext cx="7652228" cy="581569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05FA501-585D-ED60-7FE6-F3C502CE10D6}"/>
              </a:ext>
            </a:extLst>
          </p:cNvPr>
          <p:cNvSpPr txBox="1"/>
          <p:nvPr/>
        </p:nvSpPr>
        <p:spPr>
          <a:xfrm>
            <a:off x="0" y="-11575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But oceans will eventually become sources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01F82D1-A1A5-7806-77F2-447B0C1B247D}"/>
              </a:ext>
            </a:extLst>
          </p:cNvPr>
          <p:cNvSpPr txBox="1"/>
          <p:nvPr/>
        </p:nvSpPr>
        <p:spPr>
          <a:xfrm>
            <a:off x="7970293" y="2192804"/>
            <a:ext cx="4088353" cy="341632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However, this graph shows that oceans will eventually (around the year 2060 in this scenario) start to give back their stored CO</a:t>
            </a:r>
            <a:r>
              <a:rPr lang="en-US" sz="2400" baseline="-25000" dirty="0"/>
              <a:t>2</a:t>
            </a:r>
            <a:r>
              <a:rPr lang="en-US" sz="2400" dirty="0"/>
              <a:t>.</a:t>
            </a:r>
          </a:p>
          <a:p>
            <a:endParaRPr lang="en-US" sz="2400" dirty="0"/>
          </a:p>
          <a:p>
            <a:r>
              <a:rPr lang="en-US" sz="2400" dirty="0"/>
              <a:t>So the oceans are more like a lending library for anthropogenic CO</a:t>
            </a:r>
            <a:r>
              <a:rPr lang="en-US" sz="2400" baseline="-25000" dirty="0"/>
              <a:t>2</a:t>
            </a:r>
            <a:r>
              <a:rPr lang="en-US" sz="2400" dirty="0"/>
              <a:t>. 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843F445-09F0-D08E-0943-722227729406}"/>
              </a:ext>
            </a:extLst>
          </p:cNvPr>
          <p:cNvSpPr/>
          <p:nvPr/>
        </p:nvSpPr>
        <p:spPr>
          <a:xfrm>
            <a:off x="6195376" y="4104411"/>
            <a:ext cx="121920" cy="12192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29029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5F3B0B7-FAD2-05F3-A77B-2E225DC7FC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540" y="476499"/>
            <a:ext cx="3978416" cy="295812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05FA501-585D-ED60-7FE6-F3C502CE10D6}"/>
              </a:ext>
            </a:extLst>
          </p:cNvPr>
          <p:cNvSpPr txBox="1"/>
          <p:nvPr/>
        </p:nvSpPr>
        <p:spPr>
          <a:xfrm>
            <a:off x="0" y="-11575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There’s also looking at the </a:t>
            </a:r>
            <a:r>
              <a:rPr lang="en-US" sz="2400" b="1" i="1" dirty="0"/>
              <a:t>excess</a:t>
            </a:r>
            <a:r>
              <a:rPr lang="en-US" sz="2400" b="1" dirty="0"/>
              <a:t> carbon in the atmosphere and ocean (viewed on a log scale)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4968085-7B23-A298-9E6B-F221DEC50311}"/>
              </a:ext>
            </a:extLst>
          </p:cNvPr>
          <p:cNvSpPr txBox="1"/>
          <p:nvPr/>
        </p:nvSpPr>
        <p:spPr>
          <a:xfrm>
            <a:off x="5047818" y="3779306"/>
            <a:ext cx="667375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/>
              <a:t>Excess</a:t>
            </a:r>
            <a:r>
              <a:rPr lang="en-US" sz="2400" dirty="0"/>
              <a:t> </a:t>
            </a:r>
            <a:r>
              <a:rPr lang="en-US" sz="2400" dirty="0" err="1"/>
              <a:t>C_atm</a:t>
            </a:r>
            <a:r>
              <a:rPr lang="en-US" sz="2400" dirty="0"/>
              <a:t> and </a:t>
            </a:r>
            <a:r>
              <a:rPr lang="en-US" sz="2400" dirty="0" err="1"/>
              <a:t>C_ocean</a:t>
            </a:r>
            <a:r>
              <a:rPr lang="en-US" sz="2400" dirty="0"/>
              <a:t> (i.e., the amount those values lie </a:t>
            </a:r>
            <a:r>
              <a:rPr lang="en-US" sz="2400" i="1" dirty="0"/>
              <a:t>above</a:t>
            </a:r>
            <a:r>
              <a:rPr lang="en-US" sz="2400" dirty="0"/>
              <a:t> their pre-industrial amounts). Same timeline, but the vertical axis is a log space.</a:t>
            </a:r>
          </a:p>
        </p:txBody>
      </p:sp>
      <p:sp>
        <p:nvSpPr>
          <p:cNvPr id="7" name="Down Arrow 6">
            <a:extLst>
              <a:ext uri="{FF2B5EF4-FFF2-40B4-BE49-F238E27FC236}">
                <a16:creationId xmlns:a16="http://schemas.microsoft.com/office/drawing/2014/main" id="{4E31B581-861F-F1F1-5AE1-172E215876F3}"/>
              </a:ext>
            </a:extLst>
          </p:cNvPr>
          <p:cNvSpPr/>
          <p:nvPr/>
        </p:nvSpPr>
        <p:spPr>
          <a:xfrm>
            <a:off x="2702259" y="3429000"/>
            <a:ext cx="382137" cy="29160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0F38018-2560-1826-6254-BC225BEA8B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110" y="3779306"/>
            <a:ext cx="3859367" cy="2958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68290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5F3B0B7-FAD2-05F3-A77B-2E225DC7FC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540" y="476499"/>
            <a:ext cx="3978416" cy="295812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05FA501-585D-ED60-7FE6-F3C502CE10D6}"/>
              </a:ext>
            </a:extLst>
          </p:cNvPr>
          <p:cNvSpPr txBox="1"/>
          <p:nvPr/>
        </p:nvSpPr>
        <p:spPr>
          <a:xfrm>
            <a:off x="0" y="-11575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There’s also looking at the </a:t>
            </a:r>
            <a:r>
              <a:rPr lang="en-US" sz="2400" b="1" i="1" dirty="0"/>
              <a:t>excess</a:t>
            </a:r>
            <a:r>
              <a:rPr lang="en-US" sz="2400" b="1" dirty="0"/>
              <a:t> carbon in the atmosphere and ocean (viewed on a log scale)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4968085-7B23-A298-9E6B-F221DEC50311}"/>
              </a:ext>
            </a:extLst>
          </p:cNvPr>
          <p:cNvSpPr txBox="1"/>
          <p:nvPr/>
        </p:nvSpPr>
        <p:spPr>
          <a:xfrm>
            <a:off x="5047818" y="3779306"/>
            <a:ext cx="667375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/>
              <a:t>Excess</a:t>
            </a:r>
            <a:r>
              <a:rPr lang="en-US" sz="2400" dirty="0"/>
              <a:t> </a:t>
            </a:r>
            <a:r>
              <a:rPr lang="en-US" sz="2400" dirty="0" err="1"/>
              <a:t>C_atm</a:t>
            </a:r>
            <a:r>
              <a:rPr lang="en-US" sz="2400" dirty="0"/>
              <a:t> and </a:t>
            </a:r>
            <a:r>
              <a:rPr lang="en-US" sz="2400" dirty="0" err="1"/>
              <a:t>C_ocean</a:t>
            </a:r>
            <a:r>
              <a:rPr lang="en-US" sz="2400" dirty="0"/>
              <a:t> (i.e., the amount those values lie </a:t>
            </a:r>
            <a:r>
              <a:rPr lang="en-US" sz="2400" i="1" dirty="0"/>
              <a:t>above</a:t>
            </a:r>
            <a:r>
              <a:rPr lang="en-US" sz="2400" dirty="0"/>
              <a:t> their pre-industrial amounts). Same timeline, but the vertical axis is a log space.</a:t>
            </a:r>
          </a:p>
        </p:txBody>
      </p:sp>
      <p:sp>
        <p:nvSpPr>
          <p:cNvPr id="7" name="Down Arrow 6">
            <a:extLst>
              <a:ext uri="{FF2B5EF4-FFF2-40B4-BE49-F238E27FC236}">
                <a16:creationId xmlns:a16="http://schemas.microsoft.com/office/drawing/2014/main" id="{4E31B581-861F-F1F1-5AE1-172E215876F3}"/>
              </a:ext>
            </a:extLst>
          </p:cNvPr>
          <p:cNvSpPr/>
          <p:nvPr/>
        </p:nvSpPr>
        <p:spPr>
          <a:xfrm>
            <a:off x="2702259" y="3429000"/>
            <a:ext cx="382137" cy="29160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0F38018-2560-1826-6254-BC225BEA8B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110" y="3779306"/>
            <a:ext cx="3859367" cy="2958121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961676C-5CDA-24B8-590A-50757DF3AEBC}"/>
                  </a:ext>
                </a:extLst>
              </p:cNvPr>
              <p:cNvSpPr txBox="1"/>
              <p:nvPr/>
            </p:nvSpPr>
            <p:spPr>
              <a:xfrm>
                <a:off x="5047818" y="5167767"/>
                <a:ext cx="7048982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And guess what? The slope of the line between the red dots equals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𝒌</m:t>
                    </m:r>
                  </m:oMath>
                </a14:m>
                <a:r>
                  <a:rPr lang="en-US" sz="2400" b="1" dirty="0"/>
                  <a:t> </a:t>
                </a:r>
                <a:r>
                  <a:rPr lang="en-US" sz="2400" dirty="0"/>
                  <a:t>of our emissions scenario!  </a:t>
                </a: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961676C-5CDA-24B8-590A-50757DF3AE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7818" y="5167767"/>
                <a:ext cx="7048982" cy="830997"/>
              </a:xfrm>
              <a:prstGeom prst="rect">
                <a:avLst/>
              </a:prstGeom>
              <a:blipFill>
                <a:blip r:embed="rId4"/>
                <a:stretch>
                  <a:fillRect l="-1439" t="-6061" r="-1439" b="-151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688565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A777D57-3A78-A54F-BAE7-8DF853AA552B}"/>
              </a:ext>
            </a:extLst>
          </p:cNvPr>
          <p:cNvSpPr txBox="1"/>
          <p:nvPr/>
        </p:nvSpPr>
        <p:spPr>
          <a:xfrm>
            <a:off x="0" y="-11575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OK, let’s get finish this up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64C3623-719A-3377-6D7D-6C4E71EB70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4299" y="3153618"/>
            <a:ext cx="9029539" cy="3386077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378151C-8A1C-E92F-E823-F2EE44E987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144" y="773152"/>
            <a:ext cx="8166421" cy="1959941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0862110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304</TotalTime>
  <Words>438</Words>
  <Application>Microsoft Macintosh PowerPoint</Application>
  <PresentationFormat>Widescreen</PresentationFormat>
  <Paragraphs>40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Steven</dc:creator>
  <cp:lastModifiedBy>Steven</cp:lastModifiedBy>
  <cp:revision>35</cp:revision>
  <dcterms:created xsi:type="dcterms:W3CDTF">2023-10-01T17:24:28Z</dcterms:created>
  <dcterms:modified xsi:type="dcterms:W3CDTF">2025-10-05T18:55:18Z</dcterms:modified>
</cp:coreProperties>
</file>