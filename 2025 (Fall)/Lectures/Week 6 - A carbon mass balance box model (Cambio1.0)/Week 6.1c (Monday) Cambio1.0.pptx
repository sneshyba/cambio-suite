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2"/>
    <p:sldId id="1981" r:id="rId3"/>
    <p:sldId id="1982" r:id="rId4"/>
    <p:sldId id="1983" r:id="rId5"/>
    <p:sldId id="1984" r:id="rId6"/>
    <p:sldId id="1988" r:id="rId7"/>
    <p:sldId id="1985" r:id="rId8"/>
    <p:sldId id="1987" r:id="rId9"/>
    <p:sldId id="19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99"/>
    <p:restoredTop sz="96006"/>
  </p:normalViewPr>
  <p:slideViewPr>
    <p:cSldViewPr snapToGrid="0">
      <p:cViewPr varScale="1">
        <p:scale>
          <a:sx n="112" d="100"/>
          <a:sy n="112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5815-899F-4E40-92E7-A5BB9A9AC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56B73-7D1D-09D1-B1BE-FE6FC5146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84930-08BA-5464-7CEF-2F06A6FC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91BCE-D0A7-4F50-504C-8449D8FB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D0B3D-7F89-5F01-A495-A61F3FC7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5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867B-C71C-1792-D24F-62068A62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1091A-EF58-DD3E-7CB6-16BAEF7D5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7AF5-22E3-A74E-E518-BCDEF0A6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13F1E-A304-CD14-50C2-EC14D351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CEA10-FAF9-A162-C82E-7F0ED9CA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C3241-FDB5-FC00-C6C2-43AB70E3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D6C80-C93F-7C9B-5E9C-3681D723A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B4F0F-02F0-7DB3-739A-F2B1996E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97DA5-4C53-16AF-A1D7-F3778BCC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AFA05-4656-14BD-239D-17C11AD1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9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E624-2FA7-6331-DAFB-A9C6675D0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E402E-7279-A1D3-6FED-7756CC5C2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13C2B-A305-ABF8-E7AF-2CE0CB5AD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40DC2-8520-5499-1F95-47E6C88AE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88A51-9BB0-647D-6B2E-398CEF2F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8923F-92E2-0078-7AD8-898B031B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9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3840-035B-F670-EAA0-A5CE82A5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66C51-1BD8-2E38-DC52-E0560F31D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3DB11-FA90-413E-971E-7AE25AA22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76465-DC0B-D37C-B305-BD778B2A2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16E4E-211B-D653-B79E-342C736B6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EBFF5-34FB-617E-9013-2559AD58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DA3D-0195-62EC-CCF5-45326DD5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9DB62-28A3-5273-B0AF-557BB1E9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0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B172-6034-5664-B64D-C044875C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0B927-89AE-3C13-CA9A-5BB4CFA3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C17F0-EF26-B7A2-C74E-F79DE0A5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5B44E-0C1B-A2E5-FF98-A119EC6C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76632D-4EAC-4344-36C7-F072D750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15820-BF1B-68B3-14B0-34C7C865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D4EB0-8599-1B0E-2111-7461CD62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45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3D2B-1D8A-CBB4-C822-0D0E7864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552E6-B20E-D705-8464-F3EC156C6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2DC6A-72CD-0024-AAF9-77D438496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AEEE5-9015-0BC5-A3CA-45485C9A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94FC-5541-B91A-CEE3-3B8EADD5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86D9B-E18C-380F-6AE8-9559E49B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31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26A4-1305-9F88-5287-DA4FF6D94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D4FDA-EE25-E480-2C2E-0D2C9AF50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1FBEE-3CE6-C4C7-6813-D837F13F4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B9D75-798F-F250-2AEF-8D5776AE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69234-DEA5-2AFB-A606-A2D486F5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35792-0FEA-DFF7-9006-0AEE6795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69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0067-DD40-2402-B55A-3A818A9E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F18BD-B825-68AA-498A-F695131C8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C1B9F-B194-7D4C-AA28-5BC2846C0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89EB7-9D71-E592-C333-91D94A19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2E596-49F6-29AD-29FE-75D87482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0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DBEF5-8B84-9997-E190-33A8DC192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41A4E-24CF-1A56-C34C-177262A95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CF4CF-5ABF-ED16-D021-0D9B73971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A31AA-148A-0B01-8386-CF6B7E64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6DF7F-9D9A-D4DD-D192-BB7AE0EB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7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A2861-4DB4-82F9-6361-572486CF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779C3-81A6-4CEE-3680-E273C1FA0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D9A76-80CD-4534-959C-10F6C0A27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14710-002F-434A-8B05-0AE36E919D93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CC069-38A0-ECD6-1660-946ACA69B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3F025-8458-D77C-8051-F7A3BF19F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1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 (we introduced this in Week 3)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0" y="669771"/>
            <a:ext cx="12018895" cy="4036900"/>
            <a:chOff x="0" y="1410550"/>
            <a:chExt cx="12018895" cy="40369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0" y="1410550"/>
              <a:ext cx="12018895" cy="4036900"/>
              <a:chOff x="361243" y="1562543"/>
              <a:chExt cx="12018895" cy="40369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02B3F3-4C48-BF40-B23D-890FC4F818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88" t="26695"/>
              <a:stretch/>
            </p:blipFill>
            <p:spPr>
              <a:xfrm>
                <a:off x="361243" y="1573429"/>
                <a:ext cx="5734757" cy="4026014"/>
              </a:xfrm>
              <a:prstGeom prst="rect">
                <a:avLst/>
              </a:prstGeom>
            </p:spPr>
          </p:pic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2806B32D-D4CB-7093-4B52-B102CA29268F}"/>
                  </a:ext>
                </a:extLst>
              </p:cNvPr>
              <p:cNvSpPr/>
              <p:nvPr/>
            </p:nvSpPr>
            <p:spPr>
              <a:xfrm>
                <a:off x="584099" y="1562543"/>
                <a:ext cx="5620758" cy="4001583"/>
              </a:xfrm>
              <a:prstGeom prst="frame">
                <a:avLst>
                  <a:gd name="adj1" fmla="val 17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1348386" y="1793878"/>
                <a:ext cx="3760470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D39349B-3146-4C6E-9133-0E166992C3AE}"/>
                </a:ext>
              </a:extLst>
            </p:cNvPr>
            <p:cNvSpPr/>
            <p:nvPr/>
          </p:nvSpPr>
          <p:spPr>
            <a:xfrm>
              <a:off x="7685590" y="1551008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7953737" y="2664103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EAAAC9A-7E6E-4131-02C5-E4DA6FE4EE86}"/>
              </a:ext>
            </a:extLst>
          </p:cNvPr>
          <p:cNvSpPr txBox="1"/>
          <p:nvPr/>
        </p:nvSpPr>
        <p:spPr>
          <a:xfrm>
            <a:off x="222856" y="5344611"/>
            <a:ext cx="11825713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We’re assuming a constant non-anthropogenic land-to-atmosphere flux</a:t>
            </a:r>
          </a:p>
        </p:txBody>
      </p:sp>
    </p:spTree>
    <p:extLst>
      <p:ext uri="{BB962C8B-B14F-4D97-AF65-F5344CB8AC3E}">
        <p14:creationId xmlns:p14="http://schemas.microsoft.com/office/powerpoint/2010/main" val="3260567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0" y="669771"/>
            <a:ext cx="12018895" cy="4036900"/>
            <a:chOff x="0" y="1410550"/>
            <a:chExt cx="12018895" cy="40369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0" y="1410550"/>
              <a:ext cx="12018895" cy="4036900"/>
              <a:chOff x="361243" y="1562543"/>
              <a:chExt cx="12018895" cy="40369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02B3F3-4C48-BF40-B23D-890FC4F818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88" t="26695"/>
              <a:stretch/>
            </p:blipFill>
            <p:spPr>
              <a:xfrm>
                <a:off x="361243" y="1573429"/>
                <a:ext cx="5734757" cy="4026014"/>
              </a:xfrm>
              <a:prstGeom prst="rect">
                <a:avLst/>
              </a:prstGeom>
            </p:spPr>
          </p:pic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2806B32D-D4CB-7093-4B52-B102CA29268F}"/>
                  </a:ext>
                </a:extLst>
              </p:cNvPr>
              <p:cNvSpPr/>
              <p:nvPr/>
            </p:nvSpPr>
            <p:spPr>
              <a:xfrm>
                <a:off x="584099" y="1562543"/>
                <a:ext cx="5620758" cy="4001583"/>
              </a:xfrm>
              <a:prstGeom prst="frame">
                <a:avLst>
                  <a:gd name="adj1" fmla="val 17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679026" y="2507051"/>
                <a:ext cx="5110744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6483752" y="1410550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4DACF0-60F2-914D-AE3D-2A6284964120}"/>
                  </a:ext>
                </a:extLst>
              </p:cNvPr>
              <p:cNvSpPr txBox="1"/>
              <p:nvPr/>
            </p:nvSpPr>
            <p:spPr>
              <a:xfrm>
                <a:off x="222856" y="5344611"/>
                <a:ext cx="11825713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This models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fertilization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4DACF0-60F2-914D-AE3D-2A6284964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56" y="5344611"/>
                <a:ext cx="11825713" cy="461665"/>
              </a:xfrm>
              <a:prstGeom prst="rect">
                <a:avLst/>
              </a:prstGeom>
              <a:blipFill>
                <a:blip r:embed="rId4"/>
                <a:stretch>
                  <a:fillRect t="-5263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68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0" y="669771"/>
            <a:ext cx="12018895" cy="4036900"/>
            <a:chOff x="0" y="1410550"/>
            <a:chExt cx="12018895" cy="40369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0" y="1410550"/>
              <a:ext cx="12018895" cy="4036900"/>
              <a:chOff x="361243" y="1562543"/>
              <a:chExt cx="12018895" cy="40369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02B3F3-4C48-BF40-B23D-890FC4F818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88" t="26695"/>
              <a:stretch/>
            </p:blipFill>
            <p:spPr>
              <a:xfrm>
                <a:off x="361243" y="1573429"/>
                <a:ext cx="5734757" cy="4026014"/>
              </a:xfrm>
              <a:prstGeom prst="rect">
                <a:avLst/>
              </a:prstGeom>
            </p:spPr>
          </p:pic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2806B32D-D4CB-7093-4B52-B102CA29268F}"/>
                  </a:ext>
                </a:extLst>
              </p:cNvPr>
              <p:cNvSpPr/>
              <p:nvPr/>
            </p:nvSpPr>
            <p:spPr>
              <a:xfrm>
                <a:off x="584099" y="1562543"/>
                <a:ext cx="5620758" cy="4001583"/>
              </a:xfrm>
              <a:prstGeom prst="frame">
                <a:avLst>
                  <a:gd name="adj1" fmla="val 17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783200" y="3236253"/>
                <a:ext cx="4720667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10940006" y="23828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92B872-698E-3841-6563-2CA57B379E9B}"/>
                  </a:ext>
                </a:extLst>
              </p:cNvPr>
              <p:cNvSpPr txBox="1"/>
              <p:nvPr/>
            </p:nvSpPr>
            <p:spPr>
              <a:xfrm>
                <a:off x="588597" y="5215955"/>
                <a:ext cx="10923227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The more concentrated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is in the water, the faster it will come out!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92B872-698E-3841-6563-2CA57B37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97" y="5215955"/>
                <a:ext cx="10923227" cy="461665"/>
              </a:xfrm>
              <a:prstGeom prst="rect">
                <a:avLst/>
              </a:prstGeom>
              <a:blipFill>
                <a:blip r:embed="rId4"/>
                <a:stretch>
                  <a:fillRect t="-5263" b="-2631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619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0" y="669771"/>
            <a:ext cx="12018895" cy="4036900"/>
            <a:chOff x="0" y="1410550"/>
            <a:chExt cx="12018895" cy="40369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0" y="1410550"/>
              <a:ext cx="12018895" cy="4036900"/>
              <a:chOff x="361243" y="1562543"/>
              <a:chExt cx="12018895" cy="40369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02B3F3-4C48-BF40-B23D-890FC4F818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88" t="26695"/>
              <a:stretch/>
            </p:blipFill>
            <p:spPr>
              <a:xfrm>
                <a:off x="361243" y="1573429"/>
                <a:ext cx="5734757" cy="4026014"/>
              </a:xfrm>
              <a:prstGeom prst="rect">
                <a:avLst/>
              </a:prstGeom>
            </p:spPr>
          </p:pic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2806B32D-D4CB-7093-4B52-B102CA29268F}"/>
                  </a:ext>
                </a:extLst>
              </p:cNvPr>
              <p:cNvSpPr/>
              <p:nvPr/>
            </p:nvSpPr>
            <p:spPr>
              <a:xfrm>
                <a:off x="584099" y="1562543"/>
                <a:ext cx="5620758" cy="4001583"/>
              </a:xfrm>
              <a:prstGeom prst="frame">
                <a:avLst>
                  <a:gd name="adj1" fmla="val 17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945341" y="3930734"/>
                <a:ext cx="4720667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9817264" y="23365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92B872-698E-3841-6563-2CA57B379E9B}"/>
                  </a:ext>
                </a:extLst>
              </p:cNvPr>
              <p:cNvSpPr txBox="1"/>
              <p:nvPr/>
            </p:nvSpPr>
            <p:spPr>
              <a:xfrm>
                <a:off x="584098" y="5262255"/>
                <a:ext cx="10923227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The more concentrated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is in the air, the faster it will go into the ocean!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92B872-698E-3841-6563-2CA57B37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98" y="5262255"/>
                <a:ext cx="10923227" cy="461665"/>
              </a:xfrm>
              <a:prstGeom prst="rect">
                <a:avLst/>
              </a:prstGeom>
              <a:blipFill>
                <a:blip r:embed="rId4"/>
                <a:stretch>
                  <a:fillRect t="-5128" b="-2564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523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0" y="669771"/>
            <a:ext cx="12018895" cy="4036900"/>
            <a:chOff x="0" y="1410550"/>
            <a:chExt cx="12018895" cy="40369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0" y="1410550"/>
              <a:ext cx="12018895" cy="4036900"/>
              <a:chOff x="361243" y="1562543"/>
              <a:chExt cx="12018895" cy="40369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02B3F3-4C48-BF40-B23D-890FC4F818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88" t="26695"/>
              <a:stretch/>
            </p:blipFill>
            <p:spPr>
              <a:xfrm>
                <a:off x="361243" y="1573429"/>
                <a:ext cx="5734757" cy="4026014"/>
              </a:xfrm>
              <a:prstGeom prst="rect">
                <a:avLst/>
              </a:prstGeom>
            </p:spPr>
          </p:pic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2806B32D-D4CB-7093-4B52-B102CA29268F}"/>
                  </a:ext>
                </a:extLst>
              </p:cNvPr>
              <p:cNvSpPr/>
              <p:nvPr/>
            </p:nvSpPr>
            <p:spPr>
              <a:xfrm>
                <a:off x="584099" y="1562543"/>
                <a:ext cx="5620758" cy="4001583"/>
              </a:xfrm>
              <a:prstGeom prst="frame">
                <a:avLst>
                  <a:gd name="adj1" fmla="val 17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1391390" y="4706236"/>
                <a:ext cx="3576577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9817264" y="23365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B872-698E-3841-6563-2CA57B379E9B}"/>
              </a:ext>
            </a:extLst>
          </p:cNvPr>
          <p:cNvSpPr txBox="1"/>
          <p:nvPr/>
        </p:nvSpPr>
        <p:spPr>
          <a:xfrm>
            <a:off x="634386" y="5262255"/>
            <a:ext cx="1092322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There’s </a:t>
            </a:r>
            <a:r>
              <a:rPr lang="en-US" sz="2400" dirty="0" err="1"/>
              <a:t>ScheduledFlows</a:t>
            </a:r>
            <a:r>
              <a:rPr lang="en-US" sz="2400" dirty="0"/>
              <a:t> and </a:t>
            </a:r>
            <a:r>
              <a:rPr lang="en-US" sz="2400" dirty="0" err="1"/>
              <a:t>ScheduledFlowsLTE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7542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ScheduledFlowsLTE</a:t>
            </a:r>
            <a:r>
              <a:rPr lang="en-US" sz="2400" b="1" dirty="0"/>
              <a:t> is </a:t>
            </a:r>
            <a:r>
              <a:rPr lang="en-US" sz="2400" b="1" dirty="0" err="1"/>
              <a:t>ScheduledFlows</a:t>
            </a:r>
            <a:r>
              <a:rPr lang="en-US" sz="2400" b="1" dirty="0"/>
              <a:t> with long-term emissions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B872-698E-3841-6563-2CA57B379E9B}"/>
              </a:ext>
            </a:extLst>
          </p:cNvPr>
          <p:cNvSpPr txBox="1"/>
          <p:nvPr/>
        </p:nvSpPr>
        <p:spPr>
          <a:xfrm>
            <a:off x="6739276" y="4655826"/>
            <a:ext cx="3705203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ScheduledFlowsLTE</a:t>
            </a:r>
            <a:endParaRPr lang="en-US" sz="2400" dirty="0"/>
          </a:p>
          <a:p>
            <a:pPr algn="ctr"/>
            <a:r>
              <a:rPr lang="en-US" sz="2400" dirty="0"/>
              <a:t>(Week 6)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12024D-8EE2-0608-F661-739015717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40" y="962660"/>
            <a:ext cx="4958080" cy="36464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5489D5-5392-B362-7B8F-3AA4EC3B4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788670"/>
            <a:ext cx="4866639" cy="38671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7B2548-5657-10F9-43A3-07C5E58CA733}"/>
              </a:ext>
            </a:extLst>
          </p:cNvPr>
          <p:cNvSpPr txBox="1"/>
          <p:nvPr/>
        </p:nvSpPr>
        <p:spPr>
          <a:xfrm>
            <a:off x="1449113" y="4647234"/>
            <a:ext cx="3705203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ScheduledFlows</a:t>
            </a:r>
            <a:endParaRPr lang="en-US" sz="2400" dirty="0"/>
          </a:p>
          <a:p>
            <a:pPr algn="ctr"/>
            <a:r>
              <a:rPr lang="en-US" sz="2400" dirty="0"/>
              <a:t>(Week 5)</a:t>
            </a:r>
          </a:p>
        </p:txBody>
      </p:sp>
    </p:spTree>
    <p:extLst>
      <p:ext uri="{BB962C8B-B14F-4D97-AF65-F5344CB8AC3E}">
        <p14:creationId xmlns:p14="http://schemas.microsoft.com/office/powerpoint/2010/main" val="1217198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puts those fluxes into an Euler loop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0" y="669771"/>
            <a:ext cx="12018895" cy="4036900"/>
            <a:chOff x="0" y="1410550"/>
            <a:chExt cx="12018895" cy="40369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0" y="1410550"/>
              <a:ext cx="12018895" cy="4036900"/>
              <a:chOff x="361243" y="1562543"/>
              <a:chExt cx="12018895" cy="40369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02B3F3-4C48-BF40-B23D-890FC4F818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88" t="26695"/>
              <a:stretch/>
            </p:blipFill>
            <p:spPr>
              <a:xfrm>
                <a:off x="361243" y="1573429"/>
                <a:ext cx="5734757" cy="4026014"/>
              </a:xfrm>
              <a:prstGeom prst="rect">
                <a:avLst/>
              </a:prstGeom>
            </p:spPr>
          </p:pic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2806B32D-D4CB-7093-4B52-B102CA29268F}"/>
                  </a:ext>
                </a:extLst>
              </p:cNvPr>
              <p:cNvSpPr/>
              <p:nvPr/>
            </p:nvSpPr>
            <p:spPr>
              <a:xfrm>
                <a:off x="584099" y="1562543"/>
                <a:ext cx="5620758" cy="4001583"/>
              </a:xfrm>
              <a:prstGeom prst="frame">
                <a:avLst>
                  <a:gd name="adj1" fmla="val 17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9817264" y="23365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373837-1A92-C769-07C2-0DD45E814F86}"/>
              </a:ext>
            </a:extLst>
          </p:cNvPr>
          <p:cNvSpPr txBox="1"/>
          <p:nvPr/>
        </p:nvSpPr>
        <p:spPr>
          <a:xfrm>
            <a:off x="609600" y="4706725"/>
            <a:ext cx="1023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Inside an </a:t>
            </a:r>
            <a:r>
              <a:rPr lang="en-US" sz="2400" i="1" dirty="0"/>
              <a:t>Euler </a:t>
            </a:r>
            <a:r>
              <a:rPr lang="en-US" sz="2400" dirty="0"/>
              <a:t>loop (like the loop you made in Week 2, </a:t>
            </a:r>
            <a:r>
              <a:rPr lang="en-US" sz="2400" dirty="0" err="1"/>
              <a:t>SimpleRadiativeBalance</a:t>
            </a:r>
            <a:r>
              <a:rPr lang="en-US" sz="2400" dirty="0"/>
              <a:t>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A5EFF-6123-57F1-8031-8C49A194C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63" y="5315570"/>
            <a:ext cx="11896074" cy="10299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23728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puts those fluxes into an Euler loop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0" y="669771"/>
            <a:ext cx="12018895" cy="4036900"/>
            <a:chOff x="0" y="1410550"/>
            <a:chExt cx="12018895" cy="40369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0" y="1410550"/>
              <a:ext cx="12018895" cy="4036900"/>
              <a:chOff x="361243" y="1562543"/>
              <a:chExt cx="12018895" cy="40369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02B3F3-4C48-BF40-B23D-890FC4F818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88" t="26695"/>
              <a:stretch/>
            </p:blipFill>
            <p:spPr>
              <a:xfrm>
                <a:off x="361243" y="1573429"/>
                <a:ext cx="5734757" cy="4026014"/>
              </a:xfrm>
              <a:prstGeom prst="rect">
                <a:avLst/>
              </a:prstGeom>
            </p:spPr>
          </p:pic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2806B32D-D4CB-7093-4B52-B102CA29268F}"/>
                  </a:ext>
                </a:extLst>
              </p:cNvPr>
              <p:cNvSpPr/>
              <p:nvPr/>
            </p:nvSpPr>
            <p:spPr>
              <a:xfrm>
                <a:off x="584099" y="1562543"/>
                <a:ext cx="5620758" cy="4001583"/>
              </a:xfrm>
              <a:prstGeom prst="frame">
                <a:avLst>
                  <a:gd name="adj1" fmla="val 17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9817264" y="23365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373837-1A92-C769-07C2-0DD45E814F86}"/>
              </a:ext>
            </a:extLst>
          </p:cNvPr>
          <p:cNvSpPr txBox="1"/>
          <p:nvPr/>
        </p:nvSpPr>
        <p:spPr>
          <a:xfrm>
            <a:off x="609600" y="4706725"/>
            <a:ext cx="1023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Inside an </a:t>
            </a:r>
            <a:r>
              <a:rPr lang="en-US" sz="2400" i="1" dirty="0"/>
              <a:t>Euler </a:t>
            </a:r>
            <a:r>
              <a:rPr lang="en-US" sz="2400" dirty="0"/>
              <a:t>loop (like the loop you made in Week 2, </a:t>
            </a:r>
            <a:r>
              <a:rPr lang="en-US" sz="2400" dirty="0" err="1"/>
              <a:t>SimpleRadiativeBalance</a:t>
            </a:r>
            <a:r>
              <a:rPr lang="en-US" sz="2400" dirty="0"/>
              <a:t>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F45C8E-6F6F-4E5F-D8AA-202867C99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435" y="5262255"/>
            <a:ext cx="8415129" cy="113916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6427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C3623-719A-3377-6D7D-6C4E71EB7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299" y="3153618"/>
            <a:ext cx="9029539" cy="33860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78151C-8A1C-E92F-E823-F2EE44E98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44" y="773152"/>
            <a:ext cx="8166421" cy="19599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8621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3866</TotalTime>
  <Words>147</Words>
  <Application>Microsoft Macintosh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46</cp:revision>
  <dcterms:created xsi:type="dcterms:W3CDTF">2022-10-03T03:10:13Z</dcterms:created>
  <dcterms:modified xsi:type="dcterms:W3CDTF">2025-10-06T04:53:34Z</dcterms:modified>
</cp:coreProperties>
</file>