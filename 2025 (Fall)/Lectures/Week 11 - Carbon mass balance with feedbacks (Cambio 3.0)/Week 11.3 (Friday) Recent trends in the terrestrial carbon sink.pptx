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1990" r:id="rId2"/>
    <p:sldId id="2055" r:id="rId3"/>
    <p:sldId id="1996" r:id="rId4"/>
    <p:sldId id="1988" r:id="rId5"/>
    <p:sldId id="199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82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08899-4C82-F6FC-86E5-B12F47C97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6A590-48F7-B287-BECD-DECA8A7F3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034D7-F7D2-DDC9-908C-49CE5F512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6996F-0A96-05FF-23DE-BECBC6647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7C6B5-03AF-4F15-C986-F343356C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6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25CB-DD96-2C7B-76C8-B592CDA7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6EAA-DE69-8240-6212-36817E84A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12FC0-AD23-1BD8-DBE4-91A59B0D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6A460-8298-7385-13B6-82CF549D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2A9D9-EDB0-B37B-57FB-6DF9F3EB1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1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97B5-78A9-E886-264A-A0025B2D2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76C97-4B44-5B90-D53D-B7EF633DF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B6A58-1D5A-FAA8-5918-BFE03256F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B71D9-A751-C825-0593-2A7343ABA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940AE-3F34-E59B-95B1-45863712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1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ABAB-A161-03FA-D24C-FB3EF814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67B5E-FD6E-BCE4-A089-7B75579E0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FE598-65FF-0561-3661-FE8500A56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951D8-B2C2-8FE5-955B-7961DA9A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0FD8-EEEE-5164-B0D1-83EA8316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7FE15-596F-E5B4-DAE7-B4A0EACC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4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033AA-903C-0F2C-37EF-10D94C7E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040B4-5888-A4FF-CCDF-ADF139320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D8867-BCA3-9499-5B82-586852992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BCA6EF-DB71-A396-2DC3-F3E942237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90C411-B822-3131-FFCA-5AFF432D14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37C0C-94F9-AA37-D606-FAFD54E1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C65624-5C57-6229-378C-1026BD3A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73BE40-DE04-9C70-A3C0-E85DA8C6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2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669A-A8FB-0528-40CE-85DA614C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DFB7F3-B39B-EA87-2F11-F269773C7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1F7DE-83F5-7989-6D25-3000BA28F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51EC9-FFDA-05D4-9754-166A46ED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97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1E956-DD52-6E69-A41D-0F74F304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518A4F-6BE8-722E-BFC9-D121C8C6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64F51-1CB4-AD25-3DBF-F7E8EE281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70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DF4F-60A8-FD76-47B6-52241895D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0CFD2-D891-B665-67E8-9998631EA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BA8A6-582D-1629-D1CE-6C897CC3A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F3483-83B1-CECC-2FE2-2BA1FF01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C2AA6-2091-F695-1495-132AA610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772C7-2B5C-95E5-C30D-0FC66234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6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987E8-60FB-3304-238B-57E1B432A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8AB35-DE9C-CAE6-B254-BCFC9D21DC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9D7D2-CA87-7AFE-A5D0-20B941457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49C9F-74D5-14A1-BDBF-6871F6C0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ABDAA-81BB-60CB-FCB3-9936C9C2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37AD0-2009-5181-51A3-ACCE01CA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1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13F55-A3ED-BD63-39A2-61CB881B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5C8C4-0F1E-6F3F-1B77-5A19D5BA1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AC723-FAAD-CA0D-6888-56BF2926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65BDD-295E-B0B3-6DB2-CB5C97F27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C2138-5AA7-B8AC-30A1-BD445693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51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5BBB32-27A7-68B6-AE73-5026D0479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B8E33-F73F-962E-469B-70F26D4E0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00D9D-D30D-EEF7-E520-C38BFFEA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D255-55B2-6C4F-A5F5-8F6712D0A17B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D79E0-37CC-2BB7-E9F8-A2327C134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9AC2D-B7C8-E52A-3023-671B1099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77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DC61C7-19E0-89FF-BDDF-99C3650E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2C34D-E749-18CC-E914-F9186D670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B3C0C-C4E9-CFED-E5C3-2624C162E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ED255-55B2-6C4F-A5F5-8F6712D0A17B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46934-C8CD-D81C-0C67-16BFB3C61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BDF8B-D405-441A-7CC3-24D491896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21A6E-21B1-B84B-853E-0F9AE12F9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2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eedbackloopsclimate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llianceforscience.org/wp-content/uploads/2022/01/Keeling-curve-with-SSP1-1.9-all-trend-labels.png" TargetMode="External"/><Relationship Id="rId7" Type="http://schemas.openxmlformats.org/officeDocument/2006/relationships/image" Target="../media/image4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3B4F300-CE60-A74D-A60A-3371E304E42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Another feedback loop (forests)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B37135-D7ED-FC8E-6077-9B89728241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1" r="11382"/>
          <a:stretch/>
        </p:blipFill>
        <p:spPr>
          <a:xfrm>
            <a:off x="354330" y="1734530"/>
            <a:ext cx="8915400" cy="48262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649DF8-1B63-7955-4E65-139198259241}"/>
              </a:ext>
            </a:extLst>
          </p:cNvPr>
          <p:cNvSpPr txBox="1"/>
          <p:nvPr/>
        </p:nvSpPr>
        <p:spPr>
          <a:xfrm>
            <a:off x="6911806" y="911450"/>
            <a:ext cx="501197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/>
              </a:rPr>
              <a:t>Climate Emergency: Feedback Loops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Director/Co-Writer: Susan Gray</a:t>
            </a:r>
          </a:p>
          <a:p>
            <a:r>
              <a:rPr lang="en-US" sz="2400" dirty="0"/>
              <a:t>Narrated by Richard Gere</a:t>
            </a:r>
          </a:p>
          <a:p>
            <a:endParaRPr lang="en-US" sz="2400" dirty="0"/>
          </a:p>
          <a:p>
            <a:r>
              <a:rPr lang="en-US" sz="2400" dirty="0"/>
              <a:t>~2021</a:t>
            </a:r>
          </a:p>
        </p:txBody>
      </p:sp>
    </p:spTree>
    <p:extLst>
      <p:ext uri="{BB962C8B-B14F-4D97-AF65-F5344CB8AC3E}">
        <p14:creationId xmlns:p14="http://schemas.microsoft.com/office/powerpoint/2010/main" val="4272154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35E6CD-1823-2F4C-BEBA-D6839E801526}"/>
                  </a:ext>
                </a:extLst>
              </p:cNvPr>
              <p:cNvSpPr txBox="1"/>
              <p:nvPr/>
            </p:nvSpPr>
            <p:spPr>
              <a:xfrm>
                <a:off x="1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Connection between growth rate of atmospheric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/>
                  <a:t>, emissions rates, and net carbon sinks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935E6CD-1823-2F4C-BEBA-D6839E801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371349D-09D7-B2EE-679C-FAB9789EDB66}"/>
              </a:ext>
            </a:extLst>
          </p:cNvPr>
          <p:cNvSpPr txBox="1"/>
          <p:nvPr/>
        </p:nvSpPr>
        <p:spPr>
          <a:xfrm>
            <a:off x="6296628" y="6144288"/>
            <a:ext cx="4681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</a:t>
            </a:r>
            <a:r>
              <a:rPr lang="en-US" sz="1200" dirty="0" err="1">
                <a:hlinkClick r:id="rId3"/>
              </a:rPr>
              <a:t>allianceforscience.org</a:t>
            </a:r>
            <a:r>
              <a:rPr lang="en-US" sz="1200" dirty="0">
                <a:hlinkClick r:id="rId3"/>
              </a:rPr>
              <a:t>/wp-content/uploads/2022/01/Keeling-curve-with-SSP1-1.9-all-trend-labels.png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5F343C-89A7-06CE-81E8-040240084743}"/>
                  </a:ext>
                </a:extLst>
              </p:cNvPr>
              <p:cNvSpPr txBox="1"/>
              <p:nvPr/>
            </p:nvSpPr>
            <p:spPr>
              <a:xfrm>
                <a:off x="269522" y="4703247"/>
                <a:ext cx="4922696" cy="17851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The purpose of this slide is to highlight the </a:t>
                </a:r>
                <a:r>
                  <a:rPr lang="en-US" sz="2200" b="1" dirty="0"/>
                  <a:t>growth rate of atmospheric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200" b="1" dirty="0"/>
                  <a:t> </a:t>
                </a:r>
                <a:r>
                  <a:rPr lang="en-US" sz="2200" dirty="0"/>
                  <a:t>(past, present, and hoped-for), and its connection to the carbon sinks figure in our NASA figure of 2003.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5F343C-89A7-06CE-81E8-040240084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2" y="4703247"/>
                <a:ext cx="4922696" cy="1785104"/>
              </a:xfrm>
              <a:prstGeom prst="rect">
                <a:avLst/>
              </a:prstGeom>
              <a:blipFill>
                <a:blip r:embed="rId4"/>
                <a:stretch>
                  <a:fillRect l="-1282" t="-2113" b="-563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27C2B289-AB6E-A5B6-A7C4-CFFEDDF7D6D6}"/>
              </a:ext>
            </a:extLst>
          </p:cNvPr>
          <p:cNvGrpSpPr/>
          <p:nvPr/>
        </p:nvGrpSpPr>
        <p:grpSpPr>
          <a:xfrm>
            <a:off x="5384306" y="552324"/>
            <a:ext cx="6790392" cy="5408243"/>
            <a:chOff x="119678" y="-101941"/>
            <a:chExt cx="6790392" cy="5408243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CFE5841-02CB-C091-2CEA-E6543309E2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11" t="11266"/>
            <a:stretch/>
          </p:blipFill>
          <p:spPr bwMode="auto">
            <a:xfrm>
              <a:off x="198698" y="1462546"/>
              <a:ext cx="6711372" cy="38437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42EFE5F-5892-0AF6-B340-9EAB5D66F767}"/>
                    </a:ext>
                  </a:extLst>
                </p:cNvPr>
                <p:cNvSpPr txBox="1"/>
                <p:nvPr/>
              </p:nvSpPr>
              <p:spPr>
                <a:xfrm>
                  <a:off x="119678" y="-101941"/>
                  <a:ext cx="5593323" cy="1673535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Anthropogenic emissions in 2003 were </a:t>
                  </a:r>
                  <a:r>
                    <a:rPr lang="en-US" b="1" dirty="0">
                      <a:solidFill>
                        <a:srgbClr val="FF0000"/>
                      </a:solidFill>
                    </a:rPr>
                    <a:t>9</a:t>
                  </a:r>
                  <a14:m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𝑮𝒕𝑪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𝒚𝒓</m:t>
                          </m:r>
                        </m:den>
                      </m:f>
                    </m:oMath>
                  </a14:m>
                  <a:endParaRPr lang="en-US" dirty="0"/>
                </a:p>
                <a:p>
                  <a:r>
                    <a:rPr lang="en-US" dirty="0"/>
                    <a:t>Net sinks in 2003: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𝑮𝒕𝑪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𝒚𝒓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(terrestrial)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𝑮𝒕𝑪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𝒚𝒓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(oceans)</a:t>
                  </a:r>
                  <a:endParaRPr lang="en-US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42EFE5F-5892-0AF6-B340-9EAB5D66F7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678" y="-101941"/>
                  <a:ext cx="5593323" cy="1673535"/>
                </a:xfrm>
                <a:prstGeom prst="rect">
                  <a:avLst/>
                </a:prstGeom>
                <a:blipFill>
                  <a:blip r:embed="rId6"/>
                  <a:stretch>
                    <a:fillRect l="-677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1D0DC6-6016-4B4C-E7C9-FD9805569FDB}"/>
              </a:ext>
            </a:extLst>
          </p:cNvPr>
          <p:cNvGrpSpPr/>
          <p:nvPr/>
        </p:nvGrpSpPr>
        <p:grpSpPr>
          <a:xfrm>
            <a:off x="269522" y="756892"/>
            <a:ext cx="4922696" cy="3281797"/>
            <a:chOff x="7053304" y="910414"/>
            <a:chExt cx="4922696" cy="3281797"/>
          </a:xfrm>
        </p:grpSpPr>
        <p:pic>
          <p:nvPicPr>
            <p:cNvPr id="7" name="Picture 2" descr="Draft diagram of the carbon cycle.">
              <a:extLst>
                <a:ext uri="{FF2B5EF4-FFF2-40B4-BE49-F238E27FC236}">
                  <a16:creationId xmlns:a16="http://schemas.microsoft.com/office/drawing/2014/main" id="{664DC74F-91A4-EBF6-0CF6-F9BE777CB8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3304" y="910414"/>
              <a:ext cx="4922696" cy="32817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C64F76-1BA2-2763-F15D-1C40D5FF2A0D}"/>
                </a:ext>
              </a:extLst>
            </p:cNvPr>
            <p:cNvSpPr txBox="1"/>
            <p:nvPr/>
          </p:nvSpPr>
          <p:spPr>
            <a:xfrm>
              <a:off x="9942145" y="1091624"/>
              <a:ext cx="69498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2003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CC61F6-140C-0808-7BED-C39AB5617783}"/>
              </a:ext>
            </a:extLst>
          </p:cNvPr>
          <p:cNvCxnSpPr>
            <a:cxnSpLocks/>
          </p:cNvCxnSpPr>
          <p:nvPr/>
        </p:nvCxnSpPr>
        <p:spPr>
          <a:xfrm>
            <a:off x="8437946" y="2225859"/>
            <a:ext cx="0" cy="16400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1E6343A-63A9-E1DD-0A17-564812DFBCDA}"/>
              </a:ext>
            </a:extLst>
          </p:cNvPr>
          <p:cNvSpPr txBox="1"/>
          <p:nvPr/>
        </p:nvSpPr>
        <p:spPr>
          <a:xfrm>
            <a:off x="7986531" y="5653105"/>
            <a:ext cx="93754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2003</a:t>
            </a:r>
          </a:p>
        </p:txBody>
      </p:sp>
    </p:spTree>
    <p:extLst>
      <p:ext uri="{BB962C8B-B14F-4D97-AF65-F5344CB8AC3E}">
        <p14:creationId xmlns:p14="http://schemas.microsoft.com/office/powerpoint/2010/main" val="130370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changed in 2023: the terrestrial carbon sink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31E651-4038-FE62-0188-94F05E8431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31" r="6395" b="54768"/>
          <a:stretch/>
        </p:blipFill>
        <p:spPr>
          <a:xfrm>
            <a:off x="133110" y="3214289"/>
            <a:ext cx="5306992" cy="352796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BB543F6-38B2-FB78-9152-B8485E56DD44}"/>
              </a:ext>
            </a:extLst>
          </p:cNvPr>
          <p:cNvGrpSpPr>
            <a:grpSpLocks noChangeAspect="1"/>
          </p:cNvGrpSpPr>
          <p:nvPr/>
        </p:nvGrpSpPr>
        <p:grpSpPr>
          <a:xfrm>
            <a:off x="5988772" y="782861"/>
            <a:ext cx="5685232" cy="5633437"/>
            <a:chOff x="7747508" y="811564"/>
            <a:chExt cx="3926496" cy="38907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0492D44-ADE6-A2EC-1897-995BFC77F727}"/>
                    </a:ext>
                  </a:extLst>
                </p:cNvPr>
                <p:cNvSpPr txBox="1"/>
                <p:nvPr/>
              </p:nvSpPr>
              <p:spPr>
                <a:xfrm>
                  <a:off x="8245117" y="811564"/>
                  <a:ext cx="3204721" cy="7652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200" b="1" dirty="0">
                      <a:latin typeface="TimesNewRomanPS"/>
                    </a:rPr>
                    <a:t>Terrestrial </a:t>
                  </a:r>
                  <a14:m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𝑪</m:t>
                      </m:r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en-US" sz="2200" b="1" dirty="0"/>
                    <a:t> capture in 2023 dropped to </a:t>
                  </a:r>
                  <a14:m>
                    <m:oMath xmlns:m="http://schemas.openxmlformats.org/officeDocument/2006/math"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𝟒𝟒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dirty="0" err="1" smtClean="0">
                          <a:latin typeface="Cambria Math" panose="02040503050406030204" pitchFamily="18" charset="0"/>
                        </a:rPr>
                        <m:t>𝑮𝒕𝑪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𝒚𝒆𝒂𝒓</m:t>
                      </m:r>
                    </m:oMath>
                  </a14:m>
                  <a:r>
                    <a:rPr lang="en-US" sz="2200" dirty="0">
                      <a:effectLst/>
                    </a:rPr>
                    <a:t> </a:t>
                  </a:r>
                  <a:r>
                    <a:rPr lang="en-US" sz="2200" b="1" dirty="0"/>
                    <a:t>(the weakest since 2003)</a:t>
                  </a:r>
                  <a:endParaRPr lang="en-US" sz="2200" dirty="0">
                    <a:effectLst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0492D44-ADE6-A2EC-1897-995BFC77F7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5117" y="811564"/>
                  <a:ext cx="3204721" cy="765236"/>
                </a:xfrm>
                <a:prstGeom prst="rect">
                  <a:avLst/>
                </a:prstGeom>
                <a:blipFill>
                  <a:blip r:embed="rId3"/>
                  <a:stretch>
                    <a:fillRect l="-1639" t="-3409" b="-1022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080C82B-303C-35EF-8F56-93E6A27422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090" t="45988" r="5903"/>
            <a:stretch/>
          </p:blipFill>
          <p:spPr>
            <a:xfrm>
              <a:off x="7747508" y="1611879"/>
              <a:ext cx="3926496" cy="3090409"/>
            </a:xfrm>
            <a:prstGeom prst="rect">
              <a:avLst/>
            </a:prstGeom>
          </p:spPr>
        </p:pic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B1F0838-813C-EC30-877E-37418DF63D4B}"/>
              </a:ext>
            </a:extLst>
          </p:cNvPr>
          <p:cNvCxnSpPr>
            <a:cxnSpLocks/>
          </p:cNvCxnSpPr>
          <p:nvPr/>
        </p:nvCxnSpPr>
        <p:spPr>
          <a:xfrm>
            <a:off x="3828081" y="3214289"/>
            <a:ext cx="1206906" cy="11840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999AB1-7358-AECA-434E-D2A02D7FCD62}"/>
                  </a:ext>
                </a:extLst>
              </p:cNvPr>
              <p:cNvSpPr txBox="1"/>
              <p:nvPr/>
            </p:nvSpPr>
            <p:spPr>
              <a:xfrm>
                <a:off x="866169" y="2444848"/>
                <a:ext cx="416881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Atmospheric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200" b="1" dirty="0"/>
                  <a:t> growth rate in 2023 was over 3 ppm/</a:t>
                </a:r>
                <a:r>
                  <a:rPr lang="en-US" sz="2200" b="1" dirty="0" err="1"/>
                  <a:t>yr</a:t>
                </a:r>
                <a:r>
                  <a:rPr lang="en-US" sz="2200" b="1" dirty="0"/>
                  <a:t>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999AB1-7358-AECA-434E-D2A02D7FC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69" y="2444848"/>
                <a:ext cx="4168818" cy="769441"/>
              </a:xfrm>
              <a:prstGeom prst="rect">
                <a:avLst/>
              </a:prstGeom>
              <a:blipFill>
                <a:blip r:embed="rId4"/>
                <a:stretch>
                  <a:fillRect l="-1824" t="-491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5843A356-E6C8-038E-BE7A-E377D3966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09" y="593298"/>
            <a:ext cx="6132509" cy="163286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DF987E-5341-6FBB-057E-5DF25206633E}"/>
              </a:ext>
            </a:extLst>
          </p:cNvPr>
          <p:cNvCxnSpPr>
            <a:cxnSpLocks/>
          </p:cNvCxnSpPr>
          <p:nvPr/>
        </p:nvCxnSpPr>
        <p:spPr>
          <a:xfrm>
            <a:off x="9918915" y="1712605"/>
            <a:ext cx="1146874" cy="22859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514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Where did we lose the sink?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867C72F-30B4-1639-273B-0C6129740120}"/>
                  </a:ext>
                </a:extLst>
              </p:cNvPr>
              <p:cNvSpPr txBox="1"/>
              <p:nvPr/>
            </p:nvSpPr>
            <p:spPr>
              <a:xfrm>
                <a:off x="173081" y="1427161"/>
                <a:ext cx="6048408" cy="452431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 =&gt; a region did not pull as much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out of the air compared to usual (i.e. </a:t>
                </a:r>
                <a:r>
                  <a:rPr lang="en-US" sz="2400" dirty="0">
                    <a:solidFill>
                      <a:srgbClr val="FF0000"/>
                    </a:solidFill>
                  </a:rPr>
                  <a:t>red</a:t>
                </a:r>
                <a:r>
                  <a:rPr lang="en-US" sz="2400" dirty="0"/>
                  <a:t> = bad, </a:t>
                </a:r>
                <a:r>
                  <a:rPr lang="en-US" sz="2400" dirty="0">
                    <a:solidFill>
                      <a:srgbClr val="00B050"/>
                    </a:solidFill>
                  </a:rPr>
                  <a:t>green</a:t>
                </a:r>
                <a:r>
                  <a:rPr lang="en-US" sz="2400" dirty="0"/>
                  <a:t> = good).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“Overall, it is the compounding coincidence of a large abnormal source in the Tropics contributed by the Amazon drought offsetting higher sinks in central and eastern Africa and Western North America, and a weak summer uptake in the rest of the northern Hemisphere that explains the cancellation of the global land sink in 2023”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867C72F-30B4-1639-273B-0C6129740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81" y="1427161"/>
                <a:ext cx="6048408" cy="4524315"/>
              </a:xfrm>
              <a:prstGeom prst="rect">
                <a:avLst/>
              </a:prstGeom>
              <a:blipFill>
                <a:blip r:embed="rId2"/>
                <a:stretch>
                  <a:fillRect l="-1253" t="-559" r="-2296" b="-19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D07E4E04-C695-DB93-3A72-B1247657E3DF}"/>
              </a:ext>
            </a:extLst>
          </p:cNvPr>
          <p:cNvGrpSpPr/>
          <p:nvPr/>
        </p:nvGrpSpPr>
        <p:grpSpPr>
          <a:xfrm>
            <a:off x="6512245" y="929590"/>
            <a:ext cx="5145298" cy="5363558"/>
            <a:chOff x="6302419" y="1363775"/>
            <a:chExt cx="5145298" cy="536355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0166758-0898-6CCD-0096-767136D78629}"/>
                </a:ext>
              </a:extLst>
            </p:cNvPr>
            <p:cNvGrpSpPr/>
            <p:nvPr/>
          </p:nvGrpSpPr>
          <p:grpSpPr>
            <a:xfrm>
              <a:off x="6302419" y="1363775"/>
              <a:ext cx="3237821" cy="5363558"/>
              <a:chOff x="3171463" y="1879573"/>
              <a:chExt cx="3237821" cy="5363558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8E276DD-4B2E-C348-07FF-3D5A57E996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22314" r="44140"/>
              <a:stretch/>
            </p:blipFill>
            <p:spPr>
              <a:xfrm>
                <a:off x="3171463" y="2248905"/>
                <a:ext cx="3237821" cy="4994226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B10668-A225-812C-3A8F-D33F28E46619}"/>
                  </a:ext>
                </a:extLst>
              </p:cNvPr>
              <p:cNvSpPr txBox="1"/>
              <p:nvPr/>
            </p:nvSpPr>
            <p:spPr>
              <a:xfrm>
                <a:off x="3828395" y="1879573"/>
                <a:ext cx="160888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2023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620550B-4DA7-6799-D3EB-D4FEC4F5BB53}"/>
                </a:ext>
              </a:extLst>
            </p:cNvPr>
            <p:cNvGrpSpPr/>
            <p:nvPr/>
          </p:nvGrpSpPr>
          <p:grpSpPr>
            <a:xfrm>
              <a:off x="9830997" y="1861346"/>
              <a:ext cx="1616720" cy="4575209"/>
              <a:chOff x="10575280" y="1861346"/>
              <a:chExt cx="1616720" cy="4575209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BDF9BF-12A7-FAD0-9A18-55C87E3C20F3}"/>
                  </a:ext>
                </a:extLst>
              </p:cNvPr>
              <p:cNvSpPr txBox="1"/>
              <p:nvPr/>
            </p:nvSpPr>
            <p:spPr>
              <a:xfrm>
                <a:off x="10575280" y="1861346"/>
                <a:ext cx="16167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NH winter</a:t>
                </a:r>
              </a:p>
              <a:p>
                <a:r>
                  <a:rPr lang="en-US" dirty="0"/>
                  <a:t>---------------</a:t>
                </a:r>
              </a:p>
              <a:p>
                <a:r>
                  <a:rPr lang="en-US" dirty="0"/>
                  <a:t>SH summer 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59ED73-A4D8-227C-B297-95BA2084B1A6}"/>
                  </a:ext>
                </a:extLst>
              </p:cNvPr>
              <p:cNvSpPr txBox="1"/>
              <p:nvPr/>
            </p:nvSpPr>
            <p:spPr>
              <a:xfrm>
                <a:off x="10575280" y="3097594"/>
                <a:ext cx="16167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NH spring</a:t>
                </a:r>
              </a:p>
              <a:p>
                <a:r>
                  <a:rPr lang="en-US" dirty="0"/>
                  <a:t>---------------</a:t>
                </a:r>
              </a:p>
              <a:p>
                <a:r>
                  <a:rPr lang="en-US" dirty="0"/>
                  <a:t>SH fall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F57D02-CFDB-AD89-B959-BB5D29BB6686}"/>
                  </a:ext>
                </a:extLst>
              </p:cNvPr>
              <p:cNvSpPr txBox="1"/>
              <p:nvPr/>
            </p:nvSpPr>
            <p:spPr>
              <a:xfrm>
                <a:off x="10575280" y="4299117"/>
                <a:ext cx="16167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NH summer</a:t>
                </a:r>
              </a:p>
              <a:p>
                <a:r>
                  <a:rPr lang="en-US" dirty="0"/>
                  <a:t>---------------</a:t>
                </a:r>
              </a:p>
              <a:p>
                <a:r>
                  <a:rPr lang="en-US" dirty="0"/>
                  <a:t>SH winter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5C1956-E11C-7D60-B339-1D223F848E2E}"/>
                  </a:ext>
                </a:extLst>
              </p:cNvPr>
              <p:cNvSpPr txBox="1"/>
              <p:nvPr/>
            </p:nvSpPr>
            <p:spPr>
              <a:xfrm>
                <a:off x="10575280" y="5513225"/>
                <a:ext cx="16167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NH fall</a:t>
                </a:r>
              </a:p>
              <a:p>
                <a:r>
                  <a:rPr lang="en-US" dirty="0"/>
                  <a:t>---------------</a:t>
                </a:r>
              </a:p>
              <a:p>
                <a:r>
                  <a:rPr lang="en-US" dirty="0"/>
                  <a:t>SH spring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5702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It’s not like the trend is a huge surprise, it’s just coming on faster than we thought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2E253E-DD44-82B3-26D5-34366E7181B3}"/>
              </a:ext>
            </a:extLst>
          </p:cNvPr>
          <p:cNvGrpSpPr>
            <a:grpSpLocks noChangeAspect="1"/>
          </p:cNvGrpSpPr>
          <p:nvPr/>
        </p:nvGrpSpPr>
        <p:grpSpPr>
          <a:xfrm>
            <a:off x="370619" y="1522371"/>
            <a:ext cx="4805773" cy="3142227"/>
            <a:chOff x="151085" y="635777"/>
            <a:chExt cx="2481353" cy="162241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3222032-E86A-8CAB-56AA-7E6FA4E776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9678"/>
            <a:stretch/>
          </p:blipFill>
          <p:spPr>
            <a:xfrm>
              <a:off x="151085" y="635777"/>
              <a:ext cx="2481353" cy="162241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332C13-319A-35E6-CAD6-AE3CF593469F}"/>
                </a:ext>
              </a:extLst>
            </p:cNvPr>
            <p:cNvSpPr txBox="1"/>
            <p:nvPr/>
          </p:nvSpPr>
          <p:spPr>
            <a:xfrm>
              <a:off x="1093977" y="1845272"/>
              <a:ext cx="1428738" cy="33371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2021 (Richard Gere and friends)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91C1082-FE67-5334-EAB1-AB1CB00AC7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90" t="45988" r="5903"/>
          <a:stretch/>
        </p:blipFill>
        <p:spPr>
          <a:xfrm>
            <a:off x="5292264" y="1063239"/>
            <a:ext cx="6355611" cy="50022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c 4">
            <a:extLst>
              <a:ext uri="{FF2B5EF4-FFF2-40B4-BE49-F238E27FC236}">
                <a16:creationId xmlns:a16="http://schemas.microsoft.com/office/drawing/2014/main" id="{2D188463-AA8D-20AA-7D55-4390AC2EE88F}"/>
              </a:ext>
            </a:extLst>
          </p:cNvPr>
          <p:cNvSpPr/>
          <p:nvPr/>
        </p:nvSpPr>
        <p:spPr>
          <a:xfrm flipV="1">
            <a:off x="3383280" y="3566159"/>
            <a:ext cx="6976062" cy="2159143"/>
          </a:xfrm>
          <a:prstGeom prst="arc">
            <a:avLst>
              <a:gd name="adj1" fmla="val 10825409"/>
              <a:gd name="adj2" fmla="val 65207"/>
            </a:avLst>
          </a:prstGeom>
          <a:ln w="63500">
            <a:solidFill>
              <a:schemeClr val="tx1">
                <a:alpha val="42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400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300</Words>
  <Application>Microsoft Macintosh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TimesNewRomanPS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</cp:revision>
  <dcterms:created xsi:type="dcterms:W3CDTF">2025-10-30T18:29:27Z</dcterms:created>
  <dcterms:modified xsi:type="dcterms:W3CDTF">2025-11-03T05:11:08Z</dcterms:modified>
</cp:coreProperties>
</file>