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030" r:id="rId2"/>
    <p:sldId id="2042" r:id="rId3"/>
    <p:sldId id="2040" r:id="rId4"/>
    <p:sldId id="204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958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774773-AB2D-FF4D-AA62-4C13D5A20230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12BE1-E76A-B342-9142-77912CD920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939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F4DD9-13C6-E03A-CAFD-8DEFC8CE8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308E4-FC70-8A51-3143-6970290569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ED0F6-07A4-2A01-C0CD-AB70A02D1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46090-79A8-8243-796D-0A9C1FA4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BCED-CCBF-4A52-42D6-1B60F041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90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9E79E-8744-D5BF-7FEB-DFD0B75FC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AC825-FA81-9FCA-3200-62A60E233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BE87FD-A316-4A1A-1F38-B7CEF110C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F6028-8D7A-607C-8CD5-B70B47D38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0E0BB-E3D7-BB2E-D46A-181D1F93F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886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A065-8C60-F8E3-B3F8-747C41EC0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2C4A0-179D-7930-583D-8597CEF55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51135-44E5-AF34-933D-068CB9207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26839-F206-A336-E010-8FB0E3395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6A4C4-3DE0-DA9E-07DF-BB47A6F7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331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6781B-C67D-2FED-4007-773585DC1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43F02-4B2C-8001-FAC7-908D7335E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F862A4-EFA8-71FA-FA64-56F8DE37B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605A33-BA8E-2838-5F64-62EB7F5F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3F7255-790D-6562-1902-7AB370034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351A9-1EE9-E412-BBBC-B480A46DF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4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E067E-EED1-6F31-9C45-72C169BF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FD313-6087-CE36-824F-DAAF56F23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3660ED-A801-1654-FC81-1DFA0321F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53228-9FDD-D1C9-8AA2-9EB3806901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DCDC25-A152-AD5B-A684-12CE2136D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269776-485C-ADBD-D854-B4DBACB51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7B0EB8-383C-A885-AEAC-477F38A6B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1E252B-BEB5-81AE-BC7B-0DCC6C2D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15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59199-93AB-45A0-3989-F16405C3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06A57-D3FC-4395-46BA-0C73FCFB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B72FB-EE88-CA67-2E59-6CFE14496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055D-F828-9BDD-3573-DFDEFB09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162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B2514-6B95-E06D-5C7F-AADA1E6F0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6D8A98-DA29-1BA5-C1FD-187B4E01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ED1AC-9448-9997-1BAA-AEDCB7EAF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323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F2215-3E88-2751-6824-905E03838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1FAD0-A660-7156-968A-A32CA926D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428000-675A-FD01-F8AB-49B1D31E6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643DD4-BD57-0D82-596A-7645406B3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91614-E40D-5860-FBC1-434A8F04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223C5-0BB7-E51D-51DC-3B2D54C51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91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61D93-B246-328D-DE54-53B20F626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9FF14-E039-7EA8-21E8-562B138DF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AD2BF3-C512-9D9E-440E-267C4A6195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F958A6-0EA5-1226-8412-DD912534C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E5580-9DE1-18E6-4FE7-79723E8B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005DB-2EB5-7AA4-C79D-284C8E849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A3B77-A657-6546-5A79-E7B00C59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952B25-2221-5EFE-DD95-3BE4566DD8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3FD5B-332C-B28B-E49E-D1FC18DA6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7419DB-9B83-865A-CE09-2D93E0671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B4298-AB23-6E2B-E8E3-999B2F7AB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14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C40B8-EB2D-AF8F-8603-2FD5D9719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BDFE7-7D7C-7313-7564-B513EB6F5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85203-5C97-E4A7-1F4C-1B8676A8C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DBA2D-AA2F-D91E-FE86-8C353564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21100-370C-8586-EE5D-6395DD8A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626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A44A09-A727-A207-595A-DE1EC93E6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6A88B-8718-228C-941D-71C47F0A3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51F8F-DD13-4745-4CD1-9776C75BA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3EA19-5188-5047-B099-038B889E10E9}" type="datetimeFigureOut">
              <a:rPr lang="en-US" smtClean="0"/>
              <a:t>10/30/25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1641E-2950-86A0-933E-94EA3F5E08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DBAB7C-F09E-B565-444F-5E51938660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47DCE-34E7-5642-B8E9-C0CC63BE91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2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D0F0FCA-53B5-6F40-B6DC-7700AD131260}"/>
              </a:ext>
            </a:extLst>
          </p:cNvPr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Positive feedbacks we’ve touched on so far: The Henry effect (Implemented in Cambio 2.0)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541529C-736A-ED48-9BC5-C9B2150720B8}"/>
              </a:ext>
            </a:extLst>
          </p:cNvPr>
          <p:cNvGrpSpPr/>
          <p:nvPr/>
        </p:nvGrpSpPr>
        <p:grpSpPr>
          <a:xfrm>
            <a:off x="1870068" y="464239"/>
            <a:ext cx="7982592" cy="6284664"/>
            <a:chOff x="1870068" y="464239"/>
            <a:chExt cx="7982592" cy="6284664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294E748-9007-0364-F053-BB9B731B7E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0068" y="464239"/>
              <a:ext cx="7982592" cy="62846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F0D09B2-AF2E-DA1A-2492-26DD4066AF71}"/>
                </a:ext>
              </a:extLst>
            </p:cNvPr>
            <p:cNvSpPr/>
            <p:nvPr/>
          </p:nvSpPr>
          <p:spPr>
            <a:xfrm>
              <a:off x="7772400" y="5669280"/>
              <a:ext cx="1565910" cy="274320"/>
            </a:xfrm>
            <a:prstGeom prst="rect">
              <a:avLst/>
            </a:prstGeom>
            <a:solidFill>
              <a:srgbClr val="C00000">
                <a:alpha val="36229"/>
              </a:srgb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D66A564-DF11-6B54-1E4C-2E5265F2630F}"/>
                </a:ext>
              </a:extLst>
            </p:cNvPr>
            <p:cNvSpPr/>
            <p:nvPr/>
          </p:nvSpPr>
          <p:spPr>
            <a:xfrm>
              <a:off x="2339340" y="4895850"/>
              <a:ext cx="1565910" cy="476250"/>
            </a:xfrm>
            <a:prstGeom prst="rect">
              <a:avLst/>
            </a:prstGeom>
            <a:solidFill>
              <a:srgbClr val="C00000">
                <a:alpha val="36229"/>
              </a:srgbClr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62265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D0F0FCA-53B5-6F40-B6DC-7700AD131260}"/>
              </a:ext>
            </a:extLst>
          </p:cNvPr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Incorporating ice-albedo feedback into our carbon mass balance (Cambio 3.0)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F2AB69-AACB-B2F5-9156-C6A6891D8DD8}"/>
              </a:ext>
            </a:extLst>
          </p:cNvPr>
          <p:cNvGrpSpPr/>
          <p:nvPr/>
        </p:nvGrpSpPr>
        <p:grpSpPr>
          <a:xfrm>
            <a:off x="1870068" y="464239"/>
            <a:ext cx="7982592" cy="6284664"/>
            <a:chOff x="1870068" y="464239"/>
            <a:chExt cx="7982592" cy="62846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6F9865-0131-BBC0-B728-59D3BCAA485B}"/>
                </a:ext>
              </a:extLst>
            </p:cNvPr>
            <p:cNvGrpSpPr/>
            <p:nvPr/>
          </p:nvGrpSpPr>
          <p:grpSpPr>
            <a:xfrm>
              <a:off x="1870068" y="464239"/>
              <a:ext cx="7982592" cy="6284664"/>
              <a:chOff x="1870068" y="464239"/>
              <a:chExt cx="7982592" cy="628466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294E748-9007-0364-F053-BB9B731B7E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0068" y="464239"/>
                <a:ext cx="7982592" cy="6284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0D09B2-AF2E-DA1A-2492-26DD4066AF71}"/>
                  </a:ext>
                </a:extLst>
              </p:cNvPr>
              <p:cNvSpPr/>
              <p:nvPr/>
            </p:nvSpPr>
            <p:spPr>
              <a:xfrm>
                <a:off x="6560820" y="3714750"/>
                <a:ext cx="1268730" cy="560070"/>
              </a:xfrm>
              <a:prstGeom prst="rect">
                <a:avLst/>
              </a:prstGeom>
              <a:solidFill>
                <a:srgbClr val="C00000">
                  <a:alpha val="36229"/>
                </a:srgb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66A564-DF11-6B54-1E4C-2E5265F2630F}"/>
                  </a:ext>
                </a:extLst>
              </p:cNvPr>
              <p:cNvSpPr/>
              <p:nvPr/>
            </p:nvSpPr>
            <p:spPr>
              <a:xfrm>
                <a:off x="3905250" y="3714750"/>
                <a:ext cx="1604010" cy="674370"/>
              </a:xfrm>
              <a:prstGeom prst="rect">
                <a:avLst/>
              </a:prstGeom>
              <a:solidFill>
                <a:srgbClr val="C00000">
                  <a:alpha val="36229"/>
                </a:srgb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938DA6CD-ED86-F377-FA5F-55A8232B329E}"/>
                </a:ext>
              </a:extLst>
            </p:cNvPr>
            <p:cNvSpPr/>
            <p:nvPr/>
          </p:nvSpPr>
          <p:spPr>
            <a:xfrm>
              <a:off x="4917758" y="2583180"/>
              <a:ext cx="2328862" cy="1954530"/>
            </a:xfrm>
            <a:prstGeom prst="arc">
              <a:avLst>
                <a:gd name="adj1" fmla="val 17613940"/>
                <a:gd name="adj2" fmla="val 0"/>
              </a:avLst>
            </a:prstGeom>
            <a:ln w="190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4042DBB0-AA7D-2AF1-427F-2BD564064745}"/>
                </a:ext>
              </a:extLst>
            </p:cNvPr>
            <p:cNvSpPr/>
            <p:nvPr/>
          </p:nvSpPr>
          <p:spPr>
            <a:xfrm rot="6582394">
              <a:off x="4758992" y="2676881"/>
              <a:ext cx="2466238" cy="2594917"/>
            </a:xfrm>
            <a:prstGeom prst="arc">
              <a:avLst>
                <a:gd name="adj1" fmla="val 16853553"/>
                <a:gd name="adj2" fmla="val 2519995"/>
              </a:avLst>
            </a:prstGeom>
            <a:ln w="190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B951CA5B-228E-FB18-9F5C-E57D689F8B78}"/>
                </a:ext>
              </a:extLst>
            </p:cNvPr>
            <p:cNvSpPr/>
            <p:nvPr/>
          </p:nvSpPr>
          <p:spPr>
            <a:xfrm rot="5400000" flipH="1" flipV="1">
              <a:off x="4322767" y="3007833"/>
              <a:ext cx="2738425" cy="1973902"/>
            </a:xfrm>
            <a:prstGeom prst="arc">
              <a:avLst>
                <a:gd name="adj1" fmla="val 17980251"/>
                <a:gd name="adj2" fmla="val 0"/>
              </a:avLst>
            </a:prstGeom>
            <a:ln w="190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76708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4D0F0FCA-53B5-6F40-B6DC-7700AD131260}"/>
              </a:ext>
            </a:extLst>
          </p:cNvPr>
          <p:cNvSpPr txBox="1"/>
          <p:nvPr/>
        </p:nvSpPr>
        <p:spPr>
          <a:xfrm>
            <a:off x="0" y="2574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Incorporating ice-albedo feedback into our carbon mass balance (Cambio 3.0)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F2AB69-AACB-B2F5-9156-C6A6891D8DD8}"/>
              </a:ext>
            </a:extLst>
          </p:cNvPr>
          <p:cNvGrpSpPr/>
          <p:nvPr/>
        </p:nvGrpSpPr>
        <p:grpSpPr>
          <a:xfrm>
            <a:off x="1870068" y="464239"/>
            <a:ext cx="7982592" cy="6284664"/>
            <a:chOff x="1870068" y="464239"/>
            <a:chExt cx="7982592" cy="62846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36F9865-0131-BBC0-B728-59D3BCAA485B}"/>
                </a:ext>
              </a:extLst>
            </p:cNvPr>
            <p:cNvGrpSpPr/>
            <p:nvPr/>
          </p:nvGrpSpPr>
          <p:grpSpPr>
            <a:xfrm>
              <a:off x="1870068" y="464239"/>
              <a:ext cx="7982592" cy="6284664"/>
              <a:chOff x="1870068" y="464239"/>
              <a:chExt cx="7982592" cy="628466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294E748-9007-0364-F053-BB9B731B7E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70068" y="464239"/>
                <a:ext cx="7982592" cy="62846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F0D09B2-AF2E-DA1A-2492-26DD4066AF71}"/>
                  </a:ext>
                </a:extLst>
              </p:cNvPr>
              <p:cNvSpPr/>
              <p:nvPr/>
            </p:nvSpPr>
            <p:spPr>
              <a:xfrm>
                <a:off x="6560820" y="3714750"/>
                <a:ext cx="1268730" cy="560070"/>
              </a:xfrm>
              <a:prstGeom prst="rect">
                <a:avLst/>
              </a:prstGeom>
              <a:solidFill>
                <a:srgbClr val="C00000">
                  <a:alpha val="36229"/>
                </a:srgb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D66A564-DF11-6B54-1E4C-2E5265F2630F}"/>
                  </a:ext>
                </a:extLst>
              </p:cNvPr>
              <p:cNvSpPr/>
              <p:nvPr/>
            </p:nvSpPr>
            <p:spPr>
              <a:xfrm>
                <a:off x="3905250" y="3714750"/>
                <a:ext cx="1604010" cy="674370"/>
              </a:xfrm>
              <a:prstGeom prst="rect">
                <a:avLst/>
              </a:prstGeom>
              <a:solidFill>
                <a:srgbClr val="C00000">
                  <a:alpha val="36229"/>
                </a:srgbClr>
              </a:solidFill>
              <a:ln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" name="Arc 5">
              <a:extLst>
                <a:ext uri="{FF2B5EF4-FFF2-40B4-BE49-F238E27FC236}">
                  <a16:creationId xmlns:a16="http://schemas.microsoft.com/office/drawing/2014/main" id="{938DA6CD-ED86-F377-FA5F-55A8232B329E}"/>
                </a:ext>
              </a:extLst>
            </p:cNvPr>
            <p:cNvSpPr/>
            <p:nvPr/>
          </p:nvSpPr>
          <p:spPr>
            <a:xfrm>
              <a:off x="4917758" y="2583180"/>
              <a:ext cx="2328862" cy="1954530"/>
            </a:xfrm>
            <a:prstGeom prst="arc">
              <a:avLst>
                <a:gd name="adj1" fmla="val 17613940"/>
                <a:gd name="adj2" fmla="val 0"/>
              </a:avLst>
            </a:prstGeom>
            <a:ln w="190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Arc 6">
              <a:extLst>
                <a:ext uri="{FF2B5EF4-FFF2-40B4-BE49-F238E27FC236}">
                  <a16:creationId xmlns:a16="http://schemas.microsoft.com/office/drawing/2014/main" id="{4042DBB0-AA7D-2AF1-427F-2BD564064745}"/>
                </a:ext>
              </a:extLst>
            </p:cNvPr>
            <p:cNvSpPr/>
            <p:nvPr/>
          </p:nvSpPr>
          <p:spPr>
            <a:xfrm rot="6582394">
              <a:off x="4758992" y="2676881"/>
              <a:ext cx="2466238" cy="2594917"/>
            </a:xfrm>
            <a:prstGeom prst="arc">
              <a:avLst>
                <a:gd name="adj1" fmla="val 16853553"/>
                <a:gd name="adj2" fmla="val 2519995"/>
              </a:avLst>
            </a:prstGeom>
            <a:ln w="190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Arc 7">
              <a:extLst>
                <a:ext uri="{FF2B5EF4-FFF2-40B4-BE49-F238E27FC236}">
                  <a16:creationId xmlns:a16="http://schemas.microsoft.com/office/drawing/2014/main" id="{B951CA5B-228E-FB18-9F5C-E57D689F8B78}"/>
                </a:ext>
              </a:extLst>
            </p:cNvPr>
            <p:cNvSpPr/>
            <p:nvPr/>
          </p:nvSpPr>
          <p:spPr>
            <a:xfrm rot="5400000" flipH="1" flipV="1">
              <a:off x="4322767" y="3007833"/>
              <a:ext cx="2738425" cy="1973902"/>
            </a:xfrm>
            <a:prstGeom prst="arc">
              <a:avLst>
                <a:gd name="adj1" fmla="val 17980251"/>
                <a:gd name="adj2" fmla="val 0"/>
              </a:avLst>
            </a:prstGeom>
            <a:ln w="1905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DA465EF-DBFB-9B05-57E8-8A0CE0074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73" y="5363336"/>
            <a:ext cx="11490054" cy="11322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594799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935E6CD-1823-2F4C-BEBA-D6839E801526}"/>
              </a:ext>
            </a:extLst>
          </p:cNvPr>
          <p:cNvSpPr txBox="1"/>
          <p:nvPr/>
        </p:nvSpPr>
        <p:spPr>
          <a:xfrm>
            <a:off x="1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5EAB51-BC34-6090-9095-1BD0EDFE6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735" y="1291590"/>
            <a:ext cx="10523033" cy="4669595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803597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46</Words>
  <Application>Microsoft Macintosh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40</cp:revision>
  <dcterms:created xsi:type="dcterms:W3CDTF">2024-11-09T18:22:06Z</dcterms:created>
  <dcterms:modified xsi:type="dcterms:W3CDTF">2025-10-30T18:10:03Z</dcterms:modified>
</cp:coreProperties>
</file>