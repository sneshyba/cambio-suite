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76" r:id="rId2"/>
    <p:sldId id="281" r:id="rId3"/>
    <p:sldId id="280" r:id="rId4"/>
    <p:sldId id="460" r:id="rId5"/>
    <p:sldId id="469" r:id="rId6"/>
    <p:sldId id="470" r:id="rId7"/>
    <p:sldId id="473" r:id="rId8"/>
    <p:sldId id="474" r:id="rId9"/>
    <p:sldId id="472" r:id="rId10"/>
    <p:sldId id="475" r:id="rId11"/>
    <p:sldId id="4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76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6058-2DB7-6C41-A5DB-AAE76B539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453E5-457B-2545-A168-7C28CABAF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38098-06BC-664A-A358-6CB852BC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CF056-A60D-6D4E-BB3A-2E3E73B2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7AD05-7429-F74F-AAAB-B07F6D33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3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EB25-C144-EC43-AEA2-ECD9DAE4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E6947-9CD0-7C4D-AFBE-8E1F0E7FC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A422D-8AF9-8A43-BC86-6253F182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E349A-4786-6E44-B6E3-5DAEF691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6BB39-79A6-854E-8FB5-9094A545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9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B139-79AA-474E-9A52-D880C3B6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44DDA-E7E3-D149-97D3-E0D0C1230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3FACC-08B2-A540-9415-02C17FA6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012AD-6859-3F4F-9D8F-5BAC1F31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FF9B2-7220-CB4A-B8AD-FEAF94DC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5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AD9E-A4CE-9F46-8C44-A9F01171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7D00-D85E-7A40-AD38-1CECBDBC2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7CB9D-EA9F-D943-BEDD-546BAF026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2BBCC-ACD4-3040-8A09-6D76C258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D15C4-B5B2-324C-BF4E-4ABDD9A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326BC-50B1-6749-ABD5-8DAED600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2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2BFB-0AFA-0D4A-A1D0-8BEFB914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7B67F-5B1C-0943-A2A3-CBF8E68C5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41B63-CB8E-054E-8833-A255157F3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9E6C9-A511-F649-A2E2-F8AFFB1BE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BD9C5-8FCB-C740-883D-2333F1DBC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56F16-F5BC-AF40-9294-1CB82776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AB668-3149-824B-900F-93A9973E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8097F-A466-E445-AC7F-245D9717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1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8DFE-077D-4744-ADDD-0E2FD177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7909B-C37B-654F-B65D-5F3D1FF6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E678E-596B-D947-9DC5-84A947BC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CAAE8-4035-F441-B646-17620ACC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1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ECC5-77A9-5445-80FE-D8738F0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A5CC4-C132-124F-8496-44467113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53CBC-BED8-B748-9F12-12F61544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5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21B8-07E5-514E-8B35-A42326080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1DC12-BA41-FF4A-B8D3-1EE3518CC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77964-86F2-2541-B537-0A35A5AD2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B20C1-4BBF-F14B-BA1F-E6461232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2B816-0C48-9A4A-A9D1-42B573A2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49D91-262B-4242-80A0-2CA7891E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6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9572-3A16-D148-8FE0-9A98448A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35095-697D-4140-AEDB-F08674BCB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9D1DB-1340-3141-8E19-978A9C1D7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4F798-B390-0242-A006-FE654FA9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3EB23-DF67-C846-9212-5A29B3F1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F6139-C3F0-E24F-A471-648222F8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7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E03F-CB73-2A46-97B3-8B00BF9C7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12B4F-3519-634C-9B74-78886A074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33FE1-1BAE-6C43-AC73-26EE7EBF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9112-4887-994B-BFC4-5360C93F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653D7-CA62-9B42-AC9D-B228B283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7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280C34-5D6F-B84E-B604-550979310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F09D4-D836-2B4C-AED1-6527F0024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20A41-24E2-304D-8AF0-E0FB9A04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DD9C4-F476-6F46-9BC5-F81E5603F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74E26-E780-684A-8EF0-9FAEF94E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2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A7C34-331B-7942-B1AF-58764378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2309B-7005-544B-9615-C281432E0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A7FC7-D133-0147-8686-AB8F3051C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317AA-8FA1-2E41-8557-8D664995FAFE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FDF20-2866-BA40-896A-1FF57F8A1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27F9-DBAA-564B-ADC7-EF600C9E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ml.noaa.gov/dv/data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8400BF-70EF-1143-9971-E39AB747D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+mn-lt"/>
              </a:rPr>
              <a:t>What exactly are we trying to represent when we model climate?</a:t>
            </a:r>
          </a:p>
        </p:txBody>
      </p:sp>
      <p:pic>
        <p:nvPicPr>
          <p:cNvPr id="5" name="Picture 2" descr="Schematic for a Climate Model">
            <a:extLst>
              <a:ext uri="{FF2B5EF4-FFF2-40B4-BE49-F238E27FC236}">
                <a16:creationId xmlns:a16="http://schemas.microsoft.com/office/drawing/2014/main" id="{86712BF2-EE9C-FF40-A5E1-B75468E42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924" y="914400"/>
            <a:ext cx="5304234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robability Examples In Daily Life">
            <a:extLst>
              <a:ext uri="{FF2B5EF4-FFF2-40B4-BE49-F238E27FC236}">
                <a16:creationId xmlns:a16="http://schemas.microsoft.com/office/drawing/2014/main" id="{A9EFE9A5-382A-3349-B32A-341D67062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42" y="2449592"/>
            <a:ext cx="5595735" cy="299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A4C89A-94C2-DD45-90B6-6D67F767FEC7}"/>
              </a:ext>
            </a:extLst>
          </p:cNvPr>
          <p:cNvSpPr txBox="1"/>
          <p:nvPr/>
        </p:nvSpPr>
        <p:spPr>
          <a:xfrm>
            <a:off x="290342" y="1143000"/>
            <a:ext cx="6316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We’ve seen a lot of </a:t>
            </a:r>
            <a:r>
              <a:rPr lang="en-US" sz="2400" b="1" dirty="0"/>
              <a:t>geographical</a:t>
            </a:r>
            <a:r>
              <a:rPr lang="en-US" sz="2400" dirty="0"/>
              <a:t> </a:t>
            </a:r>
            <a:r>
              <a:rPr lang="en-US" sz="2400" b="1" dirty="0"/>
              <a:t>variability</a:t>
            </a:r>
            <a:r>
              <a:rPr lang="en-US" sz="2400" dirty="0"/>
              <a:t> in the observational record (</a:t>
            </a:r>
            <a:r>
              <a:rPr lang="en-US" sz="2400" dirty="0" err="1"/>
              <a:t>EdGCM</a:t>
            </a:r>
            <a:r>
              <a:rPr lang="en-US" sz="2400" dirty="0"/>
              <a:t>). How about </a:t>
            </a:r>
            <a:r>
              <a:rPr lang="en-US" sz="2400" b="1" dirty="0"/>
              <a:t>temporal variability </a:t>
            </a:r>
            <a:r>
              <a:rPr lang="en-US" sz="2400" dirty="0"/>
              <a:t>at a given location?</a:t>
            </a:r>
          </a:p>
        </p:txBody>
      </p:sp>
    </p:spTree>
    <p:extLst>
      <p:ext uri="{BB962C8B-B14F-4D97-AF65-F5344CB8AC3E}">
        <p14:creationId xmlns:p14="http://schemas.microsoft.com/office/powerpoint/2010/main" val="223273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NOAA archive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9A6EC-B6FC-8F44-B333-6B1AAB9540F1}"/>
              </a:ext>
            </a:extLst>
          </p:cNvPr>
          <p:cNvSpPr txBox="1"/>
          <p:nvPr/>
        </p:nvSpPr>
        <p:spPr>
          <a:xfrm>
            <a:off x="476251" y="607179"/>
            <a:ext cx="10572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https://gml.noaa.gov/dv/data/</a:t>
            </a:r>
            <a:r>
              <a:rPr lang="en-US" sz="2400" dirty="0"/>
              <a:t>, Navigate to Meteorology, Hourly Averages, BRW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1ED049-4EEB-C740-905C-65EE39826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1" y="1583690"/>
            <a:ext cx="8267700" cy="5130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D34498-B531-044C-AC55-55774B372BA6}"/>
              </a:ext>
            </a:extLst>
          </p:cNvPr>
          <p:cNvSpPr txBox="1"/>
          <p:nvPr/>
        </p:nvSpPr>
        <p:spPr>
          <a:xfrm>
            <a:off x="9041130" y="2960370"/>
            <a:ext cx="28917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Metadata</a:t>
            </a:r>
          </a:p>
        </p:txBody>
      </p:sp>
    </p:spTree>
    <p:extLst>
      <p:ext uri="{BB962C8B-B14F-4D97-AF65-F5344CB8AC3E}">
        <p14:creationId xmlns:p14="http://schemas.microsoft.com/office/powerpoint/2010/main" val="66413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PANDAS loads and displays that kind of data as a </a:t>
            </a:r>
            <a:r>
              <a:rPr lang="en-US" sz="2400" b="1" i="1" dirty="0" err="1"/>
              <a:t>dataframe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895"/>
          <a:stretch/>
        </p:blipFill>
        <p:spPr>
          <a:xfrm>
            <a:off x="294785" y="623263"/>
            <a:ext cx="11602430" cy="17874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77A8AB-6458-7699-6871-4671C5004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664" y="2464131"/>
            <a:ext cx="61214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4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8400BF-70EF-1143-9971-E39AB747D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+mn-lt"/>
              </a:rPr>
              <a:t>A note about the wind: it’s referenced from winds coming from the north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648D42-DE99-6D44-0711-D271D810E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4211657"/>
            <a:ext cx="9396650" cy="23491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8E3C7D-F997-8EF6-92AD-79A94D404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766863"/>
            <a:ext cx="2086356" cy="274283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2BA629A-B680-4B19-7B83-E8CEB6008734}"/>
              </a:ext>
            </a:extLst>
          </p:cNvPr>
          <p:cNvGrpSpPr/>
          <p:nvPr/>
        </p:nvGrpSpPr>
        <p:grpSpPr>
          <a:xfrm>
            <a:off x="9135248" y="2646343"/>
            <a:ext cx="2835304" cy="1661712"/>
            <a:chOff x="7415444" y="649226"/>
            <a:chExt cx="2835304" cy="1661712"/>
          </a:xfrm>
        </p:grpSpPr>
        <p:sp>
          <p:nvSpPr>
            <p:cNvPr id="4" name="Left Arrow 3">
              <a:extLst>
                <a:ext uri="{FF2B5EF4-FFF2-40B4-BE49-F238E27FC236}">
                  <a16:creationId xmlns:a16="http://schemas.microsoft.com/office/drawing/2014/main" id="{9EF5C6EE-AEF2-4CB0-240E-220E9FEFC525}"/>
                </a:ext>
              </a:extLst>
            </p:cNvPr>
            <p:cNvSpPr/>
            <p:nvPr/>
          </p:nvSpPr>
          <p:spPr>
            <a:xfrm rot="5400000">
              <a:off x="9175361" y="1235551"/>
              <a:ext cx="1661712" cy="489062"/>
            </a:xfrm>
            <a:prstGeom prst="lef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3E5D6A9-0810-0C3C-211F-08AE90E1ABC8}"/>
                    </a:ext>
                  </a:extLst>
                </p:cNvPr>
                <p:cNvSpPr txBox="1"/>
                <p:nvPr/>
              </p:nvSpPr>
              <p:spPr>
                <a:xfrm>
                  <a:off x="7415444" y="1006527"/>
                  <a:ext cx="2340682" cy="120032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400" dirty="0"/>
                    <a:t>means wind is blowing like this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3E5D6A9-0810-0C3C-211F-08AE90E1A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5444" y="1006527"/>
                  <a:ext cx="2340682" cy="1200329"/>
                </a:xfrm>
                <a:prstGeom prst="rect">
                  <a:avLst/>
                </a:prstGeom>
                <a:blipFill>
                  <a:blip r:embed="rId4"/>
                  <a:stretch>
                    <a:fillRect l="-4301" t="-3125" b="-9375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6CB530-546C-4497-7879-B3100AF1B02D}"/>
              </a:ext>
            </a:extLst>
          </p:cNvPr>
          <p:cNvGrpSpPr/>
          <p:nvPr/>
        </p:nvGrpSpPr>
        <p:grpSpPr>
          <a:xfrm>
            <a:off x="2149720" y="3667065"/>
            <a:ext cx="2875701" cy="1677872"/>
            <a:chOff x="7769470" y="1480125"/>
            <a:chExt cx="2875701" cy="1677872"/>
          </a:xfrm>
        </p:grpSpPr>
        <p:sp>
          <p:nvSpPr>
            <p:cNvPr id="12" name="Left Arrow 11">
              <a:extLst>
                <a:ext uri="{FF2B5EF4-FFF2-40B4-BE49-F238E27FC236}">
                  <a16:creationId xmlns:a16="http://schemas.microsoft.com/office/drawing/2014/main" id="{4589D906-7C6E-D92D-CE82-8F7ED1CDAFEA}"/>
                </a:ext>
              </a:extLst>
            </p:cNvPr>
            <p:cNvSpPr/>
            <p:nvPr/>
          </p:nvSpPr>
          <p:spPr>
            <a:xfrm rot="19762432">
              <a:off x="7769470" y="2668935"/>
              <a:ext cx="1661712" cy="489062"/>
            </a:xfrm>
            <a:prstGeom prst="leftArrow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995852C-6006-1055-0733-EBAF6D65B47E}"/>
                    </a:ext>
                  </a:extLst>
                </p:cNvPr>
                <p:cNvSpPr txBox="1"/>
                <p:nvPr/>
              </p:nvSpPr>
              <p:spPr>
                <a:xfrm>
                  <a:off x="8177157" y="1480125"/>
                  <a:ext cx="2468014" cy="830997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a14:m>
                  <a:r>
                    <a:rPr lang="en-US" sz="2400" dirty="0"/>
                    <a:t> means wind is blowing like this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995852C-6006-1055-0733-EBAF6D65B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157" y="1480125"/>
                  <a:ext cx="2468014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4103" t="-2985" r="-2051" b="-14925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BC998BE6-0E09-B9AA-EFAB-F5220D93EBB5}"/>
              </a:ext>
            </a:extLst>
          </p:cNvPr>
          <p:cNvSpPr/>
          <p:nvPr/>
        </p:nvSpPr>
        <p:spPr>
          <a:xfrm>
            <a:off x="3307790" y="5847865"/>
            <a:ext cx="314656" cy="29959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08AA77-595E-D60E-788B-512A2D328EE3}"/>
              </a:ext>
            </a:extLst>
          </p:cNvPr>
          <p:cNvSpPr/>
          <p:nvPr/>
        </p:nvSpPr>
        <p:spPr>
          <a:xfrm>
            <a:off x="10249610" y="4619118"/>
            <a:ext cx="314656" cy="299592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EBCC42-9F12-07D6-179A-EDD259B0EA3F}"/>
              </a:ext>
            </a:extLst>
          </p:cNvPr>
          <p:cNvGrpSpPr/>
          <p:nvPr/>
        </p:nvGrpSpPr>
        <p:grpSpPr>
          <a:xfrm>
            <a:off x="997104" y="631567"/>
            <a:ext cx="3038841" cy="1661712"/>
            <a:chOff x="8177157" y="1385393"/>
            <a:chExt cx="3038841" cy="1661712"/>
          </a:xfrm>
        </p:grpSpPr>
        <p:sp>
          <p:nvSpPr>
            <p:cNvPr id="17" name="Left Arrow 16">
              <a:extLst>
                <a:ext uri="{FF2B5EF4-FFF2-40B4-BE49-F238E27FC236}">
                  <a16:creationId xmlns:a16="http://schemas.microsoft.com/office/drawing/2014/main" id="{0C874930-963E-F535-D765-860642D7AB75}"/>
                </a:ext>
              </a:extLst>
            </p:cNvPr>
            <p:cNvSpPr/>
            <p:nvPr/>
          </p:nvSpPr>
          <p:spPr>
            <a:xfrm rot="16200000">
              <a:off x="10140611" y="1971718"/>
              <a:ext cx="1661712" cy="489062"/>
            </a:xfrm>
            <a:prstGeom prst="leftArrow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0CF7C0F-DD96-BEBF-5035-7ABC4E2DD8A2}"/>
                    </a:ext>
                  </a:extLst>
                </p:cNvPr>
                <p:cNvSpPr txBox="1"/>
                <p:nvPr/>
              </p:nvSpPr>
              <p:spPr>
                <a:xfrm>
                  <a:off x="8177157" y="1480125"/>
                  <a:ext cx="2468014" cy="830997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a14:m>
                  <a:r>
                    <a:rPr lang="en-US" sz="2400" dirty="0"/>
                    <a:t> means wind is blowing like this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0CF7C0F-DD96-BEBF-5035-7ABC4E2DD8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7157" y="1480125"/>
                  <a:ext cx="2468014" cy="830997"/>
                </a:xfrm>
                <a:prstGeom prst="rect">
                  <a:avLst/>
                </a:prstGeom>
                <a:blipFill>
                  <a:blip r:embed="rId6"/>
                  <a:stretch>
                    <a:fillRect l="-3571" t="-2985" r="-510" b="-14925"/>
                  </a:stretch>
                </a:blip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4237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Python can graph selected parts of the </a:t>
            </a:r>
            <a:r>
              <a:rPr lang="en-US" sz="2400" b="1" dirty="0" err="1"/>
              <a:t>dataframe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"/>
          <a:stretch/>
        </p:blipFill>
        <p:spPr>
          <a:xfrm>
            <a:off x="294785" y="623262"/>
            <a:ext cx="11602430" cy="363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91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you download generally needs some quality control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"/>
          <a:stretch/>
        </p:blipFill>
        <p:spPr>
          <a:xfrm>
            <a:off x="294785" y="623262"/>
            <a:ext cx="11602430" cy="3639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95ABC-601E-1E69-77A3-3DE2C7BF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56" y="3073800"/>
            <a:ext cx="4328410" cy="312977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24998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you download generally needs some quality control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"/>
          <a:stretch/>
        </p:blipFill>
        <p:spPr>
          <a:xfrm>
            <a:off x="294785" y="623262"/>
            <a:ext cx="11602430" cy="3639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95ABC-601E-1E69-77A3-3DE2C7BF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56" y="3073800"/>
            <a:ext cx="4328410" cy="31297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317E2C-5CD5-7D62-5BB0-B2372B417CCE}"/>
              </a:ext>
            </a:extLst>
          </p:cNvPr>
          <p:cNvSpPr txBox="1"/>
          <p:nvPr/>
        </p:nvSpPr>
        <p:spPr>
          <a:xfrm>
            <a:off x="2213696" y="3593841"/>
            <a:ext cx="3050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Good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B6EDB6-D560-0BF7-739E-4F38AE32DD2C}"/>
              </a:ext>
            </a:extLst>
          </p:cNvPr>
          <p:cNvSpPr txBox="1"/>
          <p:nvPr/>
        </p:nvSpPr>
        <p:spPr>
          <a:xfrm>
            <a:off x="2023505" y="5176497"/>
            <a:ext cx="3011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Bad data</a:t>
            </a:r>
          </a:p>
        </p:txBody>
      </p:sp>
    </p:spTree>
    <p:extLst>
      <p:ext uri="{BB962C8B-B14F-4D97-AF65-F5344CB8AC3E}">
        <p14:creationId xmlns:p14="http://schemas.microsoft.com/office/powerpoint/2010/main" val="3572696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you download generally needs some quality control</a:t>
            </a:r>
            <a:endParaRPr lang="en-US" sz="24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E1FB3E-C5C0-DC6E-4FCD-51212B9BD6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"/>
          <a:stretch/>
        </p:blipFill>
        <p:spPr>
          <a:xfrm>
            <a:off x="294785" y="623262"/>
            <a:ext cx="11602430" cy="3639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C95ABC-601E-1E69-77A3-3DE2C7BF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56" y="3073800"/>
            <a:ext cx="4328410" cy="312977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317E2C-5CD5-7D62-5BB0-B2372B417CCE}"/>
              </a:ext>
            </a:extLst>
          </p:cNvPr>
          <p:cNvSpPr txBox="1"/>
          <p:nvPr/>
        </p:nvSpPr>
        <p:spPr>
          <a:xfrm>
            <a:off x="2213696" y="3593841"/>
            <a:ext cx="3050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Good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B6EDB6-D560-0BF7-739E-4F38AE32DD2C}"/>
              </a:ext>
            </a:extLst>
          </p:cNvPr>
          <p:cNvSpPr txBox="1"/>
          <p:nvPr/>
        </p:nvSpPr>
        <p:spPr>
          <a:xfrm>
            <a:off x="2023505" y="5176497"/>
            <a:ext cx="3011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Bad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BBA4A1-1607-00D9-7E5E-C0003C5DE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572" y="2054430"/>
            <a:ext cx="5955608" cy="44176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280C0F-9D66-D51A-08FA-D94C6617095C}"/>
              </a:ext>
            </a:extLst>
          </p:cNvPr>
          <p:cNvCxnSpPr>
            <a:cxnSpLocks/>
          </p:cNvCxnSpPr>
          <p:nvPr/>
        </p:nvCxnSpPr>
        <p:spPr>
          <a:xfrm flipV="1">
            <a:off x="5498275" y="2681519"/>
            <a:ext cx="1043831" cy="912322"/>
          </a:xfrm>
          <a:prstGeom prst="straightConnector1">
            <a:avLst/>
          </a:prstGeom>
          <a:ln w="63500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F1A562-1377-D5A4-AD62-978B4870F410}"/>
              </a:ext>
            </a:extLst>
          </p:cNvPr>
          <p:cNvCxnSpPr>
            <a:cxnSpLocks/>
          </p:cNvCxnSpPr>
          <p:nvPr/>
        </p:nvCxnSpPr>
        <p:spPr>
          <a:xfrm>
            <a:off x="5498275" y="3749040"/>
            <a:ext cx="1043831" cy="1658289"/>
          </a:xfrm>
          <a:prstGeom prst="straightConnector1">
            <a:avLst/>
          </a:prstGeom>
          <a:ln w="63500">
            <a:solidFill>
              <a:schemeClr val="accent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45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Once you have got rid of the bad data, you can do some statistics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9EB71-17CC-895B-C8A7-77A5EF117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06" y="715454"/>
            <a:ext cx="7772400" cy="26007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7CBBFB-EAAF-22B0-4BCC-AA8EAA5D3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495" y="1963127"/>
            <a:ext cx="5536293" cy="430135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036172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4156364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You can see what averaging over more years can do for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599175-AAF1-72BC-C4D0-0E60E0EE3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983" y="308758"/>
            <a:ext cx="3928190" cy="30519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615299-DFE8-EF4A-6AEB-DD0E80A1E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348" y="3490524"/>
            <a:ext cx="4015200" cy="30852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C2EFDD-E287-0F28-7B33-A5E2C578D752}"/>
              </a:ext>
            </a:extLst>
          </p:cNvPr>
          <p:cNvSpPr txBox="1"/>
          <p:nvPr/>
        </p:nvSpPr>
        <p:spPr>
          <a:xfrm>
            <a:off x="8835242" y="1282535"/>
            <a:ext cx="2790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1-year datasets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C912D-01A9-7CD8-44B4-C33FE66C5169}"/>
              </a:ext>
            </a:extLst>
          </p:cNvPr>
          <p:cNvSpPr txBox="1"/>
          <p:nvPr/>
        </p:nvSpPr>
        <p:spPr>
          <a:xfrm>
            <a:off x="8835242" y="4802295"/>
            <a:ext cx="2790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3-year datasets</a:t>
            </a:r>
          </a:p>
        </p:txBody>
      </p:sp>
    </p:spTree>
    <p:extLst>
      <p:ext uri="{BB962C8B-B14F-4D97-AF65-F5344CB8AC3E}">
        <p14:creationId xmlns:p14="http://schemas.microsoft.com/office/powerpoint/2010/main" val="217387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CGI associated with this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FC740-D2F3-93D2-2E70-7CE25C88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23" y="677731"/>
            <a:ext cx="11429094" cy="19098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A34DA3-1F23-760C-2805-9B3448879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254" y="2803619"/>
            <a:ext cx="3664526" cy="26364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E32485-4EAB-B49A-33E7-B092CB756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47" y="3597910"/>
            <a:ext cx="6934200" cy="15367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4871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1685</TotalTime>
  <Words>181</Words>
  <Application>Microsoft Macintosh PowerPoint</Application>
  <PresentationFormat>Widescreen</PresentationFormat>
  <Paragraphs>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34</cp:revision>
  <dcterms:created xsi:type="dcterms:W3CDTF">2021-11-01T13:28:45Z</dcterms:created>
  <dcterms:modified xsi:type="dcterms:W3CDTF">2025-11-24T02:26:18Z</dcterms:modified>
</cp:coreProperties>
</file>