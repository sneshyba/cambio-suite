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054" r:id="rId2"/>
    <p:sldId id="1997" r:id="rId3"/>
    <p:sldId id="2063" r:id="rId4"/>
    <p:sldId id="2062" r:id="rId5"/>
    <p:sldId id="2048" r:id="rId6"/>
    <p:sldId id="1980" r:id="rId7"/>
    <p:sldId id="205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5976"/>
  </p:normalViewPr>
  <p:slideViewPr>
    <p:cSldViewPr snapToGrid="0" snapToObjects="1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72348-C9CA-5D41-B455-E567A04392B6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76FAE-13AA-C845-AA9B-713E07212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E49E6-8CFA-B642-ACE3-E8D0350845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01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AF17-CCFA-8043-9685-A186C1961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9C870-5448-EA40-94F5-BE0F09FC8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6E82-4E17-8742-A8B3-8915B111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75618-7BAF-BE46-BD26-3F4EA831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0FE2-BF20-D146-BCF3-65A32CA1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0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FF9F-C1A1-4944-A4BF-01D72575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9B666-092B-E344-91CB-D050673A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0ECE-C4B6-324D-8BBD-D009AEB4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33CC-1B03-264B-9AF6-1CA6BF72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D50A-95B9-D64D-B3EC-DE487130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70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70CA-C7A6-D642-8269-2969AA2FB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F989-824F-E04A-977B-787A1B6B3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0072D-2285-684B-B78D-49845AA0B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0EDA-4D9D-2D49-A0BC-40E0A099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8851-27F5-314A-A07D-E62F3C82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7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32624-A623-CA40-8321-BF223B6D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58A76-47E9-8E4A-9D47-A031820C4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921A-574F-7944-B9C8-448A64E09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8AA85-E19C-AD41-AA98-C2B60D14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FACE9-0989-1040-98D7-9D52AC15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2EF42-4E36-524A-8B0E-0AE1B768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4F91-15CB-3B48-8CED-03A37325B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8D92B-2CCE-A349-A491-FE1342173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7BCF3-2EF9-EE49-A14F-C106FCB34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387E8-4400-1C49-9803-B0A00CED5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676EF-B5FF-2C49-89F7-10DBC8D65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C8C95-A4F2-B049-B476-657CDB5B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62D0D-6F70-6D40-90E6-15DA27D1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0F7AAF-A051-4A44-A8E4-F2E266C0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336D-01CC-B94D-8ACF-85117040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BFA2-E3CC-CA46-B5B4-9547A13D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EE2FD0-5E88-1C42-BBD8-F2B8AFF36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D6568-7E1E-EC4D-ADCC-046CB8BD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4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B3247-5D72-B843-AE1D-541B3D6B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9D2DF-FE25-D040-BAD9-3DF2E32E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1E9AD-0523-C14D-8EE4-67BB7B98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3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BE96-BA3A-3042-B0EC-E9FD3FE9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2122A-2419-2B48-9E4B-7778B4EDA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B8008-63B4-7048-B3EF-3BB635388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13212-E55C-AC43-A87E-E174EF5D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A6C7D-B27D-CF4D-A2C0-37633EEE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6DC1-04D2-FD4B-88B3-B8803F66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3B8D-4360-BB4F-9A95-D013787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04366-79CB-2F4B-979F-7B790C1D1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D0917-C2BB-174D-8D92-171619F68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8E41C-4952-A446-8B14-E9828449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9043B-3902-7441-81F1-A3650908B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AF136-B3BD-C449-BA2D-408A12DC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26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50BD-B1AD-5E4B-BCBB-B12294A8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8B767-2347-174C-992F-BB1EB21A4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2104-EFBB-1541-B593-278E7737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434D6-A0DB-8148-ADDD-E1509F75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57032-560F-9B45-9831-58886130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0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8CEA9-93D2-0C4A-A302-D34CF8E16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2846E-6E90-6E43-AC4A-CE300E604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2287-FCD5-9E4C-ADCA-A8DA60E7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93624-14BF-0D45-8900-272C1AF7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8FBB7-CE5A-8949-9128-7D165962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18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3E110-E3EF-D142-AD4A-DF6D6A773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CEFD2-DE38-1448-A2B2-015564B14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8ED7C-EA84-1144-A9D4-24DCA7364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5A620-EC45-294C-8B7D-C1E9D6865FC9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03AA1-4C64-FF46-B39F-494377F12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BC7C4-04D8-C14D-A622-4485B15C6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2D576-34D0-9249-AAAD-443D4F329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1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Cambio 3.0 accounts for ice-albedo feedback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B3AA57-B384-4CF5-093C-E8ECE952DC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19" t="38227" r="19640"/>
          <a:stretch/>
        </p:blipFill>
        <p:spPr>
          <a:xfrm>
            <a:off x="210807" y="1770118"/>
            <a:ext cx="6377838" cy="3010143"/>
          </a:xfrm>
          <a:prstGeom prst="rect">
            <a:avLst/>
          </a:prstGeom>
          <a:ln>
            <a:noFill/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43801D-AB2D-ACB0-9150-1CE624D17337}"/>
              </a:ext>
            </a:extLst>
          </p:cNvPr>
          <p:cNvCxnSpPr>
            <a:cxnSpLocks/>
          </p:cNvCxnSpPr>
          <p:nvPr/>
        </p:nvCxnSpPr>
        <p:spPr>
          <a:xfrm flipH="1" flipV="1">
            <a:off x="4214463" y="3429000"/>
            <a:ext cx="3718575" cy="1958546"/>
          </a:xfrm>
          <a:prstGeom prst="straightConnector1">
            <a:avLst/>
          </a:prstGeom>
          <a:ln w="101600">
            <a:solidFill>
              <a:schemeClr val="tx1">
                <a:alpha val="2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392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But </a:t>
            </a:r>
            <a:r>
              <a:rPr lang="en-US" sz="2400" b="1" dirty="0" err="1"/>
              <a:t>Ke</a:t>
            </a:r>
            <a:r>
              <a:rPr lang="en-US" sz="2400" b="1" dirty="0"/>
              <a:t> et al are saying that the CO2 fertilization of Cambio 3.0 is </a:t>
            </a:r>
            <a:r>
              <a:rPr lang="en-US" sz="2400" b="1" i="1" dirty="0"/>
              <a:t>impaired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435E97-38B2-2632-F2FE-9581739988B0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3EE2EA9-5C2B-967D-FECE-DD2AD49CFE8F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37A355-B2BD-4E70-645D-9686466656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DB687070-D0E2-1D4C-FDF8-32F529F1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80" y="900812"/>
            <a:ext cx="6373300" cy="478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41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How Cambio 4.0 accounts for impairment </a:t>
                </a:r>
                <a:r>
                  <a:rPr lang="en-US" sz="2400" b="1" dirty="0">
                    <a:latin typeface="+mn-lt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latin typeface="+mn-lt"/>
                  </a:rPr>
                  <a:t>fertilization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C17354-5AD5-ADE9-E069-8244DAFAC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2B3AA57-B384-4CF5-093C-E8ECE952DC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19" t="38227" r="19640"/>
          <a:stretch/>
        </p:blipFill>
        <p:spPr>
          <a:xfrm>
            <a:off x="210807" y="719791"/>
            <a:ext cx="6377838" cy="3010143"/>
          </a:xfrm>
          <a:prstGeom prst="rect">
            <a:avLst/>
          </a:prstGeom>
          <a:ln>
            <a:noFill/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43801D-AB2D-ACB0-9150-1CE624D17337}"/>
              </a:ext>
            </a:extLst>
          </p:cNvPr>
          <p:cNvCxnSpPr>
            <a:cxnSpLocks/>
          </p:cNvCxnSpPr>
          <p:nvPr/>
        </p:nvCxnSpPr>
        <p:spPr>
          <a:xfrm flipV="1">
            <a:off x="4127157" y="1779373"/>
            <a:ext cx="0" cy="2248930"/>
          </a:xfrm>
          <a:prstGeom prst="straightConnector1">
            <a:avLst/>
          </a:prstGeom>
          <a:ln w="101600">
            <a:solidFill>
              <a:schemeClr val="tx1">
                <a:alpha val="2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C40AE-2B6D-929C-E7C6-D11D0EDC15A5}"/>
                  </a:ext>
                </a:extLst>
              </p:cNvPr>
              <p:cNvSpPr txBox="1"/>
              <p:nvPr/>
            </p:nvSpPr>
            <p:spPr>
              <a:xfrm>
                <a:off x="233092" y="4485233"/>
                <a:ext cx="11725815" cy="202844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Equation 2 becomes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𝑙𝑎𝑛𝑑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𝑎𝑛𝑜𝑚𝑎𝑙𝑦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𝑎𝑛𝑜𝑚𝑎𝑙𝑦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a sigmoid function that represents a tipping point.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CC40AE-2B6D-929C-E7C6-D11D0EDC1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92" y="4485233"/>
                <a:ext cx="11725815" cy="2028440"/>
              </a:xfrm>
              <a:prstGeom prst="rect">
                <a:avLst/>
              </a:prstGeom>
              <a:blipFill>
                <a:blip r:embed="rId4"/>
                <a:stretch>
                  <a:fillRect l="-648" t="-1852" b="-370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56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Remember these are our sigmoid parameters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8EDA08-4C82-9151-AC88-0E0F9EFE88B6}"/>
              </a:ext>
            </a:extLst>
          </p:cNvPr>
          <p:cNvCxnSpPr>
            <a:cxnSpLocks/>
          </p:cNvCxnSpPr>
          <p:nvPr/>
        </p:nvCxnSpPr>
        <p:spPr>
          <a:xfrm flipH="1">
            <a:off x="4214463" y="3895747"/>
            <a:ext cx="2060462" cy="802935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210A07D-36D3-9F1E-F8CD-CC433E02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94" y="3693990"/>
            <a:ext cx="4273981" cy="2775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10BEFE-EDFD-F876-2FBD-001031E02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94" y="693760"/>
            <a:ext cx="4353594" cy="2688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2B2F93-002F-65E4-C8E8-7A37DBCA8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43432"/>
            <a:ext cx="4130262" cy="26384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032CA-C28E-3DC1-9E97-F19B4E17419C}"/>
                  </a:ext>
                </a:extLst>
              </p:cNvPr>
              <p:cNvSpPr txBox="1"/>
              <p:nvPr/>
            </p:nvSpPr>
            <p:spPr>
              <a:xfrm>
                <a:off x="1267079" y="1708495"/>
                <a:ext cx="13973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9032CA-C28E-3DC1-9E97-F19B4E174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079" y="1708495"/>
                <a:ext cx="1397317" cy="461665"/>
              </a:xfrm>
              <a:prstGeom prst="rect">
                <a:avLst/>
              </a:prstGeom>
              <a:blipFill>
                <a:blip r:embed="rId6"/>
                <a:stretch>
                  <a:fillRect l="-90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5AE540-558A-114B-1EC7-EA295D9844EC}"/>
                  </a:ext>
                </a:extLst>
              </p:cNvPr>
              <p:cNvSpPr txBox="1"/>
              <p:nvPr/>
            </p:nvSpPr>
            <p:spPr>
              <a:xfrm>
                <a:off x="6805788" y="1738566"/>
                <a:ext cx="139731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𝑖𝑛𝑡𝑒𝑟𝑣𝑎𝑙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5AE540-558A-114B-1EC7-EA295D98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788" y="1738566"/>
                <a:ext cx="1397317" cy="461665"/>
              </a:xfrm>
              <a:prstGeom prst="rect">
                <a:avLst/>
              </a:prstGeom>
              <a:blipFill>
                <a:blip r:embed="rId7"/>
                <a:stretch>
                  <a:fillRect l="-893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E1712-A15E-8276-DA6F-53DC320C6796}"/>
                  </a:ext>
                </a:extLst>
              </p:cNvPr>
              <p:cNvSpPr txBox="1"/>
              <p:nvPr/>
            </p:nvSpPr>
            <p:spPr>
              <a:xfrm>
                <a:off x="970713" y="4534529"/>
                <a:ext cx="4273981" cy="491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𝑓𝑙𝑜𝑜𝑟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39E1712-A15E-8276-DA6F-53DC320C6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13" y="4534529"/>
                <a:ext cx="4273981" cy="491288"/>
              </a:xfrm>
              <a:prstGeom prst="rect">
                <a:avLst/>
              </a:prstGeom>
              <a:blipFill>
                <a:blip r:embed="rId8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60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EDF539C-57C5-A902-EC05-578B78DFF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32" y="921392"/>
            <a:ext cx="6392499" cy="4797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Up-Down Arrow 1">
            <a:extLst>
              <a:ext uri="{FF2B5EF4-FFF2-40B4-BE49-F238E27FC236}">
                <a16:creationId xmlns:a16="http://schemas.microsoft.com/office/drawing/2014/main" id="{A37CA0E7-5CC1-4D85-1E4B-4F0B296754C5}"/>
              </a:ext>
            </a:extLst>
          </p:cNvPr>
          <p:cNvSpPr/>
          <p:nvPr/>
        </p:nvSpPr>
        <p:spPr>
          <a:xfrm>
            <a:off x="4314824" y="1860550"/>
            <a:ext cx="177801" cy="1260475"/>
          </a:xfrm>
          <a:prstGeom prst="upDownArrow">
            <a:avLst/>
          </a:prstGeom>
          <a:solidFill>
            <a:srgbClr val="00B05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E66B4C-8EDB-3AB3-48BC-1373D1BB5AB4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5C3615A-26C9-438D-A4D6-A5752931DB50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AC69A3D-5764-B0D1-F0FD-F17B000B03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  <p:pic>
        <p:nvPicPr>
          <p:cNvPr id="18" name="Picture 2">
            <a:extLst>
              <a:ext uri="{FF2B5EF4-FFF2-40B4-BE49-F238E27FC236}">
                <a16:creationId xmlns:a16="http://schemas.microsoft.com/office/drawing/2014/main" id="{0114F944-565C-E69D-AD87-948AF7C1FC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4" r="8358" b="6010"/>
          <a:stretch/>
        </p:blipFill>
        <p:spPr bwMode="auto">
          <a:xfrm>
            <a:off x="6761546" y="4231062"/>
            <a:ext cx="2672590" cy="216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2F6DBA-2992-64CF-1F0E-91790BBC4B54}"/>
                  </a:ext>
                </a:extLst>
              </p:cNvPr>
              <p:cNvSpPr txBox="1"/>
              <p:nvPr/>
            </p:nvSpPr>
            <p:spPr>
              <a:xfrm>
                <a:off x="9445051" y="4735245"/>
                <a:ext cx="2393781" cy="1229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=1.4</m:t>
                    </m:r>
                  </m:oMath>
                </a14:m>
                <a:r>
                  <a:rPr lang="en-US" sz="2400" dirty="0"/>
                  <a:t>	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𝑖𝑛𝑡𝑒𝑟𝑣𝑎𝑙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𝑓𝑙𝑜𝑜𝑟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2F6DBA-2992-64CF-1F0E-91790BBC4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051" y="4735245"/>
                <a:ext cx="2393781" cy="1229952"/>
              </a:xfrm>
              <a:prstGeom prst="rect">
                <a:avLst/>
              </a:prstGeom>
              <a:blipFill>
                <a:blip r:embed="rId5"/>
                <a:stretch>
                  <a:fillRect l="-526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01D3A66-45CB-173E-DF6E-8854FC475D5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These sigmoid parameters give the best match of Cambio 4.0 to </a:t>
            </a:r>
            <a:r>
              <a:rPr lang="en-US" sz="2400" b="1" dirty="0" err="1"/>
              <a:t>Ke</a:t>
            </a:r>
            <a:r>
              <a:rPr lang="en-US" sz="2400" b="1" dirty="0"/>
              <a:t> et 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800510-A60F-0CC5-0C75-CA12EF7F63E5}"/>
                  </a:ext>
                </a:extLst>
              </p:cNvPr>
              <p:cNvSpPr txBox="1"/>
              <p:nvPr/>
            </p:nvSpPr>
            <p:spPr>
              <a:xfrm>
                <a:off x="372858" y="695122"/>
                <a:ext cx="7353957" cy="51725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𝑙𝑎𝑛𝑑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𝑎𝑛𝑜𝑚𝑎𝑙𝑦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800510-A60F-0CC5-0C75-CA12EF7F6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58" y="695122"/>
                <a:ext cx="7353957" cy="517257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71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1AD1080-FF91-C866-47DC-8EA6755970D5}"/>
              </a:ext>
            </a:extLst>
          </p:cNvPr>
          <p:cNvGrpSpPr/>
          <p:nvPr/>
        </p:nvGrpSpPr>
        <p:grpSpPr>
          <a:xfrm>
            <a:off x="77403" y="5129173"/>
            <a:ext cx="5409380" cy="912904"/>
            <a:chOff x="1977526" y="5481600"/>
            <a:chExt cx="5114370" cy="863116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C2D13EF-3910-6963-BE9C-9F970A3DFFC6}"/>
                </a:ext>
              </a:extLst>
            </p:cNvPr>
            <p:cNvSpPr/>
            <p:nvPr/>
          </p:nvSpPr>
          <p:spPr>
            <a:xfrm>
              <a:off x="3293673" y="6170121"/>
              <a:ext cx="164486" cy="16648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5E0FD6D-F68D-01CE-6DC3-BA1C51347C87}"/>
                    </a:ext>
                  </a:extLst>
                </p:cNvPr>
                <p:cNvSpPr txBox="1"/>
                <p:nvPr/>
              </p:nvSpPr>
              <p:spPr>
                <a:xfrm>
                  <a:off x="1977526" y="5481600"/>
                  <a:ext cx="1985682" cy="611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0070C0"/>
                      </a:solidFill>
                    </a:rPr>
                    <a:t>pre-industrial atmospheric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5E0FD6D-F68D-01CE-6DC3-BA1C51347C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7526" y="5481600"/>
                  <a:ext cx="1985682" cy="611082"/>
                </a:xfrm>
                <a:prstGeom prst="rect">
                  <a:avLst/>
                </a:prstGeom>
                <a:blipFill>
                  <a:blip r:embed="rId3"/>
                  <a:stretch>
                    <a:fillRect t="-3846" b="-153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1A9A72-7124-4EC1-A673-FDB6D5378C2C}"/>
                </a:ext>
              </a:extLst>
            </p:cNvPr>
            <p:cNvSpPr txBox="1"/>
            <p:nvPr/>
          </p:nvSpPr>
          <p:spPr>
            <a:xfrm>
              <a:off x="5118332" y="5995526"/>
              <a:ext cx="949924" cy="349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2003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0B5FEB-A4C7-CBB8-A346-131D6E59553D}"/>
                </a:ext>
              </a:extLst>
            </p:cNvPr>
            <p:cNvSpPr txBox="1"/>
            <p:nvPr/>
          </p:nvSpPr>
          <p:spPr>
            <a:xfrm>
              <a:off x="6141971" y="5984510"/>
              <a:ext cx="949925" cy="349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2023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A6548-2E17-87D8-9AE8-DC1762FF31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-12434"/>
                <a:ext cx="12192000" cy="45720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400" b="1" dirty="0">
                    <a:latin typeface="+mn-lt"/>
                  </a:rPr>
                  <a:t>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𝒇𝒍𝒐𝒐𝒓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latin typeface="+mn-lt"/>
                  </a:rPr>
                  <a:t> to implement temperature-dependent impairment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latin typeface="+mn-lt"/>
                  </a:rPr>
                  <a:t>fertilization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DA6548-2E17-87D8-9AE8-DC1762FF3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2434"/>
                <a:ext cx="12192000" cy="457200"/>
              </a:xfrm>
              <a:prstGeom prst="rect">
                <a:avLst/>
              </a:prstGeom>
              <a:blipFill>
                <a:blip r:embed="rId4"/>
                <a:stretch>
                  <a:fillRect l="-832" t="-18919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5CDE5183-F233-675B-2A3D-B1B6EE55C9AB}"/>
              </a:ext>
            </a:extLst>
          </p:cNvPr>
          <p:cNvGrpSpPr/>
          <p:nvPr/>
        </p:nvGrpSpPr>
        <p:grpSpPr>
          <a:xfrm>
            <a:off x="-179652" y="817441"/>
            <a:ext cx="9224793" cy="6105787"/>
            <a:chOff x="116914" y="817441"/>
            <a:chExt cx="9224793" cy="6105787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F3A887CB-EE0C-7351-C557-E29EC3888D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779"/>
            <a:stretch/>
          </p:blipFill>
          <p:spPr bwMode="auto">
            <a:xfrm>
              <a:off x="116914" y="817441"/>
              <a:ext cx="9224793" cy="61057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Up-Down Arrow 30">
              <a:extLst>
                <a:ext uri="{FF2B5EF4-FFF2-40B4-BE49-F238E27FC236}">
                  <a16:creationId xmlns:a16="http://schemas.microsoft.com/office/drawing/2014/main" id="{3E573201-6B52-2143-AEE5-71AE18CD13DE}"/>
                </a:ext>
              </a:extLst>
            </p:cNvPr>
            <p:cNvSpPr/>
            <p:nvPr/>
          </p:nvSpPr>
          <p:spPr>
            <a:xfrm>
              <a:off x="4179813" y="4438585"/>
              <a:ext cx="1004719" cy="1336917"/>
            </a:xfrm>
            <a:prstGeom prst="upDownArrow">
              <a:avLst/>
            </a:prstGeom>
            <a:solidFill>
              <a:srgbClr val="00B050">
                <a:alpha val="36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B0B058-46AF-A7D3-24F7-E4FAADBB97F3}"/>
              </a:ext>
            </a:extLst>
          </p:cNvPr>
          <p:cNvGrpSpPr/>
          <p:nvPr/>
        </p:nvGrpSpPr>
        <p:grpSpPr>
          <a:xfrm>
            <a:off x="8390062" y="965548"/>
            <a:ext cx="3435357" cy="3334603"/>
            <a:chOff x="7747508" y="965548"/>
            <a:chExt cx="3926496" cy="373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E3ECD6-A01F-F711-F47D-839FF7DAA0FA}"/>
                </a:ext>
              </a:extLst>
            </p:cNvPr>
            <p:cNvSpPr txBox="1"/>
            <p:nvPr/>
          </p:nvSpPr>
          <p:spPr>
            <a:xfrm>
              <a:off x="8442402" y="965548"/>
              <a:ext cx="288953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b="1" dirty="0" err="1">
                  <a:latin typeface="TimesNewRomanPS"/>
                </a:rPr>
                <a:t>Ke</a:t>
              </a:r>
              <a:r>
                <a:rPr lang="en-US" b="1" dirty="0">
                  <a:latin typeface="TimesNewRomanPS"/>
                </a:rPr>
                <a:t> et </a:t>
              </a:r>
              <a:r>
                <a:rPr lang="en-US" b="1" dirty="0" err="1">
                  <a:latin typeface="TimesNewRomanPS"/>
                </a:rPr>
                <a:t>al’s</a:t>
              </a:r>
              <a:r>
                <a:rPr lang="en-US" b="1" dirty="0">
                  <a:latin typeface="TimesNewRomanPS"/>
                </a:rPr>
                <a:t> C</a:t>
              </a:r>
              <a:r>
                <a:rPr lang="en-US" sz="1800" b="1" dirty="0">
                  <a:effectLst/>
                  <a:latin typeface="TimesNewRomanPS"/>
                </a:rPr>
                <a:t>arbon budget from 2010-2023. </a:t>
              </a:r>
              <a:endParaRPr lang="en-US" dirty="0">
                <a:effectLst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578EBD5-91E8-4DE5-FCB4-C35941EB2D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090" t="45988" r="5903"/>
            <a:stretch/>
          </p:blipFill>
          <p:spPr>
            <a:xfrm>
              <a:off x="7747508" y="1611879"/>
              <a:ext cx="3926496" cy="30904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655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C17354-5AD5-ADE9-E069-8244DAFAC62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64EAA6-223F-76BC-BE27-FFCF99A8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7" y="567036"/>
            <a:ext cx="9422103" cy="40853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C732A45-2DD2-BF50-812D-13871450E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20" y="4911369"/>
            <a:ext cx="9964954" cy="1386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1371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155</Words>
  <Application>Microsoft Macintosh PowerPoint</Application>
  <PresentationFormat>Widescreen</PresentationFormat>
  <Paragraphs>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TimesNewRomanPS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122</cp:revision>
  <dcterms:created xsi:type="dcterms:W3CDTF">2021-11-01T11:23:25Z</dcterms:created>
  <dcterms:modified xsi:type="dcterms:W3CDTF">2025-11-17T18:50:21Z</dcterms:modified>
</cp:coreProperties>
</file>