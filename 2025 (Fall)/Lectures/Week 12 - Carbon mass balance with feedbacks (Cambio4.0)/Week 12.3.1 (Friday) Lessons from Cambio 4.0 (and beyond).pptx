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994" r:id="rId2"/>
    <p:sldId id="2001" r:id="rId3"/>
    <p:sldId id="2002" r:id="rId4"/>
    <p:sldId id="2003" r:id="rId5"/>
    <p:sldId id="199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82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8899-4C82-F6FC-86E5-B12F47C97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6A590-48F7-B287-BECD-DECA8A7F3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034D7-F7D2-DDC9-908C-49CE5F51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6996F-0A96-05FF-23DE-BECBC664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7C6B5-03AF-4F15-C986-F343356C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6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5CB-DD96-2C7B-76C8-B592CDA7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6EAA-DE69-8240-6212-36817E84A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12FC0-AD23-1BD8-DBE4-91A59B0D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6A460-8298-7385-13B6-82CF549D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2A9D9-EDB0-B37B-57FB-6DF9F3EB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97B5-78A9-E886-264A-A0025B2D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76C97-4B44-5B90-D53D-B7EF633D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B6A58-1D5A-FAA8-5918-BFE03256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B71D9-A751-C825-0593-2A7343AB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940AE-3F34-E59B-95B1-45863712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1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ABAB-A161-03FA-D24C-FB3EF814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67B5E-FD6E-BCE4-A089-7B75579E0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FE598-65FF-0561-3661-FE8500A56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951D8-B2C2-8FE5-955B-7961DA9A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0FD8-EEEE-5164-B0D1-83EA8316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7FE15-596F-E5B4-DAE7-B4A0EACC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33AA-903C-0F2C-37EF-10D94C7E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40B4-5888-A4FF-CCDF-ADF139320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D8867-BCA3-9499-5B82-586852992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CA6EF-DB71-A396-2DC3-F3E942237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0C411-B822-3131-FFCA-5AFF432D1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37C0C-94F9-AA37-D606-FAFD54E1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65624-5C57-6229-378C-1026BD3A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3BE40-DE04-9C70-A3C0-E85DA8C6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2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669A-A8FB-0528-40CE-85DA614C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FB7F3-B39B-EA87-2F11-F269773C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1F7DE-83F5-7989-6D25-3000BA28F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51EC9-FFDA-05D4-9754-166A46ED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9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1E956-DD52-6E69-A41D-0F74F304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18A4F-6BE8-722E-BFC9-D121C8C6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4F51-1CB4-AD25-3DBF-F7E8EE28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7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DF4F-60A8-FD76-47B6-52241895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0CFD2-D891-B665-67E8-9998631EA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BA8A6-582D-1629-D1CE-6C897CC3A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F3483-83B1-CECC-2FE2-2BA1FF01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C2AA6-2091-F695-1495-132AA610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772C7-2B5C-95E5-C30D-0FC66234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6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87E8-60FB-3304-238B-57E1B432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8AB35-DE9C-CAE6-B254-BCFC9D21D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9D7D2-CA87-7AFE-A5D0-20B941457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49C9F-74D5-14A1-BDBF-6871F6C0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ABDAA-81BB-60CB-FCB3-9936C9C2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37AD0-2009-5181-51A3-ACCE01CA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1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3F55-A3ED-BD63-39A2-61CB881B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5C8C4-0F1E-6F3F-1B77-5A19D5BA1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AC723-FAAD-CA0D-6888-56BF2926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65BDD-295E-B0B3-6DB2-CB5C97F2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C2138-5AA7-B8AC-30A1-BD445693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5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BBB32-27A7-68B6-AE73-5026D0479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B8E33-F73F-962E-469B-70F26D4E0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00D9D-D30D-EEF7-E520-C38BFFEA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D79E0-37CC-2BB7-E9F8-A2327C13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AC2D-B7C8-E52A-3023-671B1099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7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C61C7-19E0-89FF-BDDF-99C3650E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C34D-E749-18CC-E914-F9186D670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B3C0C-C4E9-CFED-E5C3-2624C162E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ED255-55B2-6C4F-A5F5-8F6712D0A17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46934-C8CD-D81C-0C67-16BFB3C61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BDF8B-D405-441A-7CC3-24D491896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media.ubc.ca/media/t/0_ckw7euph" TargetMode="External"/><Relationship Id="rId2" Type="http://schemas.openxmlformats.org/officeDocument/2006/relationships/hyperlink" Target="https://youtu.be/gBBffAtqMsc?t=462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Summary of climate capabilities in Cambio 1-4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FCE59-78C5-96CD-0C9A-7D5A09EAB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3" y="3388489"/>
            <a:ext cx="4072402" cy="320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1CA01AA3-A5E9-D70D-61BF-95B744E04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3" y="564266"/>
            <a:ext cx="3808769" cy="253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DD3A0B1-363B-C8A0-6737-D8DE4FEA6502}"/>
              </a:ext>
            </a:extLst>
          </p:cNvPr>
          <p:cNvGrpSpPr/>
          <p:nvPr/>
        </p:nvGrpSpPr>
        <p:grpSpPr>
          <a:xfrm>
            <a:off x="4498618" y="516901"/>
            <a:ext cx="7634776" cy="5775107"/>
            <a:chOff x="4197675" y="65487"/>
            <a:chExt cx="7634776" cy="5775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F0B040A-1AB6-8340-C427-D5ED50CDDEAF}"/>
                    </a:ext>
                  </a:extLst>
                </p:cNvPr>
                <p:cNvSpPr txBox="1"/>
                <p:nvPr/>
              </p:nvSpPr>
              <p:spPr>
                <a:xfrm>
                  <a:off x="4197675" y="614797"/>
                  <a:ext cx="6219541" cy="5170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Cambio 1.0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200" dirty="0"/>
                    <a:t>Our five basic equations</a:t>
                  </a:r>
                </a:p>
                <a:p>
                  <a:endParaRPr lang="en-US" sz="2200" dirty="0"/>
                </a:p>
                <a:p>
                  <a:endParaRPr lang="en-US" sz="2200" dirty="0"/>
                </a:p>
                <a:p>
                  <a:endParaRPr lang="en-US" sz="2200" dirty="0"/>
                </a:p>
                <a:p>
                  <a:r>
                    <a:rPr lang="en-US" sz="2200" b="1" dirty="0"/>
                    <a:t>Cambio 2.0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200" dirty="0"/>
                    <a:t>Added Henry’s effect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200" dirty="0"/>
                </a:p>
                <a:p>
                  <a:endParaRPr lang="en-US" sz="2200" dirty="0"/>
                </a:p>
                <a:p>
                  <a:r>
                    <a:rPr lang="en-US" sz="2200" b="1" dirty="0"/>
                    <a:t>Cambio 3.0 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200" dirty="0"/>
                    <a:t>Included ice-albedo feedback</a:t>
                  </a:r>
                </a:p>
                <a:p>
                  <a:endParaRPr lang="en-US" sz="2200" dirty="0"/>
                </a:p>
                <a:p>
                  <a:r>
                    <a:rPr lang="en-US" sz="2200" b="1" dirty="0"/>
                    <a:t>Cambio 4.0 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200" dirty="0"/>
                    <a:t>Includes terrestrial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200" dirty="0"/>
                    <a:t> fertilization feedback</a:t>
                  </a:r>
                </a:p>
                <a:p>
                  <a:endParaRPr lang="en-US" sz="2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F0B040A-1AB6-8340-C427-D5ED50CDD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675" y="614797"/>
                  <a:ext cx="6219541" cy="5170646"/>
                </a:xfrm>
                <a:prstGeom prst="rect">
                  <a:avLst/>
                </a:prstGeom>
                <a:blipFill>
                  <a:blip r:embed="rId4"/>
                  <a:stretch>
                    <a:fillRect l="-1224" t="-9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DAF02E-E6F0-6BB6-F269-D2EB71C12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71781" y="65487"/>
              <a:ext cx="4360670" cy="28248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4B3A15-D22C-DC8B-7E7F-4B1FE8761A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0054" t="63420" r="19942" b="25633"/>
            <a:stretch/>
          </p:blipFill>
          <p:spPr>
            <a:xfrm>
              <a:off x="4585276" y="2991775"/>
              <a:ext cx="5985299" cy="5034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050208-FA54-C1FD-F617-C16A9D869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85276" y="5409504"/>
              <a:ext cx="6313087" cy="43109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127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EDCB136-F305-5BFE-116F-0564534A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7" y="2448565"/>
            <a:ext cx="5554853" cy="416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49E2F5-15E0-83C0-396F-BF92CC6E47A5}"/>
              </a:ext>
            </a:extLst>
          </p:cNvPr>
          <p:cNvSpPr txBox="1"/>
          <p:nvPr/>
        </p:nvSpPr>
        <p:spPr>
          <a:xfrm>
            <a:off x="0" y="-16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can we learn from Cambio 4.0?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4AE9ED74-5B3B-215E-211F-335E821C2968}"/>
              </a:ext>
            </a:extLst>
          </p:cNvPr>
          <p:cNvSpPr/>
          <p:nvPr/>
        </p:nvSpPr>
        <p:spPr>
          <a:xfrm rot="1749992">
            <a:off x="5718810" y="3086100"/>
            <a:ext cx="75438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19FE26-DDBC-7FC2-6B07-5A1E94F1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27" y="560070"/>
            <a:ext cx="5554851" cy="416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2BDFAD-8418-52A2-9A9D-2E451AB3C854}"/>
              </a:ext>
            </a:extLst>
          </p:cNvPr>
          <p:cNvSpPr txBox="1"/>
          <p:nvPr/>
        </p:nvSpPr>
        <p:spPr>
          <a:xfrm>
            <a:off x="5351607" y="509573"/>
            <a:ext cx="67718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CO</a:t>
            </a:r>
            <a:r>
              <a:rPr lang="en-US" sz="2200" baseline="-25000" dirty="0"/>
              <a:t>2</a:t>
            </a:r>
            <a:r>
              <a:rPr lang="en-US" sz="2200" dirty="0"/>
              <a:t> feedback impairment makes a big difference in the maximum temperature anomaly (here, </a:t>
            </a:r>
            <a:r>
              <a:rPr lang="en-US" sz="2200" dirty="0">
                <a:solidFill>
                  <a:srgbClr val="FF0000"/>
                </a:solidFill>
              </a:rPr>
              <a:t>+0.75 degrees C</a:t>
            </a:r>
            <a:r>
              <a:rPr lang="en-US" sz="2200" dirty="0"/>
              <a:t> and still rising).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2A16059-6B86-87A2-35F4-0D17664B2D1F}"/>
              </a:ext>
            </a:extLst>
          </p:cNvPr>
          <p:cNvSpPr/>
          <p:nvPr/>
        </p:nvSpPr>
        <p:spPr>
          <a:xfrm rot="16200000">
            <a:off x="9766139" y="3267187"/>
            <a:ext cx="667071" cy="352877"/>
          </a:xfrm>
          <a:prstGeom prst="rightArrow">
            <a:avLst/>
          </a:prstGeom>
          <a:solidFill>
            <a:srgbClr val="FF0000">
              <a:alpha val="3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9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EDCB136-F305-5BFE-116F-0564534A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7" y="2448565"/>
            <a:ext cx="5554853" cy="416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49E2F5-15E0-83C0-396F-BF92CC6E47A5}"/>
              </a:ext>
            </a:extLst>
          </p:cNvPr>
          <p:cNvSpPr txBox="1"/>
          <p:nvPr/>
        </p:nvSpPr>
        <p:spPr>
          <a:xfrm>
            <a:off x="0" y="-16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can we learn from Cambio 4.0?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4AE9ED74-5B3B-215E-211F-335E821C2968}"/>
              </a:ext>
            </a:extLst>
          </p:cNvPr>
          <p:cNvSpPr/>
          <p:nvPr/>
        </p:nvSpPr>
        <p:spPr>
          <a:xfrm rot="1749992">
            <a:off x="5718810" y="3086100"/>
            <a:ext cx="75438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19FE26-DDBC-7FC2-6B07-5A1E94F1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27" y="560070"/>
            <a:ext cx="5554851" cy="416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2BDFAD-8418-52A2-9A9D-2E451AB3C854}"/>
              </a:ext>
            </a:extLst>
          </p:cNvPr>
          <p:cNvSpPr txBox="1"/>
          <p:nvPr/>
        </p:nvSpPr>
        <p:spPr>
          <a:xfrm>
            <a:off x="5351607" y="509573"/>
            <a:ext cx="67718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CO</a:t>
            </a:r>
            <a:r>
              <a:rPr lang="en-US" sz="2200" baseline="-25000" dirty="0"/>
              <a:t>2</a:t>
            </a:r>
            <a:r>
              <a:rPr lang="en-US" sz="2200" dirty="0"/>
              <a:t> feedback impairment makes a big difference in the maximum temperature anomaly (here, </a:t>
            </a:r>
            <a:r>
              <a:rPr lang="en-US" sz="2200" dirty="0">
                <a:solidFill>
                  <a:srgbClr val="FF0000"/>
                </a:solidFill>
              </a:rPr>
              <a:t>+0.75 degrees C</a:t>
            </a:r>
            <a:r>
              <a:rPr lang="en-US" sz="2200" dirty="0"/>
              <a:t> and still rising).</a:t>
            </a:r>
          </a:p>
          <a:p>
            <a:endParaRPr lang="en-US" sz="2200" dirty="0"/>
          </a:p>
          <a:p>
            <a:r>
              <a:rPr lang="en-US" sz="2200" dirty="0"/>
              <a:t>Also a big increase in when peak temperature will occur (here, from 2050 to 2150).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2A16059-6B86-87A2-35F4-0D17664B2D1F}"/>
              </a:ext>
            </a:extLst>
          </p:cNvPr>
          <p:cNvSpPr/>
          <p:nvPr/>
        </p:nvSpPr>
        <p:spPr>
          <a:xfrm rot="16200000">
            <a:off x="9766139" y="3267187"/>
            <a:ext cx="667071" cy="352877"/>
          </a:xfrm>
          <a:prstGeom prst="rightArrow">
            <a:avLst/>
          </a:prstGeom>
          <a:solidFill>
            <a:srgbClr val="FF0000">
              <a:alpha val="3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2C5F19C-59EE-7885-8B87-E1518B3D95CA}"/>
              </a:ext>
            </a:extLst>
          </p:cNvPr>
          <p:cNvSpPr/>
          <p:nvPr/>
        </p:nvSpPr>
        <p:spPr>
          <a:xfrm>
            <a:off x="10115550" y="2653776"/>
            <a:ext cx="925830" cy="352877"/>
          </a:xfrm>
          <a:prstGeom prst="rightArrow">
            <a:avLst/>
          </a:prstGeom>
          <a:solidFill>
            <a:schemeClr val="accent4">
              <a:lumMod val="75000"/>
              <a:alpha val="3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8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EDCB136-F305-5BFE-116F-0564534A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7" y="2448565"/>
            <a:ext cx="5554853" cy="416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49E2F5-15E0-83C0-396F-BF92CC6E47A5}"/>
              </a:ext>
            </a:extLst>
          </p:cNvPr>
          <p:cNvSpPr txBox="1"/>
          <p:nvPr/>
        </p:nvSpPr>
        <p:spPr>
          <a:xfrm>
            <a:off x="0" y="-16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can we learn from Cambio 4.0?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4AE9ED74-5B3B-215E-211F-335E821C2968}"/>
              </a:ext>
            </a:extLst>
          </p:cNvPr>
          <p:cNvSpPr/>
          <p:nvPr/>
        </p:nvSpPr>
        <p:spPr>
          <a:xfrm rot="1749992">
            <a:off x="5718810" y="3086100"/>
            <a:ext cx="75438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19FE26-DDBC-7FC2-6B07-5A1E94F1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27" y="560070"/>
            <a:ext cx="5554851" cy="416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2BDFAD-8418-52A2-9A9D-2E451AB3C854}"/>
              </a:ext>
            </a:extLst>
          </p:cNvPr>
          <p:cNvSpPr txBox="1"/>
          <p:nvPr/>
        </p:nvSpPr>
        <p:spPr>
          <a:xfrm>
            <a:off x="5351607" y="509573"/>
            <a:ext cx="67718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CO</a:t>
            </a:r>
            <a:r>
              <a:rPr lang="en-US" sz="2200" baseline="-25000" dirty="0"/>
              <a:t>2</a:t>
            </a:r>
            <a:r>
              <a:rPr lang="en-US" sz="2200" dirty="0"/>
              <a:t> feedback impairment makes a big difference in the maximum temperature anomaly (here, </a:t>
            </a:r>
            <a:r>
              <a:rPr lang="en-US" sz="2200" dirty="0">
                <a:solidFill>
                  <a:srgbClr val="FF0000"/>
                </a:solidFill>
              </a:rPr>
              <a:t>+0.75 degrees C</a:t>
            </a:r>
            <a:r>
              <a:rPr lang="en-US" sz="2200" dirty="0"/>
              <a:t> and still rising).</a:t>
            </a:r>
          </a:p>
          <a:p>
            <a:endParaRPr lang="en-US" sz="2200" dirty="0"/>
          </a:p>
          <a:p>
            <a:r>
              <a:rPr lang="en-US" sz="2200" dirty="0"/>
              <a:t>Also a big increase in when peak temperature will occur (here, from 2050 to 2150).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2A16059-6B86-87A2-35F4-0D17664B2D1F}"/>
              </a:ext>
            </a:extLst>
          </p:cNvPr>
          <p:cNvSpPr/>
          <p:nvPr/>
        </p:nvSpPr>
        <p:spPr>
          <a:xfrm rot="16200000">
            <a:off x="9766139" y="3267187"/>
            <a:ext cx="667071" cy="352877"/>
          </a:xfrm>
          <a:prstGeom prst="rightArrow">
            <a:avLst/>
          </a:prstGeom>
          <a:solidFill>
            <a:srgbClr val="FF0000">
              <a:alpha val="3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2C5F19C-59EE-7885-8B87-E1518B3D95CA}"/>
              </a:ext>
            </a:extLst>
          </p:cNvPr>
          <p:cNvSpPr/>
          <p:nvPr/>
        </p:nvSpPr>
        <p:spPr>
          <a:xfrm>
            <a:off x="10115550" y="2653776"/>
            <a:ext cx="925830" cy="352877"/>
          </a:xfrm>
          <a:prstGeom prst="rightArrow">
            <a:avLst/>
          </a:prstGeom>
          <a:solidFill>
            <a:schemeClr val="accent4">
              <a:lumMod val="75000"/>
              <a:alpha val="3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35A78-38C6-E65C-E825-241CC8D0F600}"/>
              </a:ext>
            </a:extLst>
          </p:cNvPr>
          <p:cNvSpPr txBox="1"/>
          <p:nvPr/>
        </p:nvSpPr>
        <p:spPr>
          <a:xfrm>
            <a:off x="395711" y="5246593"/>
            <a:ext cx="5554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Also, we can see that oceans are increasing their absorption of CO</a:t>
            </a:r>
            <a:r>
              <a:rPr lang="en-US" sz="2200" baseline="-25000" dirty="0"/>
              <a:t>2</a:t>
            </a:r>
            <a:r>
              <a:rPr lang="en-US" sz="2200" dirty="0"/>
              <a:t> in compensation for the impairment in terrestrial CO</a:t>
            </a:r>
            <a:r>
              <a:rPr lang="en-US" sz="2200" baseline="-25000" dirty="0"/>
              <a:t>2</a:t>
            </a:r>
            <a:r>
              <a:rPr lang="en-US" sz="2200" dirty="0"/>
              <a:t> fertilization.</a:t>
            </a:r>
          </a:p>
        </p:txBody>
      </p:sp>
    </p:spTree>
    <p:extLst>
      <p:ext uri="{BB962C8B-B14F-4D97-AF65-F5344CB8AC3E}">
        <p14:creationId xmlns:p14="http://schemas.microsoft.com/office/powerpoint/2010/main" val="355971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532E68B-8110-7346-9632-D42AD1D22083}"/>
              </a:ext>
            </a:extLst>
          </p:cNvPr>
          <p:cNvSpPr txBox="1"/>
          <p:nvPr/>
        </p:nvSpPr>
        <p:spPr>
          <a:xfrm>
            <a:off x="0" y="-16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Thoughts on these?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C0086-2997-8312-F39F-F1965B41A9B8}"/>
              </a:ext>
            </a:extLst>
          </p:cNvPr>
          <p:cNvSpPr txBox="1"/>
          <p:nvPr/>
        </p:nvSpPr>
        <p:spPr>
          <a:xfrm>
            <a:off x="964938" y="1811923"/>
            <a:ext cx="10510782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How might indigenous perspectives inform the task of modeling Earth’s climate?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interview of Wilson Justin, about </a:t>
            </a:r>
            <a:r>
              <a:rPr lang="en-US" sz="2400" i="1" dirty="0">
                <a:hlinkClick r:id="rId2"/>
              </a:rPr>
              <a:t>indigenous perspectives on climate change in the Arctic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videorecording of the talk given by </a:t>
            </a:r>
            <a:r>
              <a:rPr lang="en-US" sz="2400" dirty="0" err="1"/>
              <a:t>Shandin</a:t>
            </a:r>
            <a:r>
              <a:rPr lang="en-US" sz="2400" dirty="0"/>
              <a:t> Pete, UBCV, </a:t>
            </a:r>
            <a:r>
              <a:rPr lang="en-US" sz="2400" i="1" dirty="0">
                <a:hlinkClick r:id="rId3"/>
              </a:rPr>
              <a:t>Indigenous Perspectives on Data, Evidence, and Uncertainty in Science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803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237</Words>
  <Application>Microsoft Macintosh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18</cp:revision>
  <dcterms:created xsi:type="dcterms:W3CDTF">2025-10-30T18:29:27Z</dcterms:created>
  <dcterms:modified xsi:type="dcterms:W3CDTF">2025-11-21T18:59:32Z</dcterms:modified>
</cp:coreProperties>
</file>